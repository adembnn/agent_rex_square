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0" roundtripDataSignature="AMtx7mgiWhtLmM72IUdJ/Ib2n5V8STAQF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6" d="100"/>
          <a:sy n="56" d="100"/>
        </p:scale>
        <p:origin x="97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70" Type="http://customschemas.google.com/relationships/presentationmetadata" Target="metadata"/><Relationship Id="rId71" Type="http://schemas.openxmlformats.org/officeDocument/2006/relationships/presProps" Target="presProps.xml"/><Relationship Id="rId72" Type="http://schemas.openxmlformats.org/officeDocument/2006/relationships/viewProps" Target="viewProps.xml"/><Relationship Id="rId73" Type="http://schemas.openxmlformats.org/officeDocument/2006/relationships/theme" Target="theme/theme1.xml"/><Relationship Id="rId7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Intercalaire Square" type="secHead">
  <p:cSld name="SECTION_HEADER">
    <p:bg>
      <p:bgPr>
        <a:solidFill>
          <a:schemeClr val="lt1"/>
        </a:solidFill>
        <a:effectLst/>
      </p:bgPr>
    </p:bg>
    <p:spTree>
      <p:nvGrpSpPr>
        <p:cNvPr id="1" name="Shape 46"/>
        <p:cNvGrpSpPr/>
        <p:nvPr/>
      </p:nvGrpSpPr>
      <p:grpSpPr>
        <a:xfrm>
          <a:off x="0" y="0"/>
          <a:ext cx="0" cy="0"/>
          <a:chOff x="0" y="0"/>
          <a:chExt cx="0" cy="0"/>
        </a:xfrm>
      </p:grpSpPr>
      <p:sp>
        <p:nvSpPr>
          <p:cNvPr id="47" name="Google Shape;47;p63"/>
          <p:cNvSpPr/>
          <p:nvPr/>
        </p:nvSpPr>
        <p:spPr>
          <a:xfrm>
            <a:off x="180000" y="180000"/>
            <a:ext cx="11832000" cy="649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Verdana"/>
              <a:ea typeface="Verdana"/>
              <a:cs typeface="Verdana"/>
              <a:sym typeface="Verdana"/>
            </a:endParaRPr>
          </a:p>
        </p:txBody>
      </p:sp>
      <p:sp>
        <p:nvSpPr>
          <p:cNvPr id="48" name="Google Shape;48;p63"/>
          <p:cNvSpPr txBox="1">
            <a:spLocks noGrp="1"/>
          </p:cNvSpPr>
          <p:nvPr>
            <p:ph type="title"/>
          </p:nvPr>
        </p:nvSpPr>
        <p:spPr>
          <a:xfrm>
            <a:off x="808520" y="2870476"/>
            <a:ext cx="6778687" cy="1548000"/>
          </a:xfrm>
          <a:prstGeom prst="rect">
            <a:avLst/>
          </a:prstGeom>
          <a:noFill/>
          <a:ln>
            <a:noFill/>
          </a:ln>
        </p:spPr>
        <p:txBody>
          <a:bodyPr spcFirstLastPara="1" wrap="square" lIns="0" tIns="45700" rIns="0" bIns="45700" anchor="ctr" anchorCtr="0">
            <a:noAutofit/>
          </a:bodyPr>
          <a:lstStyle>
            <a:lvl1pPr marR="0" lvl="0" algn="l" rtl="0">
              <a:lnSpc>
                <a:spcPct val="100000"/>
              </a:lnSpc>
              <a:spcBef>
                <a:spcPts val="0"/>
              </a:spcBef>
              <a:spcAft>
                <a:spcPts val="0"/>
              </a:spcAft>
              <a:buClr>
                <a:schemeClr val="lt1"/>
              </a:buClr>
              <a:buSzPts val="13500"/>
              <a:buFont typeface="Verdana"/>
              <a:buNone/>
              <a:defRPr sz="13500" b="0" i="0" u="none" strike="noStrike" cap="none">
                <a:solidFill>
                  <a:schemeClr val="lt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9" name="Google Shape;49;p63"/>
          <p:cNvSpPr txBox="1">
            <a:spLocks noGrp="1"/>
          </p:cNvSpPr>
          <p:nvPr>
            <p:ph type="body" idx="1"/>
          </p:nvPr>
        </p:nvSpPr>
        <p:spPr>
          <a:xfrm>
            <a:off x="808520" y="4418476"/>
            <a:ext cx="6778687" cy="154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lt1"/>
              </a:buClr>
              <a:buSzPts val="3000"/>
              <a:buFont typeface="Noto Sans Symbols"/>
              <a:buNone/>
              <a:defRPr sz="3000" b="0" i="0" u="none" strike="noStrike" cap="none">
                <a:solidFill>
                  <a:schemeClr val="lt1"/>
                </a:solidFill>
                <a:latin typeface="Verdana"/>
                <a:ea typeface="Verdana"/>
                <a:cs typeface="Verdana"/>
                <a:sym typeface="Verdana"/>
              </a:defRPr>
            </a:lvl1pPr>
            <a:lvl2pPr marL="914400" marR="0" lvl="1" indent="-228600" algn="just" rtl="0">
              <a:lnSpc>
                <a:spcPct val="100000"/>
              </a:lnSpc>
              <a:spcBef>
                <a:spcPts val="1100"/>
              </a:spcBef>
              <a:spcAft>
                <a:spcPts val="0"/>
              </a:spcAft>
              <a:buClr>
                <a:srgbClr val="888888"/>
              </a:buClr>
              <a:buSzPts val="2000"/>
              <a:buFont typeface="Noto Sans Symbols"/>
              <a:buNone/>
              <a:defRPr sz="2000" b="0" i="0" u="none" strike="noStrike" cap="none">
                <a:solidFill>
                  <a:srgbClr val="888888"/>
                </a:solidFill>
                <a:latin typeface="Verdana"/>
                <a:ea typeface="Verdana"/>
                <a:cs typeface="Verdana"/>
                <a:sym typeface="Verdana"/>
              </a:defRPr>
            </a:lvl2pPr>
            <a:lvl3pPr marL="1371600" marR="0" lvl="2" indent="-228600" algn="just" rtl="0">
              <a:lnSpc>
                <a:spcPct val="100000"/>
              </a:lnSpc>
              <a:spcBef>
                <a:spcPts val="800"/>
              </a:spcBef>
              <a:spcAft>
                <a:spcPts val="0"/>
              </a:spcAft>
              <a:buClr>
                <a:srgbClr val="888888"/>
              </a:buClr>
              <a:buSzPts val="1800"/>
              <a:buFont typeface="Noto Sans Symbols"/>
              <a:buNone/>
              <a:defRPr sz="1800" b="0" i="0" u="none" strike="noStrike" cap="none">
                <a:solidFill>
                  <a:srgbClr val="888888"/>
                </a:solidFill>
                <a:latin typeface="Verdana"/>
                <a:ea typeface="Verdana"/>
                <a:cs typeface="Verdana"/>
                <a:sym typeface="Verdana"/>
              </a:defRPr>
            </a:lvl3pPr>
            <a:lvl4pPr marL="1828800" marR="0" lvl="3" indent="-228600" algn="just" rtl="0">
              <a:lnSpc>
                <a:spcPct val="100000"/>
              </a:lnSpc>
              <a:spcBef>
                <a:spcPts val="500"/>
              </a:spcBef>
              <a:spcAft>
                <a:spcPts val="0"/>
              </a:spcAft>
              <a:buClr>
                <a:srgbClr val="888888"/>
              </a:buClr>
              <a:buSzPts val="1600"/>
              <a:buFont typeface="Merriweather Sans"/>
              <a:buNone/>
              <a:defRPr sz="1600" b="0" i="0" u="none" strike="noStrike" cap="none">
                <a:solidFill>
                  <a:srgbClr val="888888"/>
                </a:solidFill>
                <a:latin typeface="Verdana"/>
                <a:ea typeface="Verdana"/>
                <a:cs typeface="Verdana"/>
                <a:sym typeface="Verdana"/>
              </a:defRPr>
            </a:lvl4pPr>
            <a:lvl5pPr marL="2286000" marR="0" lvl="4" indent="-228600" algn="just" rtl="0">
              <a:lnSpc>
                <a:spcPct val="100000"/>
              </a:lnSpc>
              <a:spcBef>
                <a:spcPts val="500"/>
              </a:spcBef>
              <a:spcAft>
                <a:spcPts val="0"/>
              </a:spcAft>
              <a:buClr>
                <a:srgbClr val="888888"/>
              </a:buClr>
              <a:buSzPts val="1600"/>
              <a:buFont typeface="Arial"/>
              <a:buNone/>
              <a:defRPr sz="1600" b="0" i="0" u="none" strike="noStrike" cap="none">
                <a:solidFill>
                  <a:srgbClr val="888888"/>
                </a:solidFill>
                <a:latin typeface="Verdana"/>
                <a:ea typeface="Verdana"/>
                <a:cs typeface="Verdana"/>
                <a:sym typeface="Verdana"/>
              </a:defRPr>
            </a:lvl5pPr>
            <a:lvl6pPr marL="2743200" marR="0" lvl="5" indent="-228600" algn="just"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Verdana"/>
                <a:ea typeface="Verdana"/>
                <a:cs typeface="Verdana"/>
                <a:sym typeface="Verdana"/>
              </a:defRPr>
            </a:lvl6pPr>
            <a:lvl7pPr marL="3200400" marR="0" lvl="6" indent="-228600" algn="just"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Verdana"/>
                <a:ea typeface="Verdana"/>
                <a:cs typeface="Verdana"/>
                <a:sym typeface="Verdana"/>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Verdana"/>
                <a:ea typeface="Verdana"/>
                <a:cs typeface="Verdana"/>
                <a:sym typeface="Verdana"/>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Verdana"/>
                <a:ea typeface="Verdana"/>
                <a:cs typeface="Verdana"/>
                <a:sym typeface="Verdana"/>
              </a:defRPr>
            </a:lvl9pPr>
          </a:lstStyle>
          <a:p>
            <a:endParaRPr/>
          </a:p>
        </p:txBody>
      </p:sp>
      <p:pic>
        <p:nvPicPr>
          <p:cNvPr id="50" name="Google Shape;50;p63"/>
          <p:cNvPicPr preferRelativeResize="0"/>
          <p:nvPr/>
        </p:nvPicPr>
        <p:blipFill rotWithShape="1">
          <a:blip r:embed="rId2">
            <a:alphaModFix/>
          </a:blip>
          <a:srcRect/>
          <a:stretch/>
        </p:blipFill>
        <p:spPr>
          <a:xfrm>
            <a:off x="626267" y="6218301"/>
            <a:ext cx="344564" cy="344564"/>
          </a:xfrm>
          <a:prstGeom prst="rect">
            <a:avLst/>
          </a:prstGeom>
          <a:noFill/>
          <a:ln>
            <a:noFill/>
          </a:ln>
        </p:spPr>
      </p:pic>
      <p:sp>
        <p:nvSpPr>
          <p:cNvPr id="51" name="Google Shape;51;p63"/>
          <p:cNvSpPr/>
          <p:nvPr/>
        </p:nvSpPr>
        <p:spPr>
          <a:xfrm>
            <a:off x="180000" y="180000"/>
            <a:ext cx="11832000" cy="649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Verdana"/>
              <a:ea typeface="Verdana"/>
              <a:cs typeface="Verdana"/>
              <a:sym typeface="Verdana"/>
            </a:endParaRPr>
          </a:p>
        </p:txBody>
      </p:sp>
      <p:pic>
        <p:nvPicPr>
          <p:cNvPr id="52" name="Google Shape;52;p63"/>
          <p:cNvPicPr preferRelativeResize="0"/>
          <p:nvPr/>
        </p:nvPicPr>
        <p:blipFill rotWithShape="1">
          <a:blip r:embed="rId2">
            <a:alphaModFix/>
          </a:blip>
          <a:srcRect/>
          <a:stretch/>
        </p:blipFill>
        <p:spPr>
          <a:xfrm>
            <a:off x="626267" y="6218301"/>
            <a:ext cx="344564" cy="34456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Références">
  <p:cSld name="1_Références">
    <p:spTree>
      <p:nvGrpSpPr>
        <p:cNvPr id="1" name="Shape 63"/>
        <p:cNvGrpSpPr/>
        <p:nvPr/>
      </p:nvGrpSpPr>
      <p:grpSpPr>
        <a:xfrm>
          <a:off x="0" y="0"/>
          <a:ext cx="0" cy="0"/>
          <a:chOff x="0" y="0"/>
          <a:chExt cx="0" cy="0"/>
        </a:xfrm>
      </p:grpSpPr>
      <p:sp>
        <p:nvSpPr>
          <p:cNvPr id="64" name="Google Shape;64;p138"/>
          <p:cNvSpPr txBox="1">
            <a:spLocks noGrp="1"/>
          </p:cNvSpPr>
          <p:nvPr>
            <p:ph type="body" idx="1"/>
          </p:nvPr>
        </p:nvSpPr>
        <p:spPr>
          <a:xfrm>
            <a:off x="626268" y="2584723"/>
            <a:ext cx="4748371" cy="663835"/>
          </a:xfrm>
          <a:prstGeom prst="rect">
            <a:avLst/>
          </a:prstGeom>
          <a:noFill/>
          <a:ln>
            <a:noFill/>
          </a:ln>
        </p:spPr>
        <p:txBody>
          <a:bodyPr spcFirstLastPara="1" wrap="square" lIns="90000" tIns="45700" rIns="91425" bIns="45700" anchor="t" anchorCtr="0">
            <a:noAutofit/>
          </a:bodyPr>
          <a:lstStyle>
            <a:lvl1pPr marL="457200" marR="0" lvl="0" indent="-228600" algn="l" rtl="0">
              <a:lnSpc>
                <a:spcPct val="100000"/>
              </a:lnSpc>
              <a:spcBef>
                <a:spcPts val="0"/>
              </a:spcBef>
              <a:spcAft>
                <a:spcPts val="0"/>
              </a:spcAft>
              <a:buClr>
                <a:srgbClr val="000000"/>
              </a:buClr>
              <a:buSzPts val="1000"/>
              <a:buFont typeface="Arial"/>
              <a:buNone/>
              <a:defRPr sz="10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65" name="Google Shape;65;p138"/>
          <p:cNvSpPr txBox="1">
            <a:spLocks noGrp="1"/>
          </p:cNvSpPr>
          <p:nvPr>
            <p:ph type="body" idx="2"/>
          </p:nvPr>
        </p:nvSpPr>
        <p:spPr>
          <a:xfrm>
            <a:off x="626265" y="2306088"/>
            <a:ext cx="4748371" cy="27863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200"/>
              <a:buFont typeface="Arial"/>
              <a:buNone/>
              <a:defRPr sz="12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2000"/>
              <a:buFont typeface="Arial"/>
              <a:buNone/>
              <a:defRPr sz="2000" b="1"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9pPr>
          </a:lstStyle>
          <a:p>
            <a:endParaRPr/>
          </a:p>
        </p:txBody>
      </p:sp>
      <p:cxnSp>
        <p:nvCxnSpPr>
          <p:cNvPr id="66" name="Google Shape;66;p138"/>
          <p:cNvCxnSpPr/>
          <p:nvPr/>
        </p:nvCxnSpPr>
        <p:spPr>
          <a:xfrm>
            <a:off x="6096000" y="1349423"/>
            <a:ext cx="0" cy="4735920"/>
          </a:xfrm>
          <a:prstGeom prst="straightConnector1">
            <a:avLst/>
          </a:prstGeom>
          <a:noFill/>
          <a:ln w="25400" cap="flat" cmpd="sng">
            <a:solidFill>
              <a:srgbClr val="D8D8D8"/>
            </a:solidFill>
            <a:prstDash val="solid"/>
            <a:round/>
            <a:headEnd type="none" w="sm" len="sm"/>
            <a:tailEnd type="none" w="sm" len="sm"/>
          </a:ln>
        </p:spPr>
      </p:cxnSp>
      <p:cxnSp>
        <p:nvCxnSpPr>
          <p:cNvPr id="67" name="Google Shape;67;p138"/>
          <p:cNvCxnSpPr/>
          <p:nvPr/>
        </p:nvCxnSpPr>
        <p:spPr>
          <a:xfrm rot="10800000" flipH="1">
            <a:off x="626265" y="3595333"/>
            <a:ext cx="5064927" cy="21821"/>
          </a:xfrm>
          <a:prstGeom prst="straightConnector1">
            <a:avLst/>
          </a:prstGeom>
          <a:noFill/>
          <a:ln w="25400" cap="flat" cmpd="sng">
            <a:solidFill>
              <a:srgbClr val="D8D8D8"/>
            </a:solidFill>
            <a:prstDash val="solid"/>
            <a:round/>
            <a:headEnd type="none" w="sm" len="sm"/>
            <a:tailEnd type="none" w="sm" len="sm"/>
          </a:ln>
        </p:spPr>
      </p:cxnSp>
      <p:cxnSp>
        <p:nvCxnSpPr>
          <p:cNvPr id="68" name="Google Shape;68;p138"/>
          <p:cNvCxnSpPr/>
          <p:nvPr/>
        </p:nvCxnSpPr>
        <p:spPr>
          <a:xfrm rot="10800000" flipH="1">
            <a:off x="6519065" y="3595333"/>
            <a:ext cx="5064927" cy="21821"/>
          </a:xfrm>
          <a:prstGeom prst="straightConnector1">
            <a:avLst/>
          </a:prstGeom>
          <a:noFill/>
          <a:ln w="25400" cap="flat" cmpd="sng">
            <a:solidFill>
              <a:srgbClr val="D8D8D8"/>
            </a:solidFill>
            <a:prstDash val="solid"/>
            <a:round/>
            <a:headEnd type="none" w="sm" len="sm"/>
            <a:tailEnd type="none" w="sm" len="sm"/>
          </a:ln>
        </p:spPr>
      </p:cxnSp>
      <p:sp>
        <p:nvSpPr>
          <p:cNvPr id="69" name="Google Shape;69;p138"/>
          <p:cNvSpPr txBox="1">
            <a:spLocks noGrp="1"/>
          </p:cNvSpPr>
          <p:nvPr>
            <p:ph type="body" idx="3"/>
          </p:nvPr>
        </p:nvSpPr>
        <p:spPr>
          <a:xfrm>
            <a:off x="626268" y="5284003"/>
            <a:ext cx="4748371" cy="663835"/>
          </a:xfrm>
          <a:prstGeom prst="rect">
            <a:avLst/>
          </a:prstGeom>
          <a:noFill/>
          <a:ln>
            <a:noFill/>
          </a:ln>
        </p:spPr>
        <p:txBody>
          <a:bodyPr spcFirstLastPara="1" wrap="square" lIns="90000" tIns="45700" rIns="91425" bIns="45700" anchor="t" anchorCtr="0">
            <a:noAutofit/>
          </a:bodyPr>
          <a:lstStyle>
            <a:lvl1pPr marL="457200" marR="0" lvl="0" indent="-228600" algn="l" rtl="0">
              <a:lnSpc>
                <a:spcPct val="100000"/>
              </a:lnSpc>
              <a:spcBef>
                <a:spcPts val="0"/>
              </a:spcBef>
              <a:spcAft>
                <a:spcPts val="0"/>
              </a:spcAft>
              <a:buClr>
                <a:srgbClr val="000000"/>
              </a:buClr>
              <a:buSzPts val="1000"/>
              <a:buFont typeface="Arial"/>
              <a:buNone/>
              <a:defRPr sz="10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0" name="Google Shape;70;p138"/>
          <p:cNvSpPr txBox="1">
            <a:spLocks noGrp="1"/>
          </p:cNvSpPr>
          <p:nvPr>
            <p:ph type="body" idx="4"/>
          </p:nvPr>
        </p:nvSpPr>
        <p:spPr>
          <a:xfrm>
            <a:off x="626265" y="5005368"/>
            <a:ext cx="4748371" cy="27863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200"/>
              <a:buFont typeface="Arial"/>
              <a:buNone/>
              <a:defRPr sz="12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2000"/>
              <a:buFont typeface="Arial"/>
              <a:buNone/>
              <a:defRPr sz="2000" b="1"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9pPr>
          </a:lstStyle>
          <a:p>
            <a:endParaRPr/>
          </a:p>
        </p:txBody>
      </p:sp>
      <p:sp>
        <p:nvSpPr>
          <p:cNvPr id="71" name="Google Shape;71;p138"/>
          <p:cNvSpPr txBox="1">
            <a:spLocks noGrp="1"/>
          </p:cNvSpPr>
          <p:nvPr>
            <p:ph type="body" idx="5"/>
          </p:nvPr>
        </p:nvSpPr>
        <p:spPr>
          <a:xfrm>
            <a:off x="6503832" y="2584723"/>
            <a:ext cx="4748371" cy="663835"/>
          </a:xfrm>
          <a:prstGeom prst="rect">
            <a:avLst/>
          </a:prstGeom>
          <a:noFill/>
          <a:ln>
            <a:noFill/>
          </a:ln>
        </p:spPr>
        <p:txBody>
          <a:bodyPr spcFirstLastPara="1" wrap="square" lIns="90000" tIns="45700" rIns="91425" bIns="45700" anchor="t" anchorCtr="0">
            <a:noAutofit/>
          </a:bodyPr>
          <a:lstStyle>
            <a:lvl1pPr marL="457200" marR="0" lvl="0" indent="-228600" algn="l" rtl="0">
              <a:lnSpc>
                <a:spcPct val="100000"/>
              </a:lnSpc>
              <a:spcBef>
                <a:spcPts val="0"/>
              </a:spcBef>
              <a:spcAft>
                <a:spcPts val="0"/>
              </a:spcAft>
              <a:buClr>
                <a:srgbClr val="000000"/>
              </a:buClr>
              <a:buSzPts val="1000"/>
              <a:buFont typeface="Arial"/>
              <a:buNone/>
              <a:defRPr sz="10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2" name="Google Shape;72;p138"/>
          <p:cNvSpPr txBox="1">
            <a:spLocks noGrp="1"/>
          </p:cNvSpPr>
          <p:nvPr>
            <p:ph type="body" idx="6"/>
          </p:nvPr>
        </p:nvSpPr>
        <p:spPr>
          <a:xfrm>
            <a:off x="6503829" y="2306088"/>
            <a:ext cx="4748371" cy="27863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200"/>
              <a:buFont typeface="Arial"/>
              <a:buNone/>
              <a:defRPr sz="12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2000"/>
              <a:buFont typeface="Arial"/>
              <a:buNone/>
              <a:defRPr sz="2000" b="1"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9pPr>
          </a:lstStyle>
          <a:p>
            <a:endParaRPr/>
          </a:p>
        </p:txBody>
      </p:sp>
      <p:sp>
        <p:nvSpPr>
          <p:cNvPr id="73" name="Google Shape;73;p138"/>
          <p:cNvSpPr txBox="1">
            <a:spLocks noGrp="1"/>
          </p:cNvSpPr>
          <p:nvPr>
            <p:ph type="body" idx="7"/>
          </p:nvPr>
        </p:nvSpPr>
        <p:spPr>
          <a:xfrm>
            <a:off x="6503832" y="5284003"/>
            <a:ext cx="4748371" cy="663835"/>
          </a:xfrm>
          <a:prstGeom prst="rect">
            <a:avLst/>
          </a:prstGeom>
          <a:noFill/>
          <a:ln>
            <a:noFill/>
          </a:ln>
        </p:spPr>
        <p:txBody>
          <a:bodyPr spcFirstLastPara="1" wrap="square" lIns="90000" tIns="45700" rIns="91425" bIns="45700" anchor="t" anchorCtr="0">
            <a:noAutofit/>
          </a:bodyPr>
          <a:lstStyle>
            <a:lvl1pPr marL="457200" marR="0" lvl="0" indent="-228600" algn="l" rtl="0">
              <a:lnSpc>
                <a:spcPct val="100000"/>
              </a:lnSpc>
              <a:spcBef>
                <a:spcPts val="0"/>
              </a:spcBef>
              <a:spcAft>
                <a:spcPts val="0"/>
              </a:spcAft>
              <a:buClr>
                <a:srgbClr val="000000"/>
              </a:buClr>
              <a:buSzPts val="1000"/>
              <a:buFont typeface="Arial"/>
              <a:buNone/>
              <a:defRPr sz="10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4" name="Google Shape;74;p138"/>
          <p:cNvSpPr txBox="1">
            <a:spLocks noGrp="1"/>
          </p:cNvSpPr>
          <p:nvPr>
            <p:ph type="body" idx="8"/>
          </p:nvPr>
        </p:nvSpPr>
        <p:spPr>
          <a:xfrm>
            <a:off x="6503829" y="5005368"/>
            <a:ext cx="4748371" cy="27863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200"/>
              <a:buFont typeface="Arial"/>
              <a:buNone/>
              <a:defRPr sz="12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2000"/>
              <a:buFont typeface="Arial"/>
              <a:buNone/>
              <a:defRPr sz="2000" b="1"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9pPr>
          </a:lstStyle>
          <a:p>
            <a:endParaRPr/>
          </a:p>
        </p:txBody>
      </p:sp>
      <p:sp>
        <p:nvSpPr>
          <p:cNvPr id="75" name="Google Shape;75;p138"/>
          <p:cNvSpPr txBox="1">
            <a:spLocks noGrp="1"/>
          </p:cNvSpPr>
          <p:nvPr>
            <p:ph type="body" idx="9"/>
          </p:nvPr>
        </p:nvSpPr>
        <p:spPr>
          <a:xfrm>
            <a:off x="1855624" y="1275460"/>
            <a:ext cx="2289652" cy="80456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6" name="Google Shape;76;p138"/>
          <p:cNvSpPr txBox="1">
            <a:spLocks noGrp="1"/>
          </p:cNvSpPr>
          <p:nvPr>
            <p:ph type="body" idx="13"/>
          </p:nvPr>
        </p:nvSpPr>
        <p:spPr>
          <a:xfrm>
            <a:off x="1855624" y="3987487"/>
            <a:ext cx="2289652" cy="80456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7" name="Google Shape;77;p138"/>
          <p:cNvSpPr txBox="1">
            <a:spLocks noGrp="1"/>
          </p:cNvSpPr>
          <p:nvPr>
            <p:ph type="body" idx="14"/>
          </p:nvPr>
        </p:nvSpPr>
        <p:spPr>
          <a:xfrm>
            <a:off x="7733188" y="1275460"/>
            <a:ext cx="2289652" cy="80456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8" name="Google Shape;78;p138"/>
          <p:cNvSpPr txBox="1">
            <a:spLocks noGrp="1"/>
          </p:cNvSpPr>
          <p:nvPr>
            <p:ph type="body" idx="15"/>
          </p:nvPr>
        </p:nvSpPr>
        <p:spPr>
          <a:xfrm>
            <a:off x="7733188" y="3987487"/>
            <a:ext cx="2289652" cy="80456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9" name="Google Shape;79;p138"/>
          <p:cNvSpPr txBox="1">
            <a:spLocks noGrp="1"/>
          </p:cNvSpPr>
          <p:nvPr>
            <p:ph type="title"/>
          </p:nvPr>
        </p:nvSpPr>
        <p:spPr>
          <a:xfrm>
            <a:off x="606000" y="563867"/>
            <a:ext cx="10980000" cy="54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ommaire 1_ avec image">
  <p:cSld name="Sommaire 1_ avec image">
    <p:spTree>
      <p:nvGrpSpPr>
        <p:cNvPr id="1" name="Shape 115"/>
        <p:cNvGrpSpPr/>
        <p:nvPr/>
      </p:nvGrpSpPr>
      <p:grpSpPr>
        <a:xfrm>
          <a:off x="0" y="0"/>
          <a:ext cx="0" cy="0"/>
          <a:chOff x="0" y="0"/>
          <a:chExt cx="0" cy="0"/>
        </a:xfrm>
      </p:grpSpPr>
      <p:sp>
        <p:nvSpPr>
          <p:cNvPr id="116" name="Google Shape;116;p77"/>
          <p:cNvSpPr txBox="1">
            <a:spLocks noGrp="1"/>
          </p:cNvSpPr>
          <p:nvPr>
            <p:ph type="body" idx="1"/>
          </p:nvPr>
        </p:nvSpPr>
        <p:spPr>
          <a:xfrm>
            <a:off x="630238" y="1767149"/>
            <a:ext cx="865188" cy="567038"/>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2800"/>
              <a:buFont typeface="Noto Sans Symbols"/>
              <a:buNone/>
              <a:defRPr sz="28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17" name="Google Shape;117;p77"/>
          <p:cNvSpPr txBox="1">
            <a:spLocks noGrp="1"/>
          </p:cNvSpPr>
          <p:nvPr>
            <p:ph type="body" idx="2"/>
          </p:nvPr>
        </p:nvSpPr>
        <p:spPr>
          <a:xfrm>
            <a:off x="1495424" y="1767150"/>
            <a:ext cx="4163971" cy="56703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Noto Sans Symbols"/>
              <a:buNone/>
              <a:defRPr sz="12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18" name="Google Shape;118;p77"/>
          <p:cNvSpPr txBox="1">
            <a:spLocks noGrp="1"/>
          </p:cNvSpPr>
          <p:nvPr>
            <p:ph type="body" idx="3"/>
          </p:nvPr>
        </p:nvSpPr>
        <p:spPr>
          <a:xfrm>
            <a:off x="630238" y="2415325"/>
            <a:ext cx="865188" cy="567038"/>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2800"/>
              <a:buFont typeface="Noto Sans Symbols"/>
              <a:buNone/>
              <a:defRPr sz="28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19" name="Google Shape;119;p77"/>
          <p:cNvSpPr txBox="1">
            <a:spLocks noGrp="1"/>
          </p:cNvSpPr>
          <p:nvPr>
            <p:ph type="body" idx="4"/>
          </p:nvPr>
        </p:nvSpPr>
        <p:spPr>
          <a:xfrm>
            <a:off x="1495424" y="2415326"/>
            <a:ext cx="4163971" cy="56703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Noto Sans Symbols"/>
              <a:buNone/>
              <a:defRPr sz="12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20" name="Google Shape;120;p77"/>
          <p:cNvSpPr txBox="1">
            <a:spLocks noGrp="1"/>
          </p:cNvSpPr>
          <p:nvPr>
            <p:ph type="body" idx="5"/>
          </p:nvPr>
        </p:nvSpPr>
        <p:spPr>
          <a:xfrm>
            <a:off x="630238" y="3063501"/>
            <a:ext cx="865188" cy="567038"/>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2800"/>
              <a:buFont typeface="Noto Sans Symbols"/>
              <a:buNone/>
              <a:defRPr sz="28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21" name="Google Shape;121;p77"/>
          <p:cNvSpPr txBox="1">
            <a:spLocks noGrp="1"/>
          </p:cNvSpPr>
          <p:nvPr>
            <p:ph type="body" idx="6"/>
          </p:nvPr>
        </p:nvSpPr>
        <p:spPr>
          <a:xfrm>
            <a:off x="1495424" y="3063502"/>
            <a:ext cx="4163971" cy="56703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Noto Sans Symbols"/>
              <a:buNone/>
              <a:defRPr sz="12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22" name="Google Shape;122;p77"/>
          <p:cNvSpPr txBox="1">
            <a:spLocks noGrp="1"/>
          </p:cNvSpPr>
          <p:nvPr>
            <p:ph type="body" idx="7"/>
          </p:nvPr>
        </p:nvSpPr>
        <p:spPr>
          <a:xfrm>
            <a:off x="630238" y="3711677"/>
            <a:ext cx="865188" cy="567038"/>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2800"/>
              <a:buFont typeface="Noto Sans Symbols"/>
              <a:buNone/>
              <a:defRPr sz="28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23" name="Google Shape;123;p77"/>
          <p:cNvSpPr txBox="1">
            <a:spLocks noGrp="1"/>
          </p:cNvSpPr>
          <p:nvPr>
            <p:ph type="body" idx="8"/>
          </p:nvPr>
        </p:nvSpPr>
        <p:spPr>
          <a:xfrm>
            <a:off x="1495424" y="3711678"/>
            <a:ext cx="4163971" cy="56703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Noto Sans Symbols"/>
              <a:buNone/>
              <a:defRPr sz="12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24" name="Google Shape;124;p77"/>
          <p:cNvSpPr txBox="1">
            <a:spLocks noGrp="1"/>
          </p:cNvSpPr>
          <p:nvPr>
            <p:ph type="body" idx="9"/>
          </p:nvPr>
        </p:nvSpPr>
        <p:spPr>
          <a:xfrm>
            <a:off x="630238" y="4359853"/>
            <a:ext cx="865188" cy="567038"/>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2800"/>
              <a:buFont typeface="Noto Sans Symbols"/>
              <a:buNone/>
              <a:defRPr sz="28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25" name="Google Shape;125;p77"/>
          <p:cNvSpPr txBox="1">
            <a:spLocks noGrp="1"/>
          </p:cNvSpPr>
          <p:nvPr>
            <p:ph type="body" idx="13"/>
          </p:nvPr>
        </p:nvSpPr>
        <p:spPr>
          <a:xfrm>
            <a:off x="1495424" y="4359854"/>
            <a:ext cx="4163971" cy="56703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Noto Sans Symbols"/>
              <a:buNone/>
              <a:defRPr sz="12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26" name="Google Shape;126;p77"/>
          <p:cNvSpPr txBox="1">
            <a:spLocks noGrp="1"/>
          </p:cNvSpPr>
          <p:nvPr>
            <p:ph type="body" idx="14"/>
          </p:nvPr>
        </p:nvSpPr>
        <p:spPr>
          <a:xfrm>
            <a:off x="630238" y="5008029"/>
            <a:ext cx="865188" cy="567040"/>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2800"/>
              <a:buFont typeface="Noto Sans Symbols"/>
              <a:buNone/>
              <a:defRPr sz="28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27" name="Google Shape;127;p77"/>
          <p:cNvSpPr txBox="1">
            <a:spLocks noGrp="1"/>
          </p:cNvSpPr>
          <p:nvPr>
            <p:ph type="body" idx="15"/>
          </p:nvPr>
        </p:nvSpPr>
        <p:spPr>
          <a:xfrm>
            <a:off x="1495424" y="5008031"/>
            <a:ext cx="4163971" cy="56703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Noto Sans Symbols"/>
              <a:buNone/>
              <a:defRPr sz="12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28" name="Google Shape;128;p77"/>
          <p:cNvSpPr txBox="1">
            <a:spLocks noGrp="1"/>
          </p:cNvSpPr>
          <p:nvPr>
            <p:ph type="body" idx="16"/>
          </p:nvPr>
        </p:nvSpPr>
        <p:spPr>
          <a:xfrm>
            <a:off x="5659395" y="1767150"/>
            <a:ext cx="589339" cy="567037"/>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100000"/>
              </a:lnSpc>
              <a:spcBef>
                <a:spcPts val="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29" name="Google Shape;129;p77"/>
          <p:cNvSpPr txBox="1">
            <a:spLocks noGrp="1"/>
          </p:cNvSpPr>
          <p:nvPr>
            <p:ph type="body" idx="17"/>
          </p:nvPr>
        </p:nvSpPr>
        <p:spPr>
          <a:xfrm>
            <a:off x="5659395" y="2415326"/>
            <a:ext cx="589339" cy="567037"/>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100000"/>
              </a:lnSpc>
              <a:spcBef>
                <a:spcPts val="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30" name="Google Shape;130;p77"/>
          <p:cNvSpPr txBox="1">
            <a:spLocks noGrp="1"/>
          </p:cNvSpPr>
          <p:nvPr>
            <p:ph type="body" idx="18"/>
          </p:nvPr>
        </p:nvSpPr>
        <p:spPr>
          <a:xfrm>
            <a:off x="5659395" y="3063502"/>
            <a:ext cx="589339" cy="567037"/>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100000"/>
              </a:lnSpc>
              <a:spcBef>
                <a:spcPts val="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31" name="Google Shape;131;p77"/>
          <p:cNvSpPr txBox="1">
            <a:spLocks noGrp="1"/>
          </p:cNvSpPr>
          <p:nvPr>
            <p:ph type="body" idx="19"/>
          </p:nvPr>
        </p:nvSpPr>
        <p:spPr>
          <a:xfrm>
            <a:off x="5659395" y="3711678"/>
            <a:ext cx="589339" cy="567037"/>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100000"/>
              </a:lnSpc>
              <a:spcBef>
                <a:spcPts val="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32" name="Google Shape;132;p77"/>
          <p:cNvSpPr txBox="1">
            <a:spLocks noGrp="1"/>
          </p:cNvSpPr>
          <p:nvPr>
            <p:ph type="body" idx="20"/>
          </p:nvPr>
        </p:nvSpPr>
        <p:spPr>
          <a:xfrm>
            <a:off x="5659395" y="4359854"/>
            <a:ext cx="589339" cy="567037"/>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100000"/>
              </a:lnSpc>
              <a:spcBef>
                <a:spcPts val="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33" name="Google Shape;133;p77"/>
          <p:cNvSpPr txBox="1">
            <a:spLocks noGrp="1"/>
          </p:cNvSpPr>
          <p:nvPr>
            <p:ph type="body" idx="21"/>
          </p:nvPr>
        </p:nvSpPr>
        <p:spPr>
          <a:xfrm>
            <a:off x="5659395" y="5008031"/>
            <a:ext cx="589339" cy="567037"/>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100000"/>
              </a:lnSpc>
              <a:spcBef>
                <a:spcPts val="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34" name="Google Shape;134;p77"/>
          <p:cNvSpPr txBox="1">
            <a:spLocks noGrp="1"/>
          </p:cNvSpPr>
          <p:nvPr>
            <p:ph type="body" idx="22"/>
          </p:nvPr>
        </p:nvSpPr>
        <p:spPr>
          <a:xfrm>
            <a:off x="6524581" y="1737057"/>
            <a:ext cx="5081686" cy="3838012"/>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chemeClr val="dk1"/>
              </a:buClr>
              <a:buSzPts val="1400"/>
              <a:buFont typeface="Noto Sans Symbols"/>
              <a:buNone/>
              <a:defRPr sz="1400" b="0" i="0" u="none" strike="noStrike" cap="none">
                <a:solidFill>
                  <a:schemeClr val="dk1"/>
                </a:solidFill>
                <a:latin typeface="Verdana"/>
                <a:ea typeface="Verdana"/>
                <a:cs typeface="Verdana"/>
                <a:sym typeface="Verdana"/>
              </a:defRPr>
            </a:lvl1pPr>
            <a:lvl2pPr marL="914400" marR="0" lvl="1" indent="-317500" algn="just" rtl="0">
              <a:lnSpc>
                <a:spcPct val="100000"/>
              </a:lnSpc>
              <a:spcBef>
                <a:spcPts val="1100"/>
              </a:spcBef>
              <a:spcAft>
                <a:spcPts val="0"/>
              </a:spcAft>
              <a:buClr>
                <a:schemeClr val="dk1"/>
              </a:buClr>
              <a:buSzPts val="1400"/>
              <a:buFont typeface="Noto Sans Symbols"/>
              <a:buChar char="▪"/>
              <a:defRPr sz="1400" b="0" i="0" u="none" strike="noStrike" cap="none">
                <a:solidFill>
                  <a:schemeClr val="dk1"/>
                </a:solidFill>
                <a:latin typeface="Verdana"/>
                <a:ea typeface="Verdana"/>
                <a:cs typeface="Verdana"/>
                <a:sym typeface="Verdana"/>
              </a:defRPr>
            </a:lvl2pPr>
            <a:lvl3pPr marL="1371600" marR="0" lvl="2" indent="-298450" algn="just" rtl="0">
              <a:lnSpc>
                <a:spcPct val="100000"/>
              </a:lnSpc>
              <a:spcBef>
                <a:spcPts val="8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3pPr>
            <a:lvl4pPr marL="1828800" marR="0" lvl="3" indent="-298450" algn="just" rtl="0">
              <a:lnSpc>
                <a:spcPct val="100000"/>
              </a:lnSpc>
              <a:spcBef>
                <a:spcPts val="500"/>
              </a:spcBef>
              <a:spcAft>
                <a:spcPts val="0"/>
              </a:spcAft>
              <a:buClr>
                <a:schemeClr val="dk1"/>
              </a:buClr>
              <a:buSzPts val="1100"/>
              <a:buFont typeface="Merriweather Sans"/>
              <a:buChar char="▫"/>
              <a:defRPr sz="1100" b="0" i="0" u="none" strike="noStrike" cap="none">
                <a:solidFill>
                  <a:schemeClr val="dk1"/>
                </a:solidFill>
                <a:latin typeface="Verdana"/>
                <a:ea typeface="Verdana"/>
                <a:cs typeface="Verdana"/>
                <a:sym typeface="Verdana"/>
              </a:defRPr>
            </a:lvl4pPr>
            <a:lvl5pPr marL="2286000" marR="0" lvl="4"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35" name="Google Shape;135;p77"/>
          <p:cNvSpPr txBox="1">
            <a:spLocks noGrp="1"/>
          </p:cNvSpPr>
          <p:nvPr>
            <p:ph type="title"/>
          </p:nvPr>
        </p:nvSpPr>
        <p:spPr>
          <a:xfrm>
            <a:off x="626267" y="563868"/>
            <a:ext cx="10980000" cy="53803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2400"/>
              <a:buFont typeface="Verdana"/>
              <a:buNone/>
              <a:defRPr sz="2400" b="1" i="0" u="none" strike="noStrike" cap="none">
                <a:solidFill>
                  <a:schemeClr val="dk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Titre 2 lignes - Sous titre - Contenu 2 colonnes">
  <p:cSld name="2_Titre 2 lignes - Sous titre - Contenu 2 colonnes">
    <p:spTree>
      <p:nvGrpSpPr>
        <p:cNvPr id="1" name="Shape 136"/>
        <p:cNvGrpSpPr/>
        <p:nvPr/>
      </p:nvGrpSpPr>
      <p:grpSpPr>
        <a:xfrm>
          <a:off x="0" y="0"/>
          <a:ext cx="0" cy="0"/>
          <a:chOff x="0" y="0"/>
          <a:chExt cx="0" cy="0"/>
        </a:xfrm>
      </p:grpSpPr>
      <p:sp>
        <p:nvSpPr>
          <p:cNvPr id="137" name="Google Shape;137;p78"/>
          <p:cNvSpPr txBox="1">
            <a:spLocks noGrp="1"/>
          </p:cNvSpPr>
          <p:nvPr>
            <p:ph type="body" idx="1"/>
          </p:nvPr>
        </p:nvSpPr>
        <p:spPr>
          <a:xfrm>
            <a:off x="626269" y="1972479"/>
            <a:ext cx="5400000" cy="3780000"/>
          </a:xfrm>
          <a:prstGeom prst="rect">
            <a:avLst/>
          </a:prstGeom>
          <a:noFill/>
          <a:ln>
            <a:noFill/>
          </a:ln>
        </p:spPr>
        <p:txBody>
          <a:bodyPr spcFirstLastPara="1" wrap="square" lIns="91425" tIns="45700" rIns="91425" bIns="45700" anchor="t" anchorCtr="0">
            <a:noAutofit/>
          </a:bodyPr>
          <a:lstStyle>
            <a:lvl1pPr marL="457200" marR="0" lvl="0" indent="-304800" algn="just" rtl="0">
              <a:lnSpc>
                <a:spcPct val="100000"/>
              </a:lnSpc>
              <a:spcBef>
                <a:spcPts val="0"/>
              </a:spcBef>
              <a:spcAft>
                <a:spcPts val="0"/>
              </a:spcAft>
              <a:buClr>
                <a:schemeClr val="dk1"/>
              </a:buClr>
              <a:buSzPts val="1200"/>
              <a:buFont typeface="Noto Sans Symbols"/>
              <a:buChar char="▪"/>
              <a:defRPr sz="1200" b="0" i="0" u="none" strike="noStrike" cap="none">
                <a:solidFill>
                  <a:schemeClr val="dk1"/>
                </a:solidFill>
                <a:latin typeface="Verdana"/>
                <a:ea typeface="Verdana"/>
                <a:cs typeface="Verdana"/>
                <a:sym typeface="Verdana"/>
              </a:defRPr>
            </a:lvl1pPr>
            <a:lvl2pPr marL="914400" marR="0" lvl="1" indent="-304800" algn="just" rtl="0">
              <a:lnSpc>
                <a:spcPct val="100000"/>
              </a:lnSpc>
              <a:spcBef>
                <a:spcPts val="1100"/>
              </a:spcBef>
              <a:spcAft>
                <a:spcPts val="0"/>
              </a:spcAft>
              <a:buClr>
                <a:schemeClr val="dk1"/>
              </a:buClr>
              <a:buSzPts val="1200"/>
              <a:buFont typeface="Noto Sans Symbols"/>
              <a:buChar char="▪"/>
              <a:defRPr sz="1200" b="0" i="0" u="none" strike="noStrike" cap="none">
                <a:solidFill>
                  <a:schemeClr val="dk1"/>
                </a:solidFill>
                <a:latin typeface="Verdana"/>
                <a:ea typeface="Verdana"/>
                <a:cs typeface="Verdana"/>
                <a:sym typeface="Verdana"/>
              </a:defRPr>
            </a:lvl2pPr>
            <a:lvl3pPr marL="1371600" marR="0" lvl="2" indent="-298450" algn="just" rtl="0">
              <a:lnSpc>
                <a:spcPct val="100000"/>
              </a:lnSpc>
              <a:spcBef>
                <a:spcPts val="8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3pPr>
            <a:lvl4pPr marL="1828800" marR="0" lvl="3" indent="-298450" algn="just" rtl="0">
              <a:lnSpc>
                <a:spcPct val="100000"/>
              </a:lnSpc>
              <a:spcBef>
                <a:spcPts val="500"/>
              </a:spcBef>
              <a:spcAft>
                <a:spcPts val="0"/>
              </a:spcAft>
              <a:buClr>
                <a:schemeClr val="dk1"/>
              </a:buClr>
              <a:buSzPts val="1100"/>
              <a:buFont typeface="Merriweather Sans"/>
              <a:buChar char="▫"/>
              <a:defRPr sz="1100" b="0" i="0" u="none" strike="noStrike" cap="none">
                <a:solidFill>
                  <a:schemeClr val="dk1"/>
                </a:solidFill>
                <a:latin typeface="Verdana"/>
                <a:ea typeface="Verdana"/>
                <a:cs typeface="Verdana"/>
                <a:sym typeface="Verdana"/>
              </a:defRPr>
            </a:lvl4pPr>
            <a:lvl5pPr marL="2286000" marR="0" lvl="4"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5pPr>
            <a:lvl6pPr marL="2743200" marR="0" lvl="5"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38" name="Google Shape;138;p78"/>
          <p:cNvSpPr txBox="1">
            <a:spLocks noGrp="1"/>
          </p:cNvSpPr>
          <p:nvPr>
            <p:ph type="body" idx="2"/>
          </p:nvPr>
        </p:nvSpPr>
        <p:spPr>
          <a:xfrm>
            <a:off x="626266" y="1461305"/>
            <a:ext cx="10980000" cy="3600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lt2"/>
              </a:buClr>
              <a:buSzPts val="1600"/>
              <a:buFont typeface="Noto Sans Symbols"/>
              <a:buNone/>
              <a:defRPr sz="1600" b="0" i="0" u="none" strike="noStrike" cap="none">
                <a:solidFill>
                  <a:schemeClr val="lt2"/>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39" name="Google Shape;139;p78"/>
          <p:cNvSpPr txBox="1">
            <a:spLocks noGrp="1"/>
          </p:cNvSpPr>
          <p:nvPr>
            <p:ph type="body" idx="3"/>
          </p:nvPr>
        </p:nvSpPr>
        <p:spPr>
          <a:xfrm>
            <a:off x="6206266" y="1972479"/>
            <a:ext cx="5400000" cy="3780000"/>
          </a:xfrm>
          <a:prstGeom prst="rect">
            <a:avLst/>
          </a:prstGeom>
          <a:noFill/>
          <a:ln>
            <a:noFill/>
          </a:ln>
        </p:spPr>
        <p:txBody>
          <a:bodyPr spcFirstLastPara="1" wrap="square" lIns="91425" tIns="45700" rIns="91425" bIns="45700" anchor="t" anchorCtr="0">
            <a:noAutofit/>
          </a:bodyPr>
          <a:lstStyle>
            <a:lvl1pPr marL="457200" marR="0" lvl="0" indent="-304800" algn="just" rtl="0">
              <a:lnSpc>
                <a:spcPct val="100000"/>
              </a:lnSpc>
              <a:spcBef>
                <a:spcPts val="0"/>
              </a:spcBef>
              <a:spcAft>
                <a:spcPts val="0"/>
              </a:spcAft>
              <a:buClr>
                <a:schemeClr val="dk1"/>
              </a:buClr>
              <a:buSzPts val="1200"/>
              <a:buFont typeface="Noto Sans Symbols"/>
              <a:buChar char="▪"/>
              <a:defRPr sz="1200" b="0" i="0" u="none" strike="noStrike" cap="none">
                <a:solidFill>
                  <a:schemeClr val="dk1"/>
                </a:solidFill>
                <a:latin typeface="Verdana"/>
                <a:ea typeface="Verdana"/>
                <a:cs typeface="Verdana"/>
                <a:sym typeface="Verdana"/>
              </a:defRPr>
            </a:lvl1pPr>
            <a:lvl2pPr marL="914400" marR="0" lvl="1" indent="-304800" algn="just" rtl="0">
              <a:lnSpc>
                <a:spcPct val="100000"/>
              </a:lnSpc>
              <a:spcBef>
                <a:spcPts val="1100"/>
              </a:spcBef>
              <a:spcAft>
                <a:spcPts val="0"/>
              </a:spcAft>
              <a:buClr>
                <a:schemeClr val="dk1"/>
              </a:buClr>
              <a:buSzPts val="1200"/>
              <a:buFont typeface="Noto Sans Symbols"/>
              <a:buChar char="▪"/>
              <a:defRPr sz="1200" b="0" i="0" u="none" strike="noStrike" cap="none">
                <a:solidFill>
                  <a:schemeClr val="dk1"/>
                </a:solidFill>
                <a:latin typeface="Verdana"/>
                <a:ea typeface="Verdana"/>
                <a:cs typeface="Verdana"/>
                <a:sym typeface="Verdana"/>
              </a:defRPr>
            </a:lvl2pPr>
            <a:lvl3pPr marL="1371600" marR="0" lvl="2" indent="-298450" algn="just" rtl="0">
              <a:lnSpc>
                <a:spcPct val="100000"/>
              </a:lnSpc>
              <a:spcBef>
                <a:spcPts val="8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3pPr>
            <a:lvl4pPr marL="1828800" marR="0" lvl="3" indent="-298450" algn="just" rtl="0">
              <a:lnSpc>
                <a:spcPct val="100000"/>
              </a:lnSpc>
              <a:spcBef>
                <a:spcPts val="500"/>
              </a:spcBef>
              <a:spcAft>
                <a:spcPts val="0"/>
              </a:spcAft>
              <a:buClr>
                <a:schemeClr val="dk1"/>
              </a:buClr>
              <a:buSzPts val="1100"/>
              <a:buFont typeface="Merriweather Sans"/>
              <a:buChar char="▫"/>
              <a:defRPr sz="1100" b="0" i="0" u="none" strike="noStrike" cap="none">
                <a:solidFill>
                  <a:schemeClr val="dk1"/>
                </a:solidFill>
                <a:latin typeface="Verdana"/>
                <a:ea typeface="Verdana"/>
                <a:cs typeface="Verdana"/>
                <a:sym typeface="Verdana"/>
              </a:defRPr>
            </a:lvl4pPr>
            <a:lvl5pPr marL="2286000" marR="0" lvl="4"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5pPr>
            <a:lvl6pPr marL="2743200" marR="0" lvl="5"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40" name="Google Shape;140;p78"/>
          <p:cNvSpPr txBox="1">
            <a:spLocks noGrp="1"/>
          </p:cNvSpPr>
          <p:nvPr>
            <p:ph type="title"/>
          </p:nvPr>
        </p:nvSpPr>
        <p:spPr>
          <a:xfrm>
            <a:off x="626267" y="561305"/>
            <a:ext cx="10980000" cy="900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2600"/>
              <a:buFont typeface="Verdana"/>
              <a:buNone/>
              <a:defRPr sz="2600" b="1" i="0" u="none" strike="noStrike" cap="none">
                <a:solidFill>
                  <a:schemeClr val="dk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Références">
  <p:cSld name="Références">
    <p:spTree>
      <p:nvGrpSpPr>
        <p:cNvPr id="1" name="Shape 141"/>
        <p:cNvGrpSpPr/>
        <p:nvPr/>
      </p:nvGrpSpPr>
      <p:grpSpPr>
        <a:xfrm>
          <a:off x="0" y="0"/>
          <a:ext cx="0" cy="0"/>
          <a:chOff x="0" y="0"/>
          <a:chExt cx="0" cy="0"/>
        </a:xfrm>
      </p:grpSpPr>
      <p:sp>
        <p:nvSpPr>
          <p:cNvPr id="142" name="Google Shape;142;p79"/>
          <p:cNvSpPr txBox="1">
            <a:spLocks noGrp="1"/>
          </p:cNvSpPr>
          <p:nvPr>
            <p:ph type="body" idx="1"/>
          </p:nvPr>
        </p:nvSpPr>
        <p:spPr>
          <a:xfrm>
            <a:off x="626268" y="2584723"/>
            <a:ext cx="4748371" cy="663835"/>
          </a:xfrm>
          <a:prstGeom prst="rect">
            <a:avLst/>
          </a:prstGeom>
          <a:noFill/>
          <a:ln>
            <a:noFill/>
          </a:ln>
        </p:spPr>
        <p:txBody>
          <a:bodyPr spcFirstLastPara="1" wrap="square" lIns="90000" tIns="45700" rIns="91425" bIns="45700" anchor="t" anchorCtr="0">
            <a:noAutofit/>
          </a:bodyPr>
          <a:lstStyle>
            <a:lvl1pPr marL="457200" marR="0" lvl="0" indent="-228600" algn="just"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Verdana"/>
                <a:ea typeface="Verdana"/>
                <a:cs typeface="Verdana"/>
                <a:sym typeface="Verdana"/>
              </a:defRPr>
            </a:lvl1pPr>
            <a:lvl2pPr marL="914400" marR="0" lvl="1" indent="-292100" algn="just" rtl="0">
              <a:lnSpc>
                <a:spcPct val="100000"/>
              </a:lnSpc>
              <a:spcBef>
                <a:spcPts val="1100"/>
              </a:spcBef>
              <a:spcAft>
                <a:spcPts val="0"/>
              </a:spcAft>
              <a:buClr>
                <a:schemeClr val="dk1"/>
              </a:buClr>
              <a:buSzPts val="1000"/>
              <a:buFont typeface="Noto Sans Symbols"/>
              <a:buChar char="▪"/>
              <a:defRPr sz="1000" b="0" i="0" u="none" strike="noStrike" cap="none">
                <a:solidFill>
                  <a:schemeClr val="dk1"/>
                </a:solidFill>
                <a:latin typeface="Verdana"/>
                <a:ea typeface="Verdana"/>
                <a:cs typeface="Verdana"/>
                <a:sym typeface="Verdana"/>
              </a:defRPr>
            </a:lvl2pPr>
            <a:lvl3pPr marL="1371600" marR="0" lvl="2" indent="-292100" algn="just" rtl="0">
              <a:lnSpc>
                <a:spcPct val="100000"/>
              </a:lnSpc>
              <a:spcBef>
                <a:spcPts val="800"/>
              </a:spcBef>
              <a:spcAft>
                <a:spcPts val="0"/>
              </a:spcAft>
              <a:buClr>
                <a:schemeClr val="dk1"/>
              </a:buClr>
              <a:buSzPts val="1000"/>
              <a:buFont typeface="Noto Sans Symbols"/>
              <a:buChar char="▪"/>
              <a:defRPr sz="1000" b="0" i="0" u="none" strike="noStrike" cap="none">
                <a:solidFill>
                  <a:schemeClr val="dk1"/>
                </a:solidFill>
                <a:latin typeface="Verdana"/>
                <a:ea typeface="Verdana"/>
                <a:cs typeface="Verdana"/>
                <a:sym typeface="Verdana"/>
              </a:defRPr>
            </a:lvl3pPr>
            <a:lvl4pPr marL="1828800" marR="0" lvl="3" indent="-292100" algn="just" rtl="0">
              <a:lnSpc>
                <a:spcPct val="100000"/>
              </a:lnSpc>
              <a:spcBef>
                <a:spcPts val="500"/>
              </a:spcBef>
              <a:spcAft>
                <a:spcPts val="0"/>
              </a:spcAft>
              <a:buClr>
                <a:schemeClr val="dk1"/>
              </a:buClr>
              <a:buSzPts val="1000"/>
              <a:buFont typeface="Merriweather Sans"/>
              <a:buChar char="▫"/>
              <a:defRPr sz="1000" b="0" i="0" u="none" strike="noStrike" cap="none">
                <a:solidFill>
                  <a:schemeClr val="dk1"/>
                </a:solidFill>
                <a:latin typeface="Verdana"/>
                <a:ea typeface="Verdana"/>
                <a:cs typeface="Verdana"/>
                <a:sym typeface="Verdana"/>
              </a:defRPr>
            </a:lvl4pPr>
            <a:lvl5pPr marL="2286000" marR="0" lvl="4" indent="-292100" algn="just" rtl="0">
              <a:lnSpc>
                <a:spcPct val="100000"/>
              </a:lnSpc>
              <a:spcBef>
                <a:spcPts val="500"/>
              </a:spcBef>
              <a:spcAft>
                <a:spcPts val="0"/>
              </a:spcAft>
              <a:buClr>
                <a:schemeClr val="dk1"/>
              </a:buClr>
              <a:buSzPts val="1000"/>
              <a:buFont typeface="Arial"/>
              <a:buChar char="-"/>
              <a:defRPr sz="10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43" name="Google Shape;143;p79"/>
          <p:cNvSpPr txBox="1">
            <a:spLocks noGrp="1"/>
          </p:cNvSpPr>
          <p:nvPr>
            <p:ph type="body" idx="2"/>
          </p:nvPr>
        </p:nvSpPr>
        <p:spPr>
          <a:xfrm>
            <a:off x="626265" y="2306088"/>
            <a:ext cx="4748371" cy="27863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Arial"/>
              <a:buNone/>
              <a:defRPr sz="1200" b="1"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cxnSp>
        <p:nvCxnSpPr>
          <p:cNvPr id="144" name="Google Shape;144;p79"/>
          <p:cNvCxnSpPr/>
          <p:nvPr/>
        </p:nvCxnSpPr>
        <p:spPr>
          <a:xfrm>
            <a:off x="6096000" y="1349423"/>
            <a:ext cx="0" cy="4735920"/>
          </a:xfrm>
          <a:prstGeom prst="straightConnector1">
            <a:avLst/>
          </a:prstGeom>
          <a:noFill/>
          <a:ln w="25400" cap="flat" cmpd="sng">
            <a:solidFill>
              <a:srgbClr val="D8D8D8"/>
            </a:solidFill>
            <a:prstDash val="solid"/>
            <a:miter lim="800000"/>
            <a:headEnd type="none" w="sm" len="sm"/>
            <a:tailEnd type="none" w="sm" len="sm"/>
          </a:ln>
        </p:spPr>
      </p:cxnSp>
      <p:cxnSp>
        <p:nvCxnSpPr>
          <p:cNvPr id="145" name="Google Shape;145;p79"/>
          <p:cNvCxnSpPr/>
          <p:nvPr/>
        </p:nvCxnSpPr>
        <p:spPr>
          <a:xfrm rot="10800000" flipH="1">
            <a:off x="626265" y="3595333"/>
            <a:ext cx="5064927" cy="21821"/>
          </a:xfrm>
          <a:prstGeom prst="straightConnector1">
            <a:avLst/>
          </a:prstGeom>
          <a:noFill/>
          <a:ln w="25400" cap="flat" cmpd="sng">
            <a:solidFill>
              <a:srgbClr val="D8D8D8"/>
            </a:solidFill>
            <a:prstDash val="solid"/>
            <a:miter lim="800000"/>
            <a:headEnd type="none" w="sm" len="sm"/>
            <a:tailEnd type="none" w="sm" len="sm"/>
          </a:ln>
        </p:spPr>
      </p:cxnSp>
      <p:cxnSp>
        <p:nvCxnSpPr>
          <p:cNvPr id="146" name="Google Shape;146;p79"/>
          <p:cNvCxnSpPr/>
          <p:nvPr/>
        </p:nvCxnSpPr>
        <p:spPr>
          <a:xfrm rot="10800000" flipH="1">
            <a:off x="6519065" y="3595333"/>
            <a:ext cx="5064927" cy="21821"/>
          </a:xfrm>
          <a:prstGeom prst="straightConnector1">
            <a:avLst/>
          </a:prstGeom>
          <a:noFill/>
          <a:ln w="25400" cap="flat" cmpd="sng">
            <a:solidFill>
              <a:srgbClr val="D8D8D8"/>
            </a:solidFill>
            <a:prstDash val="solid"/>
            <a:miter lim="800000"/>
            <a:headEnd type="none" w="sm" len="sm"/>
            <a:tailEnd type="none" w="sm" len="sm"/>
          </a:ln>
        </p:spPr>
      </p:cxnSp>
      <p:sp>
        <p:nvSpPr>
          <p:cNvPr id="147" name="Google Shape;147;p79"/>
          <p:cNvSpPr txBox="1">
            <a:spLocks noGrp="1"/>
          </p:cNvSpPr>
          <p:nvPr>
            <p:ph type="body" idx="3"/>
          </p:nvPr>
        </p:nvSpPr>
        <p:spPr>
          <a:xfrm>
            <a:off x="626268" y="5284003"/>
            <a:ext cx="4748371" cy="663835"/>
          </a:xfrm>
          <a:prstGeom prst="rect">
            <a:avLst/>
          </a:prstGeom>
          <a:noFill/>
          <a:ln>
            <a:noFill/>
          </a:ln>
        </p:spPr>
        <p:txBody>
          <a:bodyPr spcFirstLastPara="1" wrap="square" lIns="90000" tIns="45700" rIns="91425" bIns="45700" anchor="t" anchorCtr="0">
            <a:noAutofit/>
          </a:bodyPr>
          <a:lstStyle>
            <a:lvl1pPr marL="457200" marR="0" lvl="0" indent="-228600" algn="just"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Verdana"/>
                <a:ea typeface="Verdana"/>
                <a:cs typeface="Verdana"/>
                <a:sym typeface="Verdana"/>
              </a:defRPr>
            </a:lvl1pPr>
            <a:lvl2pPr marL="914400" marR="0" lvl="1" indent="-292100" algn="just" rtl="0">
              <a:lnSpc>
                <a:spcPct val="100000"/>
              </a:lnSpc>
              <a:spcBef>
                <a:spcPts val="1100"/>
              </a:spcBef>
              <a:spcAft>
                <a:spcPts val="0"/>
              </a:spcAft>
              <a:buClr>
                <a:schemeClr val="dk1"/>
              </a:buClr>
              <a:buSzPts val="1000"/>
              <a:buFont typeface="Noto Sans Symbols"/>
              <a:buChar char="▪"/>
              <a:defRPr sz="1000" b="0" i="0" u="none" strike="noStrike" cap="none">
                <a:solidFill>
                  <a:schemeClr val="dk1"/>
                </a:solidFill>
                <a:latin typeface="Verdana"/>
                <a:ea typeface="Verdana"/>
                <a:cs typeface="Verdana"/>
                <a:sym typeface="Verdana"/>
              </a:defRPr>
            </a:lvl2pPr>
            <a:lvl3pPr marL="1371600" marR="0" lvl="2" indent="-292100" algn="just" rtl="0">
              <a:lnSpc>
                <a:spcPct val="100000"/>
              </a:lnSpc>
              <a:spcBef>
                <a:spcPts val="800"/>
              </a:spcBef>
              <a:spcAft>
                <a:spcPts val="0"/>
              </a:spcAft>
              <a:buClr>
                <a:schemeClr val="dk1"/>
              </a:buClr>
              <a:buSzPts val="1000"/>
              <a:buFont typeface="Noto Sans Symbols"/>
              <a:buChar char="▪"/>
              <a:defRPr sz="1000" b="0" i="0" u="none" strike="noStrike" cap="none">
                <a:solidFill>
                  <a:schemeClr val="dk1"/>
                </a:solidFill>
                <a:latin typeface="Verdana"/>
                <a:ea typeface="Verdana"/>
                <a:cs typeface="Verdana"/>
                <a:sym typeface="Verdana"/>
              </a:defRPr>
            </a:lvl3pPr>
            <a:lvl4pPr marL="1828800" marR="0" lvl="3" indent="-292100" algn="just" rtl="0">
              <a:lnSpc>
                <a:spcPct val="100000"/>
              </a:lnSpc>
              <a:spcBef>
                <a:spcPts val="500"/>
              </a:spcBef>
              <a:spcAft>
                <a:spcPts val="0"/>
              </a:spcAft>
              <a:buClr>
                <a:schemeClr val="dk1"/>
              </a:buClr>
              <a:buSzPts val="1000"/>
              <a:buFont typeface="Merriweather Sans"/>
              <a:buChar char="▫"/>
              <a:defRPr sz="1000" b="0" i="0" u="none" strike="noStrike" cap="none">
                <a:solidFill>
                  <a:schemeClr val="dk1"/>
                </a:solidFill>
                <a:latin typeface="Verdana"/>
                <a:ea typeface="Verdana"/>
                <a:cs typeface="Verdana"/>
                <a:sym typeface="Verdana"/>
              </a:defRPr>
            </a:lvl4pPr>
            <a:lvl5pPr marL="2286000" marR="0" lvl="4" indent="-292100" algn="just" rtl="0">
              <a:lnSpc>
                <a:spcPct val="100000"/>
              </a:lnSpc>
              <a:spcBef>
                <a:spcPts val="500"/>
              </a:spcBef>
              <a:spcAft>
                <a:spcPts val="0"/>
              </a:spcAft>
              <a:buClr>
                <a:schemeClr val="dk1"/>
              </a:buClr>
              <a:buSzPts val="1000"/>
              <a:buFont typeface="Arial"/>
              <a:buChar char="-"/>
              <a:defRPr sz="10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48" name="Google Shape;148;p79"/>
          <p:cNvSpPr txBox="1">
            <a:spLocks noGrp="1"/>
          </p:cNvSpPr>
          <p:nvPr>
            <p:ph type="body" idx="4"/>
          </p:nvPr>
        </p:nvSpPr>
        <p:spPr>
          <a:xfrm>
            <a:off x="626265" y="5005368"/>
            <a:ext cx="4748371" cy="27863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Arial"/>
              <a:buNone/>
              <a:defRPr sz="1200" b="1"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49" name="Google Shape;149;p79"/>
          <p:cNvSpPr txBox="1">
            <a:spLocks noGrp="1"/>
          </p:cNvSpPr>
          <p:nvPr>
            <p:ph type="body" idx="5"/>
          </p:nvPr>
        </p:nvSpPr>
        <p:spPr>
          <a:xfrm>
            <a:off x="6503832" y="2584723"/>
            <a:ext cx="4748371" cy="663835"/>
          </a:xfrm>
          <a:prstGeom prst="rect">
            <a:avLst/>
          </a:prstGeom>
          <a:noFill/>
          <a:ln>
            <a:noFill/>
          </a:ln>
        </p:spPr>
        <p:txBody>
          <a:bodyPr spcFirstLastPara="1" wrap="square" lIns="90000" tIns="45700" rIns="91425" bIns="45700" anchor="t" anchorCtr="0">
            <a:noAutofit/>
          </a:bodyPr>
          <a:lstStyle>
            <a:lvl1pPr marL="457200" marR="0" lvl="0" indent="-228600" algn="just"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Verdana"/>
                <a:ea typeface="Verdana"/>
                <a:cs typeface="Verdana"/>
                <a:sym typeface="Verdana"/>
              </a:defRPr>
            </a:lvl1pPr>
            <a:lvl2pPr marL="914400" marR="0" lvl="1" indent="-292100" algn="just" rtl="0">
              <a:lnSpc>
                <a:spcPct val="100000"/>
              </a:lnSpc>
              <a:spcBef>
                <a:spcPts val="1100"/>
              </a:spcBef>
              <a:spcAft>
                <a:spcPts val="0"/>
              </a:spcAft>
              <a:buClr>
                <a:schemeClr val="dk1"/>
              </a:buClr>
              <a:buSzPts val="1000"/>
              <a:buFont typeface="Noto Sans Symbols"/>
              <a:buChar char="▪"/>
              <a:defRPr sz="1000" b="0" i="0" u="none" strike="noStrike" cap="none">
                <a:solidFill>
                  <a:schemeClr val="dk1"/>
                </a:solidFill>
                <a:latin typeface="Verdana"/>
                <a:ea typeface="Verdana"/>
                <a:cs typeface="Verdana"/>
                <a:sym typeface="Verdana"/>
              </a:defRPr>
            </a:lvl2pPr>
            <a:lvl3pPr marL="1371600" marR="0" lvl="2" indent="-292100" algn="just" rtl="0">
              <a:lnSpc>
                <a:spcPct val="100000"/>
              </a:lnSpc>
              <a:spcBef>
                <a:spcPts val="800"/>
              </a:spcBef>
              <a:spcAft>
                <a:spcPts val="0"/>
              </a:spcAft>
              <a:buClr>
                <a:schemeClr val="dk1"/>
              </a:buClr>
              <a:buSzPts val="1000"/>
              <a:buFont typeface="Noto Sans Symbols"/>
              <a:buChar char="▪"/>
              <a:defRPr sz="1000" b="0" i="0" u="none" strike="noStrike" cap="none">
                <a:solidFill>
                  <a:schemeClr val="dk1"/>
                </a:solidFill>
                <a:latin typeface="Verdana"/>
                <a:ea typeface="Verdana"/>
                <a:cs typeface="Verdana"/>
                <a:sym typeface="Verdana"/>
              </a:defRPr>
            </a:lvl3pPr>
            <a:lvl4pPr marL="1828800" marR="0" lvl="3" indent="-292100" algn="just" rtl="0">
              <a:lnSpc>
                <a:spcPct val="100000"/>
              </a:lnSpc>
              <a:spcBef>
                <a:spcPts val="500"/>
              </a:spcBef>
              <a:spcAft>
                <a:spcPts val="0"/>
              </a:spcAft>
              <a:buClr>
                <a:schemeClr val="dk1"/>
              </a:buClr>
              <a:buSzPts val="1000"/>
              <a:buFont typeface="Merriweather Sans"/>
              <a:buChar char="▫"/>
              <a:defRPr sz="1000" b="0" i="0" u="none" strike="noStrike" cap="none">
                <a:solidFill>
                  <a:schemeClr val="dk1"/>
                </a:solidFill>
                <a:latin typeface="Verdana"/>
                <a:ea typeface="Verdana"/>
                <a:cs typeface="Verdana"/>
                <a:sym typeface="Verdana"/>
              </a:defRPr>
            </a:lvl4pPr>
            <a:lvl5pPr marL="2286000" marR="0" lvl="4" indent="-292100" algn="just" rtl="0">
              <a:lnSpc>
                <a:spcPct val="100000"/>
              </a:lnSpc>
              <a:spcBef>
                <a:spcPts val="500"/>
              </a:spcBef>
              <a:spcAft>
                <a:spcPts val="0"/>
              </a:spcAft>
              <a:buClr>
                <a:schemeClr val="dk1"/>
              </a:buClr>
              <a:buSzPts val="1000"/>
              <a:buFont typeface="Arial"/>
              <a:buChar char="-"/>
              <a:defRPr sz="10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50" name="Google Shape;150;p79"/>
          <p:cNvSpPr txBox="1">
            <a:spLocks noGrp="1"/>
          </p:cNvSpPr>
          <p:nvPr>
            <p:ph type="body" idx="6"/>
          </p:nvPr>
        </p:nvSpPr>
        <p:spPr>
          <a:xfrm>
            <a:off x="6503829" y="2306088"/>
            <a:ext cx="4748371" cy="27863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Arial"/>
              <a:buNone/>
              <a:defRPr sz="1200" b="1"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51" name="Google Shape;151;p79"/>
          <p:cNvSpPr txBox="1">
            <a:spLocks noGrp="1"/>
          </p:cNvSpPr>
          <p:nvPr>
            <p:ph type="body" idx="7"/>
          </p:nvPr>
        </p:nvSpPr>
        <p:spPr>
          <a:xfrm>
            <a:off x="6503832" y="5284003"/>
            <a:ext cx="4748371" cy="663835"/>
          </a:xfrm>
          <a:prstGeom prst="rect">
            <a:avLst/>
          </a:prstGeom>
          <a:noFill/>
          <a:ln>
            <a:noFill/>
          </a:ln>
        </p:spPr>
        <p:txBody>
          <a:bodyPr spcFirstLastPara="1" wrap="square" lIns="90000" tIns="45700" rIns="91425" bIns="45700" anchor="t" anchorCtr="0">
            <a:noAutofit/>
          </a:bodyPr>
          <a:lstStyle>
            <a:lvl1pPr marL="457200" marR="0" lvl="0" indent="-228600" algn="just"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Verdana"/>
                <a:ea typeface="Verdana"/>
                <a:cs typeface="Verdana"/>
                <a:sym typeface="Verdana"/>
              </a:defRPr>
            </a:lvl1pPr>
            <a:lvl2pPr marL="914400" marR="0" lvl="1" indent="-292100" algn="just" rtl="0">
              <a:lnSpc>
                <a:spcPct val="100000"/>
              </a:lnSpc>
              <a:spcBef>
                <a:spcPts val="1100"/>
              </a:spcBef>
              <a:spcAft>
                <a:spcPts val="0"/>
              </a:spcAft>
              <a:buClr>
                <a:schemeClr val="dk1"/>
              </a:buClr>
              <a:buSzPts val="1000"/>
              <a:buFont typeface="Noto Sans Symbols"/>
              <a:buChar char="▪"/>
              <a:defRPr sz="1000" b="0" i="0" u="none" strike="noStrike" cap="none">
                <a:solidFill>
                  <a:schemeClr val="dk1"/>
                </a:solidFill>
                <a:latin typeface="Verdana"/>
                <a:ea typeface="Verdana"/>
                <a:cs typeface="Verdana"/>
                <a:sym typeface="Verdana"/>
              </a:defRPr>
            </a:lvl2pPr>
            <a:lvl3pPr marL="1371600" marR="0" lvl="2" indent="-292100" algn="just" rtl="0">
              <a:lnSpc>
                <a:spcPct val="100000"/>
              </a:lnSpc>
              <a:spcBef>
                <a:spcPts val="800"/>
              </a:spcBef>
              <a:spcAft>
                <a:spcPts val="0"/>
              </a:spcAft>
              <a:buClr>
                <a:schemeClr val="dk1"/>
              </a:buClr>
              <a:buSzPts val="1000"/>
              <a:buFont typeface="Noto Sans Symbols"/>
              <a:buChar char="▪"/>
              <a:defRPr sz="1000" b="0" i="0" u="none" strike="noStrike" cap="none">
                <a:solidFill>
                  <a:schemeClr val="dk1"/>
                </a:solidFill>
                <a:latin typeface="Verdana"/>
                <a:ea typeface="Verdana"/>
                <a:cs typeface="Verdana"/>
                <a:sym typeface="Verdana"/>
              </a:defRPr>
            </a:lvl3pPr>
            <a:lvl4pPr marL="1828800" marR="0" lvl="3" indent="-292100" algn="just" rtl="0">
              <a:lnSpc>
                <a:spcPct val="100000"/>
              </a:lnSpc>
              <a:spcBef>
                <a:spcPts val="500"/>
              </a:spcBef>
              <a:spcAft>
                <a:spcPts val="0"/>
              </a:spcAft>
              <a:buClr>
                <a:schemeClr val="dk1"/>
              </a:buClr>
              <a:buSzPts val="1000"/>
              <a:buFont typeface="Merriweather Sans"/>
              <a:buChar char="▫"/>
              <a:defRPr sz="1000" b="0" i="0" u="none" strike="noStrike" cap="none">
                <a:solidFill>
                  <a:schemeClr val="dk1"/>
                </a:solidFill>
                <a:latin typeface="Verdana"/>
                <a:ea typeface="Verdana"/>
                <a:cs typeface="Verdana"/>
                <a:sym typeface="Verdana"/>
              </a:defRPr>
            </a:lvl4pPr>
            <a:lvl5pPr marL="2286000" marR="0" lvl="4" indent="-292100" algn="just" rtl="0">
              <a:lnSpc>
                <a:spcPct val="100000"/>
              </a:lnSpc>
              <a:spcBef>
                <a:spcPts val="500"/>
              </a:spcBef>
              <a:spcAft>
                <a:spcPts val="0"/>
              </a:spcAft>
              <a:buClr>
                <a:schemeClr val="dk1"/>
              </a:buClr>
              <a:buSzPts val="1000"/>
              <a:buFont typeface="Arial"/>
              <a:buChar char="-"/>
              <a:defRPr sz="10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52" name="Google Shape;152;p79"/>
          <p:cNvSpPr txBox="1">
            <a:spLocks noGrp="1"/>
          </p:cNvSpPr>
          <p:nvPr>
            <p:ph type="body" idx="8"/>
          </p:nvPr>
        </p:nvSpPr>
        <p:spPr>
          <a:xfrm>
            <a:off x="6503829" y="5005368"/>
            <a:ext cx="4748371" cy="27863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Arial"/>
              <a:buNone/>
              <a:defRPr sz="1200" b="1"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53" name="Google Shape;153;p79"/>
          <p:cNvSpPr txBox="1">
            <a:spLocks noGrp="1"/>
          </p:cNvSpPr>
          <p:nvPr>
            <p:ph type="body" idx="9"/>
          </p:nvPr>
        </p:nvSpPr>
        <p:spPr>
          <a:xfrm>
            <a:off x="1855624" y="1275460"/>
            <a:ext cx="2289652" cy="80456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Verdana"/>
                <a:ea typeface="Verdana"/>
                <a:cs typeface="Verdana"/>
                <a:sym typeface="Verdana"/>
              </a:defRPr>
            </a:lvl1pPr>
            <a:lvl2pPr marL="914400" marR="0" lvl="1" indent="-317500" algn="just" rtl="0">
              <a:lnSpc>
                <a:spcPct val="100000"/>
              </a:lnSpc>
              <a:spcBef>
                <a:spcPts val="1100"/>
              </a:spcBef>
              <a:spcAft>
                <a:spcPts val="0"/>
              </a:spcAft>
              <a:buClr>
                <a:schemeClr val="dk1"/>
              </a:buClr>
              <a:buSzPts val="1400"/>
              <a:buFont typeface="Noto Sans Symbols"/>
              <a:buChar char="▪"/>
              <a:defRPr sz="1400" b="0" i="0" u="none" strike="noStrike" cap="none">
                <a:solidFill>
                  <a:schemeClr val="dk1"/>
                </a:solidFill>
                <a:latin typeface="Verdana"/>
                <a:ea typeface="Verdana"/>
                <a:cs typeface="Verdana"/>
                <a:sym typeface="Verdana"/>
              </a:defRPr>
            </a:lvl2pPr>
            <a:lvl3pPr marL="1371600" marR="0" lvl="2" indent="-298450" algn="just" rtl="0">
              <a:lnSpc>
                <a:spcPct val="100000"/>
              </a:lnSpc>
              <a:spcBef>
                <a:spcPts val="8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3pPr>
            <a:lvl4pPr marL="1828800" marR="0" lvl="3" indent="-298450" algn="just" rtl="0">
              <a:lnSpc>
                <a:spcPct val="100000"/>
              </a:lnSpc>
              <a:spcBef>
                <a:spcPts val="500"/>
              </a:spcBef>
              <a:spcAft>
                <a:spcPts val="0"/>
              </a:spcAft>
              <a:buClr>
                <a:schemeClr val="dk1"/>
              </a:buClr>
              <a:buSzPts val="1100"/>
              <a:buFont typeface="Merriweather Sans"/>
              <a:buChar char="▫"/>
              <a:defRPr sz="1100" b="0" i="0" u="none" strike="noStrike" cap="none">
                <a:solidFill>
                  <a:schemeClr val="dk1"/>
                </a:solidFill>
                <a:latin typeface="Verdana"/>
                <a:ea typeface="Verdana"/>
                <a:cs typeface="Verdana"/>
                <a:sym typeface="Verdana"/>
              </a:defRPr>
            </a:lvl4pPr>
            <a:lvl5pPr marL="2286000" marR="0" lvl="4"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54" name="Google Shape;154;p79"/>
          <p:cNvSpPr txBox="1">
            <a:spLocks noGrp="1"/>
          </p:cNvSpPr>
          <p:nvPr>
            <p:ph type="body" idx="13"/>
          </p:nvPr>
        </p:nvSpPr>
        <p:spPr>
          <a:xfrm>
            <a:off x="1855624" y="3987487"/>
            <a:ext cx="2289652" cy="80456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Verdana"/>
                <a:ea typeface="Verdana"/>
                <a:cs typeface="Verdana"/>
                <a:sym typeface="Verdana"/>
              </a:defRPr>
            </a:lvl1pPr>
            <a:lvl2pPr marL="914400" marR="0" lvl="1" indent="-317500" algn="just" rtl="0">
              <a:lnSpc>
                <a:spcPct val="100000"/>
              </a:lnSpc>
              <a:spcBef>
                <a:spcPts val="1100"/>
              </a:spcBef>
              <a:spcAft>
                <a:spcPts val="0"/>
              </a:spcAft>
              <a:buClr>
                <a:schemeClr val="dk1"/>
              </a:buClr>
              <a:buSzPts val="1400"/>
              <a:buFont typeface="Noto Sans Symbols"/>
              <a:buChar char="▪"/>
              <a:defRPr sz="1400" b="0" i="0" u="none" strike="noStrike" cap="none">
                <a:solidFill>
                  <a:schemeClr val="dk1"/>
                </a:solidFill>
                <a:latin typeface="Verdana"/>
                <a:ea typeface="Verdana"/>
                <a:cs typeface="Verdana"/>
                <a:sym typeface="Verdana"/>
              </a:defRPr>
            </a:lvl2pPr>
            <a:lvl3pPr marL="1371600" marR="0" lvl="2" indent="-298450" algn="just" rtl="0">
              <a:lnSpc>
                <a:spcPct val="100000"/>
              </a:lnSpc>
              <a:spcBef>
                <a:spcPts val="8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3pPr>
            <a:lvl4pPr marL="1828800" marR="0" lvl="3" indent="-298450" algn="just" rtl="0">
              <a:lnSpc>
                <a:spcPct val="100000"/>
              </a:lnSpc>
              <a:spcBef>
                <a:spcPts val="500"/>
              </a:spcBef>
              <a:spcAft>
                <a:spcPts val="0"/>
              </a:spcAft>
              <a:buClr>
                <a:schemeClr val="dk1"/>
              </a:buClr>
              <a:buSzPts val="1100"/>
              <a:buFont typeface="Merriweather Sans"/>
              <a:buChar char="▫"/>
              <a:defRPr sz="1100" b="0" i="0" u="none" strike="noStrike" cap="none">
                <a:solidFill>
                  <a:schemeClr val="dk1"/>
                </a:solidFill>
                <a:latin typeface="Verdana"/>
                <a:ea typeface="Verdana"/>
                <a:cs typeface="Verdana"/>
                <a:sym typeface="Verdana"/>
              </a:defRPr>
            </a:lvl4pPr>
            <a:lvl5pPr marL="2286000" marR="0" lvl="4"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55" name="Google Shape;155;p79"/>
          <p:cNvSpPr txBox="1">
            <a:spLocks noGrp="1"/>
          </p:cNvSpPr>
          <p:nvPr>
            <p:ph type="body" idx="14"/>
          </p:nvPr>
        </p:nvSpPr>
        <p:spPr>
          <a:xfrm>
            <a:off x="7733188" y="1275460"/>
            <a:ext cx="2289652" cy="80456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Verdana"/>
                <a:ea typeface="Verdana"/>
                <a:cs typeface="Verdana"/>
                <a:sym typeface="Verdana"/>
              </a:defRPr>
            </a:lvl1pPr>
            <a:lvl2pPr marL="914400" marR="0" lvl="1" indent="-317500" algn="just" rtl="0">
              <a:lnSpc>
                <a:spcPct val="100000"/>
              </a:lnSpc>
              <a:spcBef>
                <a:spcPts val="1100"/>
              </a:spcBef>
              <a:spcAft>
                <a:spcPts val="0"/>
              </a:spcAft>
              <a:buClr>
                <a:schemeClr val="dk1"/>
              </a:buClr>
              <a:buSzPts val="1400"/>
              <a:buFont typeface="Noto Sans Symbols"/>
              <a:buChar char="▪"/>
              <a:defRPr sz="1400" b="0" i="0" u="none" strike="noStrike" cap="none">
                <a:solidFill>
                  <a:schemeClr val="dk1"/>
                </a:solidFill>
                <a:latin typeface="Verdana"/>
                <a:ea typeface="Verdana"/>
                <a:cs typeface="Verdana"/>
                <a:sym typeface="Verdana"/>
              </a:defRPr>
            </a:lvl2pPr>
            <a:lvl3pPr marL="1371600" marR="0" lvl="2" indent="-298450" algn="just" rtl="0">
              <a:lnSpc>
                <a:spcPct val="100000"/>
              </a:lnSpc>
              <a:spcBef>
                <a:spcPts val="8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3pPr>
            <a:lvl4pPr marL="1828800" marR="0" lvl="3" indent="-298450" algn="just" rtl="0">
              <a:lnSpc>
                <a:spcPct val="100000"/>
              </a:lnSpc>
              <a:spcBef>
                <a:spcPts val="500"/>
              </a:spcBef>
              <a:spcAft>
                <a:spcPts val="0"/>
              </a:spcAft>
              <a:buClr>
                <a:schemeClr val="dk1"/>
              </a:buClr>
              <a:buSzPts val="1100"/>
              <a:buFont typeface="Merriweather Sans"/>
              <a:buChar char="▫"/>
              <a:defRPr sz="1100" b="0" i="0" u="none" strike="noStrike" cap="none">
                <a:solidFill>
                  <a:schemeClr val="dk1"/>
                </a:solidFill>
                <a:latin typeface="Verdana"/>
                <a:ea typeface="Verdana"/>
                <a:cs typeface="Verdana"/>
                <a:sym typeface="Verdana"/>
              </a:defRPr>
            </a:lvl4pPr>
            <a:lvl5pPr marL="2286000" marR="0" lvl="4"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56" name="Google Shape;156;p79"/>
          <p:cNvSpPr txBox="1">
            <a:spLocks noGrp="1"/>
          </p:cNvSpPr>
          <p:nvPr>
            <p:ph type="body" idx="15"/>
          </p:nvPr>
        </p:nvSpPr>
        <p:spPr>
          <a:xfrm>
            <a:off x="7733188" y="3987487"/>
            <a:ext cx="2289652" cy="80456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Verdana"/>
                <a:ea typeface="Verdana"/>
                <a:cs typeface="Verdana"/>
                <a:sym typeface="Verdana"/>
              </a:defRPr>
            </a:lvl1pPr>
            <a:lvl2pPr marL="914400" marR="0" lvl="1" indent="-317500" algn="just" rtl="0">
              <a:lnSpc>
                <a:spcPct val="100000"/>
              </a:lnSpc>
              <a:spcBef>
                <a:spcPts val="1100"/>
              </a:spcBef>
              <a:spcAft>
                <a:spcPts val="0"/>
              </a:spcAft>
              <a:buClr>
                <a:schemeClr val="dk1"/>
              </a:buClr>
              <a:buSzPts val="1400"/>
              <a:buFont typeface="Noto Sans Symbols"/>
              <a:buChar char="▪"/>
              <a:defRPr sz="1400" b="0" i="0" u="none" strike="noStrike" cap="none">
                <a:solidFill>
                  <a:schemeClr val="dk1"/>
                </a:solidFill>
                <a:latin typeface="Verdana"/>
                <a:ea typeface="Verdana"/>
                <a:cs typeface="Verdana"/>
                <a:sym typeface="Verdana"/>
              </a:defRPr>
            </a:lvl2pPr>
            <a:lvl3pPr marL="1371600" marR="0" lvl="2" indent="-298450" algn="just" rtl="0">
              <a:lnSpc>
                <a:spcPct val="100000"/>
              </a:lnSpc>
              <a:spcBef>
                <a:spcPts val="8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3pPr>
            <a:lvl4pPr marL="1828800" marR="0" lvl="3" indent="-298450" algn="just" rtl="0">
              <a:lnSpc>
                <a:spcPct val="100000"/>
              </a:lnSpc>
              <a:spcBef>
                <a:spcPts val="500"/>
              </a:spcBef>
              <a:spcAft>
                <a:spcPts val="0"/>
              </a:spcAft>
              <a:buClr>
                <a:schemeClr val="dk1"/>
              </a:buClr>
              <a:buSzPts val="1100"/>
              <a:buFont typeface="Merriweather Sans"/>
              <a:buChar char="▫"/>
              <a:defRPr sz="1100" b="0" i="0" u="none" strike="noStrike" cap="none">
                <a:solidFill>
                  <a:schemeClr val="dk1"/>
                </a:solidFill>
                <a:latin typeface="Verdana"/>
                <a:ea typeface="Verdana"/>
                <a:cs typeface="Verdana"/>
                <a:sym typeface="Verdana"/>
              </a:defRPr>
            </a:lvl4pPr>
            <a:lvl5pPr marL="2286000" marR="0" lvl="4"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57" name="Google Shape;157;p79"/>
          <p:cNvSpPr txBox="1">
            <a:spLocks noGrp="1"/>
          </p:cNvSpPr>
          <p:nvPr>
            <p:ph type="title"/>
          </p:nvPr>
        </p:nvSpPr>
        <p:spPr>
          <a:xfrm>
            <a:off x="606000" y="563867"/>
            <a:ext cx="10980000" cy="540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2600"/>
              <a:buFont typeface="Verdana"/>
              <a:buNone/>
              <a:defRPr sz="2600" b="1" i="0" u="none" strike="noStrike" cap="none">
                <a:solidFill>
                  <a:schemeClr val="dk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DC Square_p.1">
  <p:cSld name="1_DC Square_p.1">
    <p:spTree>
      <p:nvGrpSpPr>
        <p:cNvPr id="1" name="Shape 158"/>
        <p:cNvGrpSpPr/>
        <p:nvPr/>
      </p:nvGrpSpPr>
      <p:grpSpPr>
        <a:xfrm>
          <a:off x="0" y="0"/>
          <a:ext cx="0" cy="0"/>
          <a:chOff x="0" y="0"/>
          <a:chExt cx="0" cy="0"/>
        </a:xfrm>
      </p:grpSpPr>
      <p:sp>
        <p:nvSpPr>
          <p:cNvPr id="159" name="Google Shape;159;p80"/>
          <p:cNvSpPr/>
          <p:nvPr/>
        </p:nvSpPr>
        <p:spPr>
          <a:xfrm>
            <a:off x="0" y="0"/>
            <a:ext cx="2955393" cy="6858000"/>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Verdana"/>
              <a:ea typeface="Verdana"/>
              <a:cs typeface="Verdana"/>
              <a:sym typeface="Verdana"/>
            </a:endParaRPr>
          </a:p>
        </p:txBody>
      </p:sp>
      <p:pic>
        <p:nvPicPr>
          <p:cNvPr id="160" name="Google Shape;160;p80"/>
          <p:cNvPicPr preferRelativeResize="0"/>
          <p:nvPr/>
        </p:nvPicPr>
        <p:blipFill rotWithShape="1">
          <a:blip r:embed="rId2">
            <a:alphaModFix/>
          </a:blip>
          <a:srcRect/>
          <a:stretch/>
        </p:blipFill>
        <p:spPr>
          <a:xfrm>
            <a:off x="230621" y="259470"/>
            <a:ext cx="1347030" cy="497403"/>
          </a:xfrm>
          <a:prstGeom prst="rect">
            <a:avLst/>
          </a:prstGeom>
          <a:noFill/>
          <a:ln>
            <a:noFill/>
          </a:ln>
        </p:spPr>
      </p:pic>
      <p:sp>
        <p:nvSpPr>
          <p:cNvPr id="161" name="Google Shape;161;p80"/>
          <p:cNvSpPr/>
          <p:nvPr/>
        </p:nvSpPr>
        <p:spPr>
          <a:xfrm>
            <a:off x="6080045" y="5605048"/>
            <a:ext cx="2612933"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1" i="0" u="none" strike="noStrike" cap="none">
                <a:solidFill>
                  <a:schemeClr val="dk1"/>
                </a:solidFill>
                <a:latin typeface="Verdana"/>
                <a:ea typeface="Verdana"/>
                <a:cs typeface="Verdana"/>
                <a:sym typeface="Verdana"/>
              </a:rPr>
              <a:t>PUBLICATIONS</a:t>
            </a:r>
            <a:endParaRPr sz="1400" b="0" i="0" u="none" strike="noStrike" cap="none">
              <a:solidFill>
                <a:srgbClr val="000000"/>
              </a:solidFill>
              <a:latin typeface="Arial"/>
              <a:ea typeface="Arial"/>
              <a:cs typeface="Arial"/>
              <a:sym typeface="Arial"/>
            </a:endParaRPr>
          </a:p>
        </p:txBody>
      </p:sp>
      <p:cxnSp>
        <p:nvCxnSpPr>
          <p:cNvPr id="162" name="Google Shape;162;p80"/>
          <p:cNvCxnSpPr/>
          <p:nvPr/>
        </p:nvCxnSpPr>
        <p:spPr>
          <a:xfrm>
            <a:off x="8796474" y="2539134"/>
            <a:ext cx="0" cy="2931533"/>
          </a:xfrm>
          <a:prstGeom prst="straightConnector1">
            <a:avLst/>
          </a:prstGeom>
          <a:noFill/>
          <a:ln w="25400" cap="flat" cmpd="sng">
            <a:solidFill>
              <a:srgbClr val="D8D8D8"/>
            </a:solidFill>
            <a:prstDash val="solid"/>
            <a:miter lim="800000"/>
            <a:headEnd type="none" w="sm" len="sm"/>
            <a:tailEnd type="none" w="sm" len="sm"/>
          </a:ln>
        </p:spPr>
      </p:cxnSp>
      <p:cxnSp>
        <p:nvCxnSpPr>
          <p:cNvPr id="163" name="Google Shape;163;p80"/>
          <p:cNvCxnSpPr/>
          <p:nvPr/>
        </p:nvCxnSpPr>
        <p:spPr>
          <a:xfrm>
            <a:off x="5942544" y="2539134"/>
            <a:ext cx="0" cy="4248081"/>
          </a:xfrm>
          <a:prstGeom prst="straightConnector1">
            <a:avLst/>
          </a:prstGeom>
          <a:noFill/>
          <a:ln w="25400" cap="flat" cmpd="sng">
            <a:solidFill>
              <a:srgbClr val="D8D8D8"/>
            </a:solidFill>
            <a:prstDash val="solid"/>
            <a:miter lim="800000"/>
            <a:headEnd type="none" w="sm" len="sm"/>
            <a:tailEnd type="none" w="sm" len="sm"/>
          </a:ln>
        </p:spPr>
      </p:cxnSp>
      <p:cxnSp>
        <p:nvCxnSpPr>
          <p:cNvPr id="164" name="Google Shape;164;p80"/>
          <p:cNvCxnSpPr/>
          <p:nvPr/>
        </p:nvCxnSpPr>
        <p:spPr>
          <a:xfrm>
            <a:off x="3246090" y="2342207"/>
            <a:ext cx="8412502" cy="0"/>
          </a:xfrm>
          <a:prstGeom prst="straightConnector1">
            <a:avLst/>
          </a:prstGeom>
          <a:noFill/>
          <a:ln w="25400" cap="flat" cmpd="sng">
            <a:solidFill>
              <a:srgbClr val="D8D8D8"/>
            </a:solidFill>
            <a:prstDash val="solid"/>
            <a:miter lim="800000"/>
            <a:headEnd type="none" w="sm" len="sm"/>
            <a:tailEnd type="none" w="sm" len="sm"/>
          </a:ln>
        </p:spPr>
      </p:cxnSp>
      <p:sp>
        <p:nvSpPr>
          <p:cNvPr id="165" name="Google Shape;165;p80"/>
          <p:cNvSpPr txBox="1">
            <a:spLocks noGrp="1"/>
          </p:cNvSpPr>
          <p:nvPr>
            <p:ph type="body" idx="1"/>
          </p:nvPr>
        </p:nvSpPr>
        <p:spPr>
          <a:xfrm>
            <a:off x="6080046" y="5905365"/>
            <a:ext cx="5578546" cy="775520"/>
          </a:xfrm>
          <a:prstGeom prst="rect">
            <a:avLst/>
          </a:prstGeom>
          <a:solidFill>
            <a:schemeClr val="lt1"/>
          </a:solidFill>
          <a:ln>
            <a:noFill/>
          </a:ln>
        </p:spPr>
        <p:txBody>
          <a:bodyPr spcFirstLastPara="1" wrap="square" lIns="91425" tIns="45700" rIns="91425" bIns="45700" anchor="t" anchorCtr="0">
            <a:noAutofit/>
          </a:bodyPr>
          <a:lstStyle>
            <a:lvl1pPr marL="457200" marR="0" lvl="0"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Merriweather Sans"/>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cxnSp>
        <p:nvCxnSpPr>
          <p:cNvPr id="166" name="Google Shape;166;p80"/>
          <p:cNvCxnSpPr/>
          <p:nvPr/>
        </p:nvCxnSpPr>
        <p:spPr>
          <a:xfrm>
            <a:off x="6197613" y="5828029"/>
            <a:ext cx="1352673" cy="0"/>
          </a:xfrm>
          <a:prstGeom prst="straightConnector1">
            <a:avLst/>
          </a:prstGeom>
          <a:noFill/>
          <a:ln w="25400" cap="flat" cmpd="sng">
            <a:solidFill>
              <a:schemeClr val="lt2"/>
            </a:solidFill>
            <a:prstDash val="solid"/>
            <a:miter lim="800000"/>
            <a:headEnd type="none" w="sm" len="sm"/>
            <a:tailEnd type="none" w="sm" len="sm"/>
          </a:ln>
        </p:spPr>
      </p:cxnSp>
      <p:sp>
        <p:nvSpPr>
          <p:cNvPr id="167" name="Google Shape;167;p80"/>
          <p:cNvSpPr txBox="1">
            <a:spLocks noGrp="1"/>
          </p:cNvSpPr>
          <p:nvPr>
            <p:ph type="body" idx="2"/>
          </p:nvPr>
        </p:nvSpPr>
        <p:spPr>
          <a:xfrm>
            <a:off x="8997555" y="4747901"/>
            <a:ext cx="2661037" cy="722766"/>
          </a:xfrm>
          <a:prstGeom prst="rect">
            <a:avLst/>
          </a:prstGeom>
          <a:noFill/>
          <a:ln>
            <a:noFill/>
          </a:ln>
        </p:spPr>
        <p:txBody>
          <a:bodyPr spcFirstLastPara="1" wrap="square" lIns="91425" tIns="45700" rIns="91425" bIns="45700" anchor="t" anchorCtr="0">
            <a:noAutofit/>
          </a:bodyPr>
          <a:lstStyle>
            <a:lvl1pPr marL="457200" marR="0" lvl="0" indent="-298450" algn="just"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Merriweather Sans"/>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cxnSp>
        <p:nvCxnSpPr>
          <p:cNvPr id="168" name="Google Shape;168;p80"/>
          <p:cNvCxnSpPr/>
          <p:nvPr/>
        </p:nvCxnSpPr>
        <p:spPr>
          <a:xfrm>
            <a:off x="9090429" y="4656013"/>
            <a:ext cx="825731" cy="0"/>
          </a:xfrm>
          <a:prstGeom prst="straightConnector1">
            <a:avLst/>
          </a:prstGeom>
          <a:noFill/>
          <a:ln w="25400" cap="flat" cmpd="sng">
            <a:solidFill>
              <a:schemeClr val="lt2"/>
            </a:solidFill>
            <a:prstDash val="solid"/>
            <a:miter lim="800000"/>
            <a:headEnd type="none" w="sm" len="sm"/>
            <a:tailEnd type="none" w="sm" len="sm"/>
          </a:ln>
        </p:spPr>
      </p:cxnSp>
      <p:sp>
        <p:nvSpPr>
          <p:cNvPr id="169" name="Google Shape;169;p80"/>
          <p:cNvSpPr/>
          <p:nvPr/>
        </p:nvSpPr>
        <p:spPr>
          <a:xfrm>
            <a:off x="8992053" y="4437492"/>
            <a:ext cx="2612933"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1" i="0" u="none" strike="noStrike" cap="none">
                <a:solidFill>
                  <a:schemeClr val="dk1"/>
                </a:solidFill>
                <a:latin typeface="Verdana"/>
                <a:ea typeface="Verdana"/>
                <a:cs typeface="Verdana"/>
                <a:sym typeface="Verdana"/>
              </a:rPr>
              <a:t>LANGUES</a:t>
            </a:r>
            <a:endParaRPr sz="1400" b="0" i="0" u="none" strike="noStrike" cap="none">
              <a:solidFill>
                <a:srgbClr val="000000"/>
              </a:solidFill>
              <a:latin typeface="Arial"/>
              <a:ea typeface="Arial"/>
              <a:cs typeface="Arial"/>
              <a:sym typeface="Arial"/>
            </a:endParaRPr>
          </a:p>
        </p:txBody>
      </p:sp>
      <p:sp>
        <p:nvSpPr>
          <p:cNvPr id="170" name="Google Shape;170;p80"/>
          <p:cNvSpPr txBox="1">
            <a:spLocks noGrp="1"/>
          </p:cNvSpPr>
          <p:nvPr>
            <p:ph type="body" idx="3"/>
          </p:nvPr>
        </p:nvSpPr>
        <p:spPr>
          <a:xfrm>
            <a:off x="8997555" y="2868150"/>
            <a:ext cx="2661037" cy="1028313"/>
          </a:xfrm>
          <a:prstGeom prst="rect">
            <a:avLst/>
          </a:prstGeom>
          <a:noFill/>
          <a:ln>
            <a:noFill/>
          </a:ln>
        </p:spPr>
        <p:txBody>
          <a:bodyPr spcFirstLastPara="1" wrap="square" lIns="91425" tIns="45700" rIns="91425" bIns="45700" anchor="t" anchorCtr="0">
            <a:noAutofit/>
          </a:bodyPr>
          <a:lstStyle>
            <a:lvl1pPr marL="457200" marR="0" lvl="0" indent="-298450" algn="just"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Merriweather Sans"/>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cxnSp>
        <p:nvCxnSpPr>
          <p:cNvPr id="171" name="Google Shape;171;p80"/>
          <p:cNvCxnSpPr/>
          <p:nvPr/>
        </p:nvCxnSpPr>
        <p:spPr>
          <a:xfrm>
            <a:off x="9090429" y="2761173"/>
            <a:ext cx="663171" cy="0"/>
          </a:xfrm>
          <a:prstGeom prst="straightConnector1">
            <a:avLst/>
          </a:prstGeom>
          <a:noFill/>
          <a:ln w="25400" cap="flat" cmpd="sng">
            <a:solidFill>
              <a:schemeClr val="lt2"/>
            </a:solidFill>
            <a:prstDash val="solid"/>
            <a:miter lim="800000"/>
            <a:headEnd type="none" w="sm" len="sm"/>
            <a:tailEnd type="none" w="sm" len="sm"/>
          </a:ln>
        </p:spPr>
      </p:cxnSp>
      <p:sp>
        <p:nvSpPr>
          <p:cNvPr id="172" name="Google Shape;172;p80"/>
          <p:cNvSpPr/>
          <p:nvPr/>
        </p:nvSpPr>
        <p:spPr>
          <a:xfrm>
            <a:off x="8992053" y="2528687"/>
            <a:ext cx="2612933"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1" i="0" u="none" strike="noStrike" cap="none">
                <a:solidFill>
                  <a:schemeClr val="dk1"/>
                </a:solidFill>
                <a:latin typeface="Verdana"/>
                <a:ea typeface="Verdana"/>
                <a:cs typeface="Verdana"/>
                <a:sym typeface="Verdana"/>
              </a:rPr>
              <a:t>OUTILS</a:t>
            </a:r>
            <a:endParaRPr sz="1400" b="0" i="0" u="none" strike="noStrike" cap="none">
              <a:solidFill>
                <a:srgbClr val="000000"/>
              </a:solidFill>
              <a:latin typeface="Arial"/>
              <a:ea typeface="Arial"/>
              <a:cs typeface="Arial"/>
              <a:sym typeface="Arial"/>
            </a:endParaRPr>
          </a:p>
        </p:txBody>
      </p:sp>
      <p:sp>
        <p:nvSpPr>
          <p:cNvPr id="173" name="Google Shape;173;p80"/>
          <p:cNvSpPr txBox="1">
            <a:spLocks noGrp="1"/>
          </p:cNvSpPr>
          <p:nvPr>
            <p:ph type="body" idx="4"/>
          </p:nvPr>
        </p:nvSpPr>
        <p:spPr>
          <a:xfrm>
            <a:off x="6075387" y="2863670"/>
            <a:ext cx="2541455" cy="2606997"/>
          </a:xfrm>
          <a:prstGeom prst="rect">
            <a:avLst/>
          </a:prstGeom>
          <a:noFill/>
          <a:ln>
            <a:noFill/>
          </a:ln>
        </p:spPr>
        <p:txBody>
          <a:bodyPr spcFirstLastPara="1" wrap="square" lIns="91425" tIns="45700" rIns="91425" bIns="45700" anchor="t" anchorCtr="0">
            <a:noAutofit/>
          </a:bodyPr>
          <a:lstStyle>
            <a:lvl1pPr marL="457200" marR="0" lvl="0"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298450" algn="just" rtl="0">
              <a:lnSpc>
                <a:spcPct val="100000"/>
              </a:lnSpc>
              <a:spcBef>
                <a:spcPts val="2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cxnSp>
        <p:nvCxnSpPr>
          <p:cNvPr id="174" name="Google Shape;174;p80"/>
          <p:cNvCxnSpPr/>
          <p:nvPr/>
        </p:nvCxnSpPr>
        <p:spPr>
          <a:xfrm>
            <a:off x="6175781" y="2761173"/>
            <a:ext cx="1962379" cy="0"/>
          </a:xfrm>
          <a:prstGeom prst="straightConnector1">
            <a:avLst/>
          </a:prstGeom>
          <a:noFill/>
          <a:ln w="25400" cap="flat" cmpd="sng">
            <a:solidFill>
              <a:schemeClr val="lt2"/>
            </a:solidFill>
            <a:prstDash val="solid"/>
            <a:miter lim="800000"/>
            <a:headEnd type="none" w="sm" len="sm"/>
            <a:tailEnd type="none" w="sm" len="sm"/>
          </a:ln>
        </p:spPr>
      </p:cxnSp>
      <p:sp>
        <p:nvSpPr>
          <p:cNvPr id="175" name="Google Shape;175;p80"/>
          <p:cNvSpPr/>
          <p:nvPr/>
        </p:nvSpPr>
        <p:spPr>
          <a:xfrm>
            <a:off x="6075388" y="2528687"/>
            <a:ext cx="2612933"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1" i="0" u="none" strike="noStrike" cap="none">
                <a:solidFill>
                  <a:schemeClr val="dk1"/>
                </a:solidFill>
                <a:latin typeface="Verdana"/>
                <a:ea typeface="Verdana"/>
                <a:cs typeface="Verdana"/>
                <a:sym typeface="Verdana"/>
              </a:rPr>
              <a:t>SECTEURS / CLIENTS</a:t>
            </a:r>
            <a:endParaRPr sz="1400" b="0" i="0" u="none" strike="noStrike" cap="none">
              <a:solidFill>
                <a:srgbClr val="000000"/>
              </a:solidFill>
              <a:latin typeface="Arial"/>
              <a:ea typeface="Arial"/>
              <a:cs typeface="Arial"/>
              <a:sym typeface="Arial"/>
            </a:endParaRPr>
          </a:p>
        </p:txBody>
      </p:sp>
      <p:sp>
        <p:nvSpPr>
          <p:cNvPr id="176" name="Google Shape;176;p80"/>
          <p:cNvSpPr txBox="1">
            <a:spLocks noGrp="1"/>
          </p:cNvSpPr>
          <p:nvPr>
            <p:ph type="body" idx="5"/>
          </p:nvPr>
        </p:nvSpPr>
        <p:spPr>
          <a:xfrm>
            <a:off x="3128522" y="4717234"/>
            <a:ext cx="2612932" cy="753433"/>
          </a:xfrm>
          <a:prstGeom prst="rect">
            <a:avLst/>
          </a:prstGeom>
          <a:noFill/>
          <a:ln>
            <a:noFill/>
          </a:ln>
        </p:spPr>
        <p:txBody>
          <a:bodyPr spcFirstLastPara="1" wrap="square" lIns="91425" tIns="45700" rIns="91425" bIns="45700" anchor="t" anchorCtr="0">
            <a:noAutofit/>
          </a:bodyPr>
          <a:lstStyle>
            <a:lvl1pPr marL="457200" marR="0" lvl="0"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298450" algn="just" rtl="0">
              <a:lnSpc>
                <a:spcPct val="100000"/>
              </a:lnSpc>
              <a:spcBef>
                <a:spcPts val="2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77" name="Google Shape;177;p80"/>
          <p:cNvSpPr/>
          <p:nvPr/>
        </p:nvSpPr>
        <p:spPr>
          <a:xfrm>
            <a:off x="3128522" y="4488756"/>
            <a:ext cx="2629394" cy="17438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0" i="0" u="none" strike="noStrike" cap="none">
                <a:solidFill>
                  <a:schemeClr val="dk1"/>
                </a:solidFill>
                <a:latin typeface="Verdana"/>
                <a:ea typeface="Verdana"/>
                <a:cs typeface="Verdana"/>
                <a:sym typeface="Verdana"/>
              </a:rPr>
              <a:t>MÉTIER</a:t>
            </a:r>
            <a:endParaRPr sz="1400" b="0" i="0" u="none" strike="noStrike" cap="none">
              <a:solidFill>
                <a:srgbClr val="000000"/>
              </a:solidFill>
              <a:latin typeface="Arial"/>
              <a:ea typeface="Arial"/>
              <a:cs typeface="Arial"/>
              <a:sym typeface="Arial"/>
            </a:endParaRPr>
          </a:p>
        </p:txBody>
      </p:sp>
      <p:sp>
        <p:nvSpPr>
          <p:cNvPr id="178" name="Google Shape;178;p80"/>
          <p:cNvSpPr txBox="1">
            <a:spLocks noGrp="1"/>
          </p:cNvSpPr>
          <p:nvPr>
            <p:ph type="body" idx="6"/>
          </p:nvPr>
        </p:nvSpPr>
        <p:spPr>
          <a:xfrm>
            <a:off x="3128522" y="3099398"/>
            <a:ext cx="2612932" cy="753433"/>
          </a:xfrm>
          <a:prstGeom prst="rect">
            <a:avLst/>
          </a:prstGeom>
          <a:noFill/>
          <a:ln>
            <a:noFill/>
          </a:ln>
        </p:spPr>
        <p:txBody>
          <a:bodyPr spcFirstLastPara="1" wrap="square" lIns="91425" tIns="45700" rIns="91425" bIns="45700" anchor="t" anchorCtr="0">
            <a:noAutofit/>
          </a:bodyPr>
          <a:lstStyle>
            <a:lvl1pPr marL="457200" marR="0" lvl="0"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298450" algn="just" rtl="0">
              <a:lnSpc>
                <a:spcPct val="100000"/>
              </a:lnSpc>
              <a:spcBef>
                <a:spcPts val="2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79" name="Google Shape;179;p80"/>
          <p:cNvSpPr/>
          <p:nvPr/>
        </p:nvSpPr>
        <p:spPr>
          <a:xfrm>
            <a:off x="3128522" y="2863671"/>
            <a:ext cx="2629394" cy="17438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0" i="0" u="none" strike="noStrike" cap="none">
                <a:solidFill>
                  <a:schemeClr val="dk1"/>
                </a:solidFill>
                <a:latin typeface="Verdana"/>
                <a:ea typeface="Verdana"/>
                <a:cs typeface="Verdana"/>
                <a:sym typeface="Verdana"/>
              </a:rPr>
              <a:t>MÉTHODOLOGIE</a:t>
            </a:r>
            <a:endParaRPr sz="1400" b="0" i="0" u="none" strike="noStrike" cap="none">
              <a:solidFill>
                <a:srgbClr val="000000"/>
              </a:solidFill>
              <a:latin typeface="Arial"/>
              <a:ea typeface="Arial"/>
              <a:cs typeface="Arial"/>
              <a:sym typeface="Arial"/>
            </a:endParaRPr>
          </a:p>
        </p:txBody>
      </p:sp>
      <p:cxnSp>
        <p:nvCxnSpPr>
          <p:cNvPr id="180" name="Google Shape;180;p80"/>
          <p:cNvCxnSpPr/>
          <p:nvPr/>
        </p:nvCxnSpPr>
        <p:spPr>
          <a:xfrm>
            <a:off x="3246090" y="2761173"/>
            <a:ext cx="1122710" cy="0"/>
          </a:xfrm>
          <a:prstGeom prst="straightConnector1">
            <a:avLst/>
          </a:prstGeom>
          <a:noFill/>
          <a:ln w="25400" cap="flat" cmpd="sng">
            <a:solidFill>
              <a:schemeClr val="lt2"/>
            </a:solidFill>
            <a:prstDash val="solid"/>
            <a:miter lim="800000"/>
            <a:headEnd type="none" w="sm" len="sm"/>
            <a:tailEnd type="none" w="sm" len="sm"/>
          </a:ln>
        </p:spPr>
      </p:cxnSp>
      <p:sp>
        <p:nvSpPr>
          <p:cNvPr id="181" name="Google Shape;181;p80"/>
          <p:cNvSpPr/>
          <p:nvPr/>
        </p:nvSpPr>
        <p:spPr>
          <a:xfrm>
            <a:off x="3128522" y="2528687"/>
            <a:ext cx="2612933"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1" i="0" u="none" strike="noStrike" cap="none">
                <a:solidFill>
                  <a:schemeClr val="dk1"/>
                </a:solidFill>
                <a:latin typeface="Verdana"/>
                <a:ea typeface="Verdana"/>
                <a:cs typeface="Verdana"/>
                <a:sym typeface="Verdana"/>
              </a:rPr>
              <a:t>EXPERTISES</a:t>
            </a:r>
            <a:endParaRPr sz="1400" b="0" i="0" u="none" strike="noStrike" cap="none">
              <a:solidFill>
                <a:srgbClr val="000000"/>
              </a:solidFill>
              <a:latin typeface="Arial"/>
              <a:ea typeface="Arial"/>
              <a:cs typeface="Arial"/>
              <a:sym typeface="Arial"/>
            </a:endParaRPr>
          </a:p>
        </p:txBody>
      </p:sp>
      <p:sp>
        <p:nvSpPr>
          <p:cNvPr id="182" name="Google Shape;182;p80"/>
          <p:cNvSpPr txBox="1">
            <a:spLocks noGrp="1"/>
          </p:cNvSpPr>
          <p:nvPr>
            <p:ph type="body" idx="7"/>
          </p:nvPr>
        </p:nvSpPr>
        <p:spPr>
          <a:xfrm>
            <a:off x="3128522" y="324013"/>
            <a:ext cx="8508610" cy="1734642"/>
          </a:xfrm>
          <a:prstGeom prst="rect">
            <a:avLst/>
          </a:prstGeom>
          <a:noFill/>
          <a:ln>
            <a:noFill/>
          </a:ln>
        </p:spPr>
        <p:txBody>
          <a:bodyPr spcFirstLastPara="1" wrap="square" lIns="91425" tIns="45700" rIns="91425" bIns="45700" anchor="t" anchorCtr="0">
            <a:noAutofit/>
          </a:bodyPr>
          <a:lstStyle>
            <a:lvl1pPr marL="457200" marR="0" lvl="0"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298450" algn="just" rtl="0">
              <a:lnSpc>
                <a:spcPct val="100000"/>
              </a:lnSpc>
              <a:spcBef>
                <a:spcPts val="3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Merriweather Sans"/>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83" name="Google Shape;183;p80"/>
          <p:cNvSpPr txBox="1">
            <a:spLocks noGrp="1"/>
          </p:cNvSpPr>
          <p:nvPr>
            <p:ph type="body" idx="8"/>
          </p:nvPr>
        </p:nvSpPr>
        <p:spPr>
          <a:xfrm>
            <a:off x="151339" y="4814550"/>
            <a:ext cx="2685771" cy="1166918"/>
          </a:xfrm>
          <a:prstGeom prst="rect">
            <a:avLst/>
          </a:prstGeom>
          <a:noFill/>
          <a:ln>
            <a:noFill/>
          </a:ln>
        </p:spPr>
        <p:txBody>
          <a:bodyPr spcFirstLastPara="1" wrap="square" lIns="91425" tIns="45700" rIns="91425" bIns="45700" anchor="t" anchorCtr="0">
            <a:noAutofit/>
          </a:bodyPr>
          <a:lstStyle>
            <a:lvl1pPr marL="457200" marR="0" lvl="0" indent="-298450" algn="just"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Merriweather Sans"/>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cxnSp>
        <p:nvCxnSpPr>
          <p:cNvPr id="184" name="Google Shape;184;p80"/>
          <p:cNvCxnSpPr/>
          <p:nvPr/>
        </p:nvCxnSpPr>
        <p:spPr>
          <a:xfrm>
            <a:off x="233228" y="4657802"/>
            <a:ext cx="1270589" cy="0"/>
          </a:xfrm>
          <a:prstGeom prst="straightConnector1">
            <a:avLst/>
          </a:prstGeom>
          <a:noFill/>
          <a:ln w="25400" cap="flat" cmpd="sng">
            <a:solidFill>
              <a:schemeClr val="lt2"/>
            </a:solidFill>
            <a:prstDash val="solid"/>
            <a:miter lim="800000"/>
            <a:headEnd type="none" w="sm" len="sm"/>
            <a:tailEnd type="none" w="sm" len="sm"/>
          </a:ln>
        </p:spPr>
      </p:cxnSp>
      <p:sp>
        <p:nvSpPr>
          <p:cNvPr id="185" name="Google Shape;185;p80"/>
          <p:cNvSpPr/>
          <p:nvPr/>
        </p:nvSpPr>
        <p:spPr>
          <a:xfrm>
            <a:off x="151340" y="4426646"/>
            <a:ext cx="2094546"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1" i="0" u="none" strike="noStrike" cap="none">
                <a:solidFill>
                  <a:schemeClr val="dk1"/>
                </a:solidFill>
                <a:latin typeface="Verdana"/>
                <a:ea typeface="Verdana"/>
                <a:cs typeface="Verdana"/>
                <a:sym typeface="Verdana"/>
              </a:rPr>
              <a:t>FORMATIONS</a:t>
            </a:r>
            <a:endParaRPr sz="1400" b="0" i="0" u="none" strike="noStrike" cap="none">
              <a:solidFill>
                <a:srgbClr val="000000"/>
              </a:solidFill>
              <a:latin typeface="Arial"/>
              <a:ea typeface="Arial"/>
              <a:cs typeface="Arial"/>
              <a:sym typeface="Arial"/>
            </a:endParaRPr>
          </a:p>
        </p:txBody>
      </p:sp>
      <p:sp>
        <p:nvSpPr>
          <p:cNvPr id="186" name="Google Shape;186;p80"/>
          <p:cNvSpPr txBox="1">
            <a:spLocks noGrp="1"/>
          </p:cNvSpPr>
          <p:nvPr>
            <p:ph type="body" idx="9"/>
          </p:nvPr>
        </p:nvSpPr>
        <p:spPr>
          <a:xfrm>
            <a:off x="151340" y="3559855"/>
            <a:ext cx="2694910" cy="762513"/>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400"/>
              <a:buFont typeface="Noto Sans Symbols"/>
              <a:buNone/>
              <a:defRPr sz="14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87" name="Google Shape;187;p80"/>
          <p:cNvSpPr txBox="1">
            <a:spLocks noGrp="1"/>
          </p:cNvSpPr>
          <p:nvPr>
            <p:ph type="body" idx="13"/>
          </p:nvPr>
        </p:nvSpPr>
        <p:spPr>
          <a:xfrm>
            <a:off x="151340" y="3121804"/>
            <a:ext cx="2694910" cy="368925"/>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Noto Sans Symbols"/>
              <a:buNone/>
              <a:defRPr sz="12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88" name="Google Shape;188;p80"/>
          <p:cNvSpPr txBox="1">
            <a:spLocks noGrp="1"/>
          </p:cNvSpPr>
          <p:nvPr>
            <p:ph type="body" idx="14"/>
          </p:nvPr>
        </p:nvSpPr>
        <p:spPr>
          <a:xfrm>
            <a:off x="151340" y="2736924"/>
            <a:ext cx="2694911" cy="392500"/>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400"/>
              <a:buFont typeface="Noto Sans Symbols"/>
              <a:buNone/>
              <a:defRPr sz="1400" b="1"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89" name="Google Shape;189;p80"/>
          <p:cNvSpPr txBox="1">
            <a:spLocks noGrp="1"/>
          </p:cNvSpPr>
          <p:nvPr>
            <p:ph type="title"/>
          </p:nvPr>
        </p:nvSpPr>
        <p:spPr>
          <a:xfrm>
            <a:off x="151340" y="2184423"/>
            <a:ext cx="2694910" cy="591227"/>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1"/>
              </a:buClr>
              <a:buSzPts val="1800"/>
              <a:buFont typeface="Verdana"/>
              <a:buNone/>
              <a:defRPr sz="1800" b="1" i="0" u="none" strike="noStrike" cap="none">
                <a:solidFill>
                  <a:schemeClr val="dk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90" name="Google Shape;190;p80"/>
          <p:cNvSpPr>
            <a:spLocks noGrp="1"/>
          </p:cNvSpPr>
          <p:nvPr>
            <p:ph type="pic" idx="15"/>
          </p:nvPr>
        </p:nvSpPr>
        <p:spPr>
          <a:xfrm>
            <a:off x="151340" y="798071"/>
            <a:ext cx="936000" cy="1224000"/>
          </a:xfrm>
          <a:prstGeom prst="rect">
            <a:avLst/>
          </a:prstGeom>
          <a:solidFill>
            <a:srgbClr val="F2F2F2"/>
          </a:solidFill>
          <a:ln>
            <a:noFill/>
          </a:ln>
        </p:spPr>
        <p:txBody>
          <a:bodyPr/>
          <a:p/>
        </p:txBody>
      </p:sp>
      <p:pic>
        <p:nvPicPr>
          <p:cNvPr id="191" name="Google Shape;191;p80"/>
          <p:cNvPicPr preferRelativeResize="0"/>
          <p:nvPr/>
        </p:nvPicPr>
        <p:blipFill rotWithShape="1">
          <a:blip r:embed="rId2">
            <a:alphaModFix/>
          </a:blip>
          <a:srcRect/>
          <a:stretch/>
        </p:blipFill>
        <p:spPr>
          <a:xfrm>
            <a:off x="230621" y="259470"/>
            <a:ext cx="1347030" cy="497403"/>
          </a:xfrm>
          <a:prstGeom prst="rect">
            <a:avLst/>
          </a:prstGeom>
          <a:noFill/>
          <a:ln>
            <a:noFill/>
          </a:ln>
        </p:spPr>
      </p:pic>
      <p:sp>
        <p:nvSpPr>
          <p:cNvPr id="192" name="Google Shape;192;p80"/>
          <p:cNvSpPr/>
          <p:nvPr/>
        </p:nvSpPr>
        <p:spPr>
          <a:xfrm>
            <a:off x="3128522" y="4488756"/>
            <a:ext cx="2629394" cy="17438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0" i="0" u="none" strike="noStrike" cap="none">
                <a:solidFill>
                  <a:schemeClr val="dk1"/>
                </a:solidFill>
                <a:latin typeface="Verdana"/>
                <a:ea typeface="Verdana"/>
                <a:cs typeface="Verdana"/>
                <a:sym typeface="Verdana"/>
              </a:rPr>
              <a:t>MÉTIER</a:t>
            </a:r>
            <a:endParaRPr sz="1400" b="0" i="0" u="none" strike="noStrike" cap="none">
              <a:solidFill>
                <a:srgbClr val="000000"/>
              </a:solidFill>
              <a:latin typeface="Arial"/>
              <a:ea typeface="Arial"/>
              <a:cs typeface="Arial"/>
              <a:sym typeface="Arial"/>
            </a:endParaRPr>
          </a:p>
        </p:txBody>
      </p:sp>
      <p:sp>
        <p:nvSpPr>
          <p:cNvPr id="193" name="Google Shape;193;p80"/>
          <p:cNvSpPr/>
          <p:nvPr/>
        </p:nvSpPr>
        <p:spPr>
          <a:xfrm>
            <a:off x="3128522" y="2863671"/>
            <a:ext cx="2629394" cy="17438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0" i="0" u="none" strike="noStrike" cap="none">
                <a:solidFill>
                  <a:schemeClr val="dk1"/>
                </a:solidFill>
                <a:latin typeface="Verdana"/>
                <a:ea typeface="Verdana"/>
                <a:cs typeface="Verdana"/>
                <a:sym typeface="Verdana"/>
              </a:rPr>
              <a:t>MÉTHODOLOGIE</a:t>
            </a:r>
            <a:endParaRPr sz="1400" b="0" i="0" u="none" strike="noStrike" cap="none">
              <a:solidFill>
                <a:srgbClr val="000000"/>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43">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DC Square_p.2">
  <p:cSld name="1_DC Square_p.2">
    <p:spTree>
      <p:nvGrpSpPr>
        <p:cNvPr id="1" name="Shape 194"/>
        <p:cNvGrpSpPr/>
        <p:nvPr/>
      </p:nvGrpSpPr>
      <p:grpSpPr>
        <a:xfrm>
          <a:off x="0" y="0"/>
          <a:ext cx="0" cy="0"/>
          <a:chOff x="0" y="0"/>
          <a:chExt cx="0" cy="0"/>
        </a:xfrm>
      </p:grpSpPr>
      <p:sp>
        <p:nvSpPr>
          <p:cNvPr id="195" name="Google Shape;195;p81"/>
          <p:cNvSpPr/>
          <p:nvPr/>
        </p:nvSpPr>
        <p:spPr>
          <a:xfrm>
            <a:off x="-6492" y="0"/>
            <a:ext cx="2955393" cy="6858000"/>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Verdana"/>
              <a:ea typeface="Verdana"/>
              <a:cs typeface="Verdana"/>
              <a:sym typeface="Verdana"/>
            </a:endParaRPr>
          </a:p>
        </p:txBody>
      </p:sp>
      <p:sp>
        <p:nvSpPr>
          <p:cNvPr id="196" name="Google Shape;196;p81"/>
          <p:cNvSpPr/>
          <p:nvPr/>
        </p:nvSpPr>
        <p:spPr>
          <a:xfrm>
            <a:off x="3246090" y="384313"/>
            <a:ext cx="8502998" cy="63030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Verdana"/>
              <a:ea typeface="Verdana"/>
              <a:cs typeface="Verdana"/>
              <a:sym typeface="Verdana"/>
            </a:endParaRPr>
          </a:p>
        </p:txBody>
      </p:sp>
      <p:sp>
        <p:nvSpPr>
          <p:cNvPr id="197" name="Google Shape;197;p81"/>
          <p:cNvSpPr txBox="1">
            <a:spLocks noGrp="1"/>
          </p:cNvSpPr>
          <p:nvPr>
            <p:ph type="body" idx="1"/>
          </p:nvPr>
        </p:nvSpPr>
        <p:spPr>
          <a:xfrm>
            <a:off x="10138745" y="690949"/>
            <a:ext cx="1579042" cy="20184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lt1"/>
              </a:buClr>
              <a:buSzPts val="1000"/>
              <a:buFont typeface="Noto Sans Symbols"/>
              <a:buNone/>
              <a:defRPr sz="1000" b="0" i="0" u="none" strike="noStrike" cap="none">
                <a:solidFill>
                  <a:schemeClr val="lt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98" name="Google Shape;198;p81"/>
          <p:cNvSpPr txBox="1">
            <a:spLocks noGrp="1"/>
          </p:cNvSpPr>
          <p:nvPr>
            <p:ph type="body" idx="2"/>
          </p:nvPr>
        </p:nvSpPr>
        <p:spPr>
          <a:xfrm>
            <a:off x="6417699" y="699466"/>
            <a:ext cx="2808000" cy="20184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lt1"/>
              </a:buClr>
              <a:buSzPts val="1000"/>
              <a:buFont typeface="Noto Sans Symbols"/>
              <a:buNone/>
              <a:defRPr sz="1000" b="0" i="0" u="none" strike="noStrike" cap="none">
                <a:solidFill>
                  <a:schemeClr val="lt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99" name="Google Shape;199;p81"/>
          <p:cNvSpPr txBox="1">
            <a:spLocks noGrp="1"/>
          </p:cNvSpPr>
          <p:nvPr>
            <p:ph type="body" idx="3"/>
          </p:nvPr>
        </p:nvSpPr>
        <p:spPr>
          <a:xfrm>
            <a:off x="6417699" y="471983"/>
            <a:ext cx="2808000" cy="20184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lt1"/>
              </a:buClr>
              <a:buSzPts val="1000"/>
              <a:buFont typeface="Noto Sans Symbols"/>
              <a:buNone/>
              <a:defRPr sz="1000" b="0" i="0" u="none" strike="noStrike" cap="none">
                <a:solidFill>
                  <a:schemeClr val="lt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cxnSp>
        <p:nvCxnSpPr>
          <p:cNvPr id="200" name="Google Shape;200;p81"/>
          <p:cNvCxnSpPr/>
          <p:nvPr/>
        </p:nvCxnSpPr>
        <p:spPr>
          <a:xfrm>
            <a:off x="6187765" y="444253"/>
            <a:ext cx="0" cy="493392"/>
          </a:xfrm>
          <a:prstGeom prst="straightConnector1">
            <a:avLst/>
          </a:prstGeom>
          <a:noFill/>
          <a:ln w="12700" cap="flat" cmpd="sng">
            <a:solidFill>
              <a:schemeClr val="lt1"/>
            </a:solidFill>
            <a:prstDash val="solid"/>
            <a:miter lim="800000"/>
            <a:headEnd type="none" w="sm" len="sm"/>
            <a:tailEnd type="none" w="sm" len="sm"/>
          </a:ln>
        </p:spPr>
      </p:cxnSp>
      <p:sp>
        <p:nvSpPr>
          <p:cNvPr id="201" name="Google Shape;201;p81"/>
          <p:cNvSpPr txBox="1">
            <a:spLocks noGrp="1"/>
          </p:cNvSpPr>
          <p:nvPr>
            <p:ph type="body" idx="4"/>
          </p:nvPr>
        </p:nvSpPr>
        <p:spPr>
          <a:xfrm>
            <a:off x="3445972" y="690949"/>
            <a:ext cx="2196000" cy="20184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lt1"/>
              </a:buClr>
              <a:buSzPts val="1000"/>
              <a:buFont typeface="Noto Sans Symbols"/>
              <a:buNone/>
              <a:defRPr sz="1000" b="0" i="0" u="none" strike="noStrike" cap="none">
                <a:solidFill>
                  <a:schemeClr val="lt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202" name="Google Shape;202;p81"/>
          <p:cNvSpPr txBox="1">
            <a:spLocks noGrp="1"/>
          </p:cNvSpPr>
          <p:nvPr>
            <p:ph type="body" idx="5"/>
          </p:nvPr>
        </p:nvSpPr>
        <p:spPr>
          <a:xfrm>
            <a:off x="3445972" y="471983"/>
            <a:ext cx="2196000" cy="20184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lt1"/>
              </a:buClr>
              <a:buSzPts val="1000"/>
              <a:buFont typeface="Noto Sans Symbols"/>
              <a:buNone/>
              <a:defRPr sz="1000" b="0" i="0" u="none" strike="noStrike" cap="none">
                <a:solidFill>
                  <a:schemeClr val="lt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203" name="Google Shape;203;p81"/>
          <p:cNvSpPr txBox="1">
            <a:spLocks noGrp="1"/>
          </p:cNvSpPr>
          <p:nvPr>
            <p:ph type="body" idx="6"/>
          </p:nvPr>
        </p:nvSpPr>
        <p:spPr>
          <a:xfrm>
            <a:off x="3246090" y="2870078"/>
            <a:ext cx="8471697" cy="3777212"/>
          </a:xfrm>
          <a:prstGeom prst="rect">
            <a:avLst/>
          </a:prstGeom>
          <a:solidFill>
            <a:schemeClr val="lt1"/>
          </a:solidFill>
          <a:ln>
            <a:noFill/>
          </a:ln>
        </p:spPr>
        <p:txBody>
          <a:bodyPr spcFirstLastPara="1" wrap="square" lIns="91425" tIns="45700" rIns="91425" bIns="45700" anchor="t" anchorCtr="0">
            <a:noAutofit/>
          </a:bodyPr>
          <a:lstStyle>
            <a:lvl1pPr marL="457200" marR="0" lvl="0"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298450" algn="just" rtl="0">
              <a:lnSpc>
                <a:spcPct val="100000"/>
              </a:lnSpc>
              <a:spcBef>
                <a:spcPts val="2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Merriweather Sans"/>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204" name="Google Shape;204;p81"/>
          <p:cNvSpPr/>
          <p:nvPr/>
        </p:nvSpPr>
        <p:spPr>
          <a:xfrm>
            <a:off x="3027549" y="2547333"/>
            <a:ext cx="256940" cy="288000"/>
          </a:xfrm>
          <a:custGeom>
            <a:avLst/>
            <a:gdLst/>
            <a:ahLst/>
            <a:cxnLst/>
            <a:rect l="l" t="t" r="r" b="b"/>
            <a:pathLst>
              <a:path w="100" h="113" extrusionOk="0">
                <a:moveTo>
                  <a:pt x="90" y="113"/>
                </a:moveTo>
                <a:cubicBezTo>
                  <a:pt x="100" y="113"/>
                  <a:pt x="100" y="113"/>
                  <a:pt x="100" y="113"/>
                </a:cubicBezTo>
                <a:cubicBezTo>
                  <a:pt x="72" y="65"/>
                  <a:pt x="72" y="65"/>
                  <a:pt x="72" y="65"/>
                </a:cubicBezTo>
                <a:cubicBezTo>
                  <a:pt x="68" y="72"/>
                  <a:pt x="68" y="72"/>
                  <a:pt x="68" y="72"/>
                </a:cubicBezTo>
                <a:moveTo>
                  <a:pt x="41" y="4"/>
                </a:moveTo>
                <a:cubicBezTo>
                  <a:pt x="64" y="4"/>
                  <a:pt x="64" y="4"/>
                  <a:pt x="64" y="4"/>
                </a:cubicBezTo>
                <a:cubicBezTo>
                  <a:pt x="66" y="4"/>
                  <a:pt x="68" y="5"/>
                  <a:pt x="68" y="7"/>
                </a:cubicBezTo>
                <a:cubicBezTo>
                  <a:pt x="68" y="21"/>
                  <a:pt x="68" y="21"/>
                  <a:pt x="68" y="21"/>
                </a:cubicBezTo>
                <a:moveTo>
                  <a:pt x="70" y="8"/>
                </a:moveTo>
                <a:cubicBezTo>
                  <a:pt x="81" y="8"/>
                  <a:pt x="81" y="8"/>
                  <a:pt x="81" y="8"/>
                </a:cubicBezTo>
                <a:cubicBezTo>
                  <a:pt x="81" y="35"/>
                  <a:pt x="81" y="35"/>
                  <a:pt x="81" y="35"/>
                </a:cubicBezTo>
                <a:cubicBezTo>
                  <a:pt x="71" y="35"/>
                  <a:pt x="71" y="35"/>
                  <a:pt x="71" y="35"/>
                </a:cubicBezTo>
                <a:cubicBezTo>
                  <a:pt x="69" y="35"/>
                  <a:pt x="68" y="34"/>
                  <a:pt x="68" y="32"/>
                </a:cubicBezTo>
                <a:cubicBezTo>
                  <a:pt x="68" y="30"/>
                  <a:pt x="68" y="30"/>
                  <a:pt x="68" y="30"/>
                </a:cubicBezTo>
                <a:cubicBezTo>
                  <a:pt x="50" y="30"/>
                  <a:pt x="50" y="30"/>
                  <a:pt x="50" y="30"/>
                </a:cubicBezTo>
                <a:moveTo>
                  <a:pt x="41" y="43"/>
                </a:moveTo>
                <a:cubicBezTo>
                  <a:pt x="41" y="0"/>
                  <a:pt x="41" y="0"/>
                  <a:pt x="41" y="0"/>
                </a:cubicBezTo>
                <a:moveTo>
                  <a:pt x="41" y="43"/>
                </a:moveTo>
                <a:cubicBezTo>
                  <a:pt x="81" y="113"/>
                  <a:pt x="81" y="113"/>
                  <a:pt x="81" y="113"/>
                </a:cubicBezTo>
                <a:cubicBezTo>
                  <a:pt x="0" y="113"/>
                  <a:pt x="0" y="113"/>
                  <a:pt x="0" y="113"/>
                </a:cubicBezTo>
                <a:lnTo>
                  <a:pt x="41" y="43"/>
                </a:lnTo>
                <a:close/>
                <a:moveTo>
                  <a:pt x="53" y="65"/>
                </a:moveTo>
                <a:cubicBezTo>
                  <a:pt x="49" y="70"/>
                  <a:pt x="49" y="70"/>
                  <a:pt x="49" y="70"/>
                </a:cubicBezTo>
                <a:cubicBezTo>
                  <a:pt x="47" y="74"/>
                  <a:pt x="47" y="74"/>
                  <a:pt x="47" y="74"/>
                </a:cubicBezTo>
                <a:cubicBezTo>
                  <a:pt x="41" y="65"/>
                  <a:pt x="41" y="65"/>
                  <a:pt x="41" y="65"/>
                </a:cubicBezTo>
                <a:cubicBezTo>
                  <a:pt x="36" y="74"/>
                  <a:pt x="36" y="74"/>
                  <a:pt x="36" y="74"/>
                </a:cubicBezTo>
                <a:cubicBezTo>
                  <a:pt x="30" y="65"/>
                  <a:pt x="30" y="65"/>
                  <a:pt x="30" y="65"/>
                </a:cubicBezTo>
              </a:path>
            </a:pathLst>
          </a:custGeom>
          <a:noFill/>
          <a:ln w="12700" cap="rnd"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dana"/>
              <a:ea typeface="Verdana"/>
              <a:cs typeface="Verdana"/>
              <a:sym typeface="Verdana"/>
            </a:endParaRPr>
          </a:p>
        </p:txBody>
      </p:sp>
      <p:cxnSp>
        <p:nvCxnSpPr>
          <p:cNvPr id="205" name="Google Shape;205;p81"/>
          <p:cNvCxnSpPr/>
          <p:nvPr/>
        </p:nvCxnSpPr>
        <p:spPr>
          <a:xfrm>
            <a:off x="3419933" y="2775049"/>
            <a:ext cx="917398" cy="0"/>
          </a:xfrm>
          <a:prstGeom prst="straightConnector1">
            <a:avLst/>
          </a:prstGeom>
          <a:noFill/>
          <a:ln w="25400" cap="flat" cmpd="sng">
            <a:solidFill>
              <a:srgbClr val="B68F4F"/>
            </a:solidFill>
            <a:prstDash val="solid"/>
            <a:miter lim="800000"/>
            <a:headEnd type="none" w="sm" len="sm"/>
            <a:tailEnd type="none" w="sm" len="sm"/>
          </a:ln>
        </p:spPr>
      </p:cxnSp>
      <p:sp>
        <p:nvSpPr>
          <p:cNvPr id="206" name="Google Shape;206;p81"/>
          <p:cNvSpPr/>
          <p:nvPr/>
        </p:nvSpPr>
        <p:spPr>
          <a:xfrm>
            <a:off x="3324425" y="2542226"/>
            <a:ext cx="1619999"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1" i="0" u="none" strike="noStrike" cap="none">
                <a:solidFill>
                  <a:schemeClr val="dk1"/>
                </a:solidFill>
                <a:latin typeface="Verdana"/>
                <a:ea typeface="Verdana"/>
                <a:cs typeface="Verdana"/>
                <a:sym typeface="Verdana"/>
              </a:rPr>
              <a:t>MISSION</a:t>
            </a:r>
            <a:endParaRPr sz="1400" b="0" i="0" u="none" strike="noStrike" cap="none">
              <a:solidFill>
                <a:srgbClr val="000000"/>
              </a:solidFill>
              <a:latin typeface="Arial"/>
              <a:ea typeface="Arial"/>
              <a:cs typeface="Arial"/>
              <a:sym typeface="Arial"/>
            </a:endParaRPr>
          </a:p>
        </p:txBody>
      </p:sp>
      <p:sp>
        <p:nvSpPr>
          <p:cNvPr id="207" name="Google Shape;207;p81"/>
          <p:cNvSpPr txBox="1">
            <a:spLocks noGrp="1"/>
          </p:cNvSpPr>
          <p:nvPr>
            <p:ph type="body" idx="7"/>
          </p:nvPr>
        </p:nvSpPr>
        <p:spPr>
          <a:xfrm>
            <a:off x="3246089" y="1462552"/>
            <a:ext cx="8471697" cy="775520"/>
          </a:xfrm>
          <a:prstGeom prst="rect">
            <a:avLst/>
          </a:prstGeom>
          <a:noFill/>
          <a:ln>
            <a:noFill/>
          </a:ln>
        </p:spPr>
        <p:txBody>
          <a:bodyPr spcFirstLastPara="1" wrap="square" lIns="91425" tIns="45700" rIns="91425" bIns="45700" anchor="t" anchorCtr="0">
            <a:noAutofit/>
          </a:bodyPr>
          <a:lstStyle>
            <a:lvl1pPr marL="457200" marR="0" lvl="0"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Merriweather Sans"/>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cxnSp>
        <p:nvCxnSpPr>
          <p:cNvPr id="208" name="Google Shape;208;p81"/>
          <p:cNvCxnSpPr/>
          <p:nvPr/>
        </p:nvCxnSpPr>
        <p:spPr>
          <a:xfrm>
            <a:off x="3417298" y="1351781"/>
            <a:ext cx="920033" cy="0"/>
          </a:xfrm>
          <a:prstGeom prst="straightConnector1">
            <a:avLst/>
          </a:prstGeom>
          <a:noFill/>
          <a:ln w="25400" cap="flat" cmpd="sng">
            <a:solidFill>
              <a:srgbClr val="B68F4F"/>
            </a:solidFill>
            <a:prstDash val="solid"/>
            <a:miter lim="800000"/>
            <a:headEnd type="none" w="sm" len="sm"/>
            <a:tailEnd type="none" w="sm" len="sm"/>
          </a:ln>
        </p:spPr>
      </p:cxnSp>
      <p:sp>
        <p:nvSpPr>
          <p:cNvPr id="209" name="Google Shape;209;p81"/>
          <p:cNvSpPr/>
          <p:nvPr/>
        </p:nvSpPr>
        <p:spPr>
          <a:xfrm>
            <a:off x="3013574" y="1144908"/>
            <a:ext cx="279288" cy="268282"/>
          </a:xfrm>
          <a:custGeom>
            <a:avLst/>
            <a:gdLst/>
            <a:ahLst/>
            <a:cxnLst/>
            <a:rect l="l" t="t" r="r" b="b"/>
            <a:pathLst>
              <a:path w="203" h="195" extrusionOk="0">
                <a:moveTo>
                  <a:pt x="75" y="85"/>
                </a:moveTo>
                <a:lnTo>
                  <a:pt x="104" y="114"/>
                </a:lnTo>
                <a:lnTo>
                  <a:pt x="187" y="33"/>
                </a:lnTo>
                <a:moveTo>
                  <a:pt x="169" y="73"/>
                </a:moveTo>
                <a:lnTo>
                  <a:pt x="203" y="76"/>
                </a:lnTo>
                <a:lnTo>
                  <a:pt x="147" y="123"/>
                </a:lnTo>
                <a:lnTo>
                  <a:pt x="164" y="195"/>
                </a:lnTo>
                <a:lnTo>
                  <a:pt x="101" y="158"/>
                </a:lnTo>
                <a:lnTo>
                  <a:pt x="38" y="195"/>
                </a:lnTo>
                <a:lnTo>
                  <a:pt x="54" y="123"/>
                </a:lnTo>
                <a:lnTo>
                  <a:pt x="0" y="76"/>
                </a:lnTo>
                <a:lnTo>
                  <a:pt x="72" y="69"/>
                </a:lnTo>
                <a:lnTo>
                  <a:pt x="101" y="0"/>
                </a:lnTo>
                <a:lnTo>
                  <a:pt x="128" y="62"/>
                </a:lnTo>
              </a:path>
            </a:pathLst>
          </a:custGeom>
          <a:noFill/>
          <a:ln w="12700" cap="rnd"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dana"/>
              <a:ea typeface="Verdana"/>
              <a:cs typeface="Verdana"/>
              <a:sym typeface="Verdana"/>
            </a:endParaRPr>
          </a:p>
        </p:txBody>
      </p:sp>
      <p:sp>
        <p:nvSpPr>
          <p:cNvPr id="210" name="Google Shape;210;p81"/>
          <p:cNvSpPr/>
          <p:nvPr/>
        </p:nvSpPr>
        <p:spPr>
          <a:xfrm>
            <a:off x="3324426" y="1122578"/>
            <a:ext cx="1619999"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1" i="0" u="none" strike="noStrike" cap="none">
                <a:solidFill>
                  <a:schemeClr val="dk1"/>
                </a:solidFill>
                <a:latin typeface="Verdana"/>
                <a:ea typeface="Verdana"/>
                <a:cs typeface="Verdana"/>
                <a:sym typeface="Verdana"/>
              </a:rPr>
              <a:t>CONTEXTE</a:t>
            </a:r>
            <a:endParaRPr sz="1400" b="0" i="0" u="none" strike="noStrike" cap="none">
              <a:solidFill>
                <a:srgbClr val="000000"/>
              </a:solidFill>
              <a:latin typeface="Arial"/>
              <a:ea typeface="Arial"/>
              <a:cs typeface="Arial"/>
              <a:sym typeface="Arial"/>
            </a:endParaRPr>
          </a:p>
        </p:txBody>
      </p:sp>
      <p:sp>
        <p:nvSpPr>
          <p:cNvPr id="211" name="Google Shape;211;p81"/>
          <p:cNvSpPr>
            <a:spLocks noGrp="1"/>
          </p:cNvSpPr>
          <p:nvPr>
            <p:ph type="pic" idx="8"/>
          </p:nvPr>
        </p:nvSpPr>
        <p:spPr>
          <a:xfrm>
            <a:off x="345714" y="4869976"/>
            <a:ext cx="1415440" cy="901827"/>
          </a:xfrm>
          <a:prstGeom prst="rect">
            <a:avLst/>
          </a:prstGeom>
          <a:solidFill>
            <a:srgbClr val="F2F2F2"/>
          </a:solidFill>
          <a:ln>
            <a:noFill/>
          </a:ln>
        </p:spPr>
        <p:txBody>
          <a:bodyPr/>
          <a:p/>
        </p:txBody>
      </p:sp>
      <p:sp>
        <p:nvSpPr>
          <p:cNvPr id="212" name="Google Shape;212;p81"/>
          <p:cNvSpPr txBox="1">
            <a:spLocks noGrp="1"/>
          </p:cNvSpPr>
          <p:nvPr>
            <p:ph type="body" idx="9"/>
          </p:nvPr>
        </p:nvSpPr>
        <p:spPr>
          <a:xfrm>
            <a:off x="159127" y="4573858"/>
            <a:ext cx="1839794" cy="20016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000"/>
              <a:buFont typeface="Noto Sans Symbols"/>
              <a:buNone/>
              <a:defRPr sz="10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213" name="Google Shape;213;p81"/>
          <p:cNvSpPr txBox="1">
            <a:spLocks noGrp="1"/>
          </p:cNvSpPr>
          <p:nvPr>
            <p:ph type="body" idx="13"/>
          </p:nvPr>
        </p:nvSpPr>
        <p:spPr>
          <a:xfrm>
            <a:off x="151340" y="3559855"/>
            <a:ext cx="2694910" cy="762513"/>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400"/>
              <a:buFont typeface="Noto Sans Symbols"/>
              <a:buNone/>
              <a:defRPr sz="14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214" name="Google Shape;214;p81"/>
          <p:cNvSpPr txBox="1">
            <a:spLocks noGrp="1"/>
          </p:cNvSpPr>
          <p:nvPr>
            <p:ph type="body" idx="14"/>
          </p:nvPr>
        </p:nvSpPr>
        <p:spPr>
          <a:xfrm>
            <a:off x="151340" y="3121804"/>
            <a:ext cx="2694910" cy="368925"/>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Noto Sans Symbols"/>
              <a:buNone/>
              <a:defRPr sz="12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215" name="Google Shape;215;p81"/>
          <p:cNvSpPr txBox="1">
            <a:spLocks noGrp="1"/>
          </p:cNvSpPr>
          <p:nvPr>
            <p:ph type="body" idx="15"/>
          </p:nvPr>
        </p:nvSpPr>
        <p:spPr>
          <a:xfrm>
            <a:off x="151340" y="2736924"/>
            <a:ext cx="2694911" cy="392500"/>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400"/>
              <a:buFont typeface="Noto Sans Symbols"/>
              <a:buNone/>
              <a:defRPr sz="1400" b="1"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216" name="Google Shape;216;p81"/>
          <p:cNvSpPr txBox="1">
            <a:spLocks noGrp="1"/>
          </p:cNvSpPr>
          <p:nvPr>
            <p:ph type="title"/>
          </p:nvPr>
        </p:nvSpPr>
        <p:spPr>
          <a:xfrm>
            <a:off x="151340" y="2184423"/>
            <a:ext cx="2694910" cy="591227"/>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1"/>
              </a:buClr>
              <a:buSzPts val="1800"/>
              <a:buFont typeface="Verdana"/>
              <a:buNone/>
              <a:defRPr sz="1800" b="1" i="0" u="none" strike="noStrike" cap="none">
                <a:solidFill>
                  <a:schemeClr val="dk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17" name="Google Shape;217;p81"/>
          <p:cNvSpPr>
            <a:spLocks noGrp="1"/>
          </p:cNvSpPr>
          <p:nvPr>
            <p:ph type="pic" idx="16"/>
          </p:nvPr>
        </p:nvSpPr>
        <p:spPr>
          <a:xfrm>
            <a:off x="151340" y="798071"/>
            <a:ext cx="936000" cy="1224000"/>
          </a:xfrm>
          <a:prstGeom prst="rect">
            <a:avLst/>
          </a:prstGeom>
          <a:solidFill>
            <a:srgbClr val="F2F2F2"/>
          </a:solidFill>
          <a:ln>
            <a:noFill/>
          </a:ln>
        </p:spPr>
        <p:txBody>
          <a:bodyPr/>
          <a:p/>
        </p:txBody>
      </p:sp>
      <p:pic>
        <p:nvPicPr>
          <p:cNvPr id="218" name="Google Shape;218;p81"/>
          <p:cNvPicPr preferRelativeResize="0"/>
          <p:nvPr/>
        </p:nvPicPr>
        <p:blipFill rotWithShape="1">
          <a:blip r:embed="rId2">
            <a:alphaModFix/>
          </a:blip>
          <a:srcRect/>
          <a:stretch/>
        </p:blipFill>
        <p:spPr>
          <a:xfrm>
            <a:off x="230621" y="259470"/>
            <a:ext cx="1347030" cy="497403"/>
          </a:xfrm>
          <a:prstGeom prst="rect">
            <a:avLst/>
          </a:prstGeom>
          <a:noFill/>
          <a:ln>
            <a:noFill/>
          </a:ln>
        </p:spPr>
      </p:pic>
      <p:sp>
        <p:nvSpPr>
          <p:cNvPr id="219" name="Google Shape;219;p81"/>
          <p:cNvSpPr/>
          <p:nvPr/>
        </p:nvSpPr>
        <p:spPr>
          <a:xfrm>
            <a:off x="3246090" y="384313"/>
            <a:ext cx="8502998" cy="63030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Verdana"/>
              <a:ea typeface="Verdana"/>
              <a:cs typeface="Verdana"/>
              <a:sym typeface="Verdana"/>
            </a:endParaRPr>
          </a:p>
        </p:txBody>
      </p:sp>
      <p:cxnSp>
        <p:nvCxnSpPr>
          <p:cNvPr id="220" name="Google Shape;220;p81"/>
          <p:cNvCxnSpPr/>
          <p:nvPr/>
        </p:nvCxnSpPr>
        <p:spPr>
          <a:xfrm>
            <a:off x="6187765" y="444253"/>
            <a:ext cx="0" cy="493392"/>
          </a:xfrm>
          <a:prstGeom prst="straightConnector1">
            <a:avLst/>
          </a:prstGeom>
          <a:noFill/>
          <a:ln w="12700" cap="flat" cmpd="sng">
            <a:solidFill>
              <a:schemeClr val="lt1"/>
            </a:solidFill>
            <a:prstDash val="solid"/>
            <a:miter lim="800000"/>
            <a:headEnd type="none" w="sm" len="sm"/>
            <a:tailEnd type="none" w="sm" len="sm"/>
          </a:ln>
        </p:spPr>
      </p:cxnSp>
      <p:sp>
        <p:nvSpPr>
          <p:cNvPr id="221" name="Google Shape;221;p81"/>
          <p:cNvSpPr/>
          <p:nvPr/>
        </p:nvSpPr>
        <p:spPr>
          <a:xfrm>
            <a:off x="3027549" y="2547333"/>
            <a:ext cx="256940" cy="288000"/>
          </a:xfrm>
          <a:custGeom>
            <a:avLst/>
            <a:gdLst/>
            <a:ahLst/>
            <a:cxnLst/>
            <a:rect l="l" t="t" r="r" b="b"/>
            <a:pathLst>
              <a:path w="100" h="113" extrusionOk="0">
                <a:moveTo>
                  <a:pt x="90" y="113"/>
                </a:moveTo>
                <a:cubicBezTo>
                  <a:pt x="100" y="113"/>
                  <a:pt x="100" y="113"/>
                  <a:pt x="100" y="113"/>
                </a:cubicBezTo>
                <a:cubicBezTo>
                  <a:pt x="72" y="65"/>
                  <a:pt x="72" y="65"/>
                  <a:pt x="72" y="65"/>
                </a:cubicBezTo>
                <a:cubicBezTo>
                  <a:pt x="68" y="72"/>
                  <a:pt x="68" y="72"/>
                  <a:pt x="68" y="72"/>
                </a:cubicBezTo>
                <a:moveTo>
                  <a:pt x="41" y="4"/>
                </a:moveTo>
                <a:cubicBezTo>
                  <a:pt x="64" y="4"/>
                  <a:pt x="64" y="4"/>
                  <a:pt x="64" y="4"/>
                </a:cubicBezTo>
                <a:cubicBezTo>
                  <a:pt x="66" y="4"/>
                  <a:pt x="68" y="5"/>
                  <a:pt x="68" y="7"/>
                </a:cubicBezTo>
                <a:cubicBezTo>
                  <a:pt x="68" y="21"/>
                  <a:pt x="68" y="21"/>
                  <a:pt x="68" y="21"/>
                </a:cubicBezTo>
                <a:moveTo>
                  <a:pt x="70" y="8"/>
                </a:moveTo>
                <a:cubicBezTo>
                  <a:pt x="81" y="8"/>
                  <a:pt x="81" y="8"/>
                  <a:pt x="81" y="8"/>
                </a:cubicBezTo>
                <a:cubicBezTo>
                  <a:pt x="81" y="35"/>
                  <a:pt x="81" y="35"/>
                  <a:pt x="81" y="35"/>
                </a:cubicBezTo>
                <a:cubicBezTo>
                  <a:pt x="71" y="35"/>
                  <a:pt x="71" y="35"/>
                  <a:pt x="71" y="35"/>
                </a:cubicBezTo>
                <a:cubicBezTo>
                  <a:pt x="69" y="35"/>
                  <a:pt x="68" y="34"/>
                  <a:pt x="68" y="32"/>
                </a:cubicBezTo>
                <a:cubicBezTo>
                  <a:pt x="68" y="30"/>
                  <a:pt x="68" y="30"/>
                  <a:pt x="68" y="30"/>
                </a:cubicBezTo>
                <a:cubicBezTo>
                  <a:pt x="50" y="30"/>
                  <a:pt x="50" y="30"/>
                  <a:pt x="50" y="30"/>
                </a:cubicBezTo>
                <a:moveTo>
                  <a:pt x="41" y="43"/>
                </a:moveTo>
                <a:cubicBezTo>
                  <a:pt x="41" y="0"/>
                  <a:pt x="41" y="0"/>
                  <a:pt x="41" y="0"/>
                </a:cubicBezTo>
                <a:moveTo>
                  <a:pt x="41" y="43"/>
                </a:moveTo>
                <a:cubicBezTo>
                  <a:pt x="81" y="113"/>
                  <a:pt x="81" y="113"/>
                  <a:pt x="81" y="113"/>
                </a:cubicBezTo>
                <a:cubicBezTo>
                  <a:pt x="0" y="113"/>
                  <a:pt x="0" y="113"/>
                  <a:pt x="0" y="113"/>
                </a:cubicBezTo>
                <a:lnTo>
                  <a:pt x="41" y="43"/>
                </a:lnTo>
                <a:close/>
                <a:moveTo>
                  <a:pt x="53" y="65"/>
                </a:moveTo>
                <a:cubicBezTo>
                  <a:pt x="49" y="70"/>
                  <a:pt x="49" y="70"/>
                  <a:pt x="49" y="70"/>
                </a:cubicBezTo>
                <a:cubicBezTo>
                  <a:pt x="47" y="74"/>
                  <a:pt x="47" y="74"/>
                  <a:pt x="47" y="74"/>
                </a:cubicBezTo>
                <a:cubicBezTo>
                  <a:pt x="41" y="65"/>
                  <a:pt x="41" y="65"/>
                  <a:pt x="41" y="65"/>
                </a:cubicBezTo>
                <a:cubicBezTo>
                  <a:pt x="36" y="74"/>
                  <a:pt x="36" y="74"/>
                  <a:pt x="36" y="74"/>
                </a:cubicBezTo>
                <a:cubicBezTo>
                  <a:pt x="30" y="65"/>
                  <a:pt x="30" y="65"/>
                  <a:pt x="30" y="65"/>
                </a:cubicBezTo>
              </a:path>
            </a:pathLst>
          </a:custGeom>
          <a:noFill/>
          <a:ln w="12700" cap="rnd"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dana"/>
              <a:ea typeface="Verdana"/>
              <a:cs typeface="Verdana"/>
              <a:sym typeface="Verdana"/>
            </a:endParaRPr>
          </a:p>
        </p:txBody>
      </p:sp>
      <p:cxnSp>
        <p:nvCxnSpPr>
          <p:cNvPr id="222" name="Google Shape;222;p81"/>
          <p:cNvCxnSpPr/>
          <p:nvPr/>
        </p:nvCxnSpPr>
        <p:spPr>
          <a:xfrm>
            <a:off x="3419933" y="2775049"/>
            <a:ext cx="917398" cy="0"/>
          </a:xfrm>
          <a:prstGeom prst="straightConnector1">
            <a:avLst/>
          </a:prstGeom>
          <a:noFill/>
          <a:ln w="25400" cap="flat" cmpd="sng">
            <a:solidFill>
              <a:srgbClr val="B68F4F"/>
            </a:solidFill>
            <a:prstDash val="solid"/>
            <a:miter lim="800000"/>
            <a:headEnd type="none" w="sm" len="sm"/>
            <a:tailEnd type="none" w="sm" len="sm"/>
          </a:ln>
        </p:spPr>
      </p:cxnSp>
      <p:cxnSp>
        <p:nvCxnSpPr>
          <p:cNvPr id="223" name="Google Shape;223;p81"/>
          <p:cNvCxnSpPr/>
          <p:nvPr/>
        </p:nvCxnSpPr>
        <p:spPr>
          <a:xfrm>
            <a:off x="3417298" y="1351781"/>
            <a:ext cx="920033" cy="0"/>
          </a:xfrm>
          <a:prstGeom prst="straightConnector1">
            <a:avLst/>
          </a:prstGeom>
          <a:noFill/>
          <a:ln w="25400" cap="flat" cmpd="sng">
            <a:solidFill>
              <a:srgbClr val="B68F4F"/>
            </a:solidFill>
            <a:prstDash val="solid"/>
            <a:miter lim="800000"/>
            <a:headEnd type="none" w="sm" len="sm"/>
            <a:tailEnd type="none" w="sm" len="sm"/>
          </a:ln>
        </p:spPr>
      </p:cxnSp>
      <p:sp>
        <p:nvSpPr>
          <p:cNvPr id="224" name="Google Shape;224;p81"/>
          <p:cNvSpPr/>
          <p:nvPr/>
        </p:nvSpPr>
        <p:spPr>
          <a:xfrm>
            <a:off x="3013574" y="1144908"/>
            <a:ext cx="279288" cy="268282"/>
          </a:xfrm>
          <a:custGeom>
            <a:avLst/>
            <a:gdLst/>
            <a:ahLst/>
            <a:cxnLst/>
            <a:rect l="l" t="t" r="r" b="b"/>
            <a:pathLst>
              <a:path w="203" h="195" extrusionOk="0">
                <a:moveTo>
                  <a:pt x="75" y="85"/>
                </a:moveTo>
                <a:lnTo>
                  <a:pt x="104" y="114"/>
                </a:lnTo>
                <a:lnTo>
                  <a:pt x="187" y="33"/>
                </a:lnTo>
                <a:moveTo>
                  <a:pt x="169" y="73"/>
                </a:moveTo>
                <a:lnTo>
                  <a:pt x="203" y="76"/>
                </a:lnTo>
                <a:lnTo>
                  <a:pt x="147" y="123"/>
                </a:lnTo>
                <a:lnTo>
                  <a:pt x="164" y="195"/>
                </a:lnTo>
                <a:lnTo>
                  <a:pt x="101" y="158"/>
                </a:lnTo>
                <a:lnTo>
                  <a:pt x="38" y="195"/>
                </a:lnTo>
                <a:lnTo>
                  <a:pt x="54" y="123"/>
                </a:lnTo>
                <a:lnTo>
                  <a:pt x="0" y="76"/>
                </a:lnTo>
                <a:lnTo>
                  <a:pt x="72" y="69"/>
                </a:lnTo>
                <a:lnTo>
                  <a:pt x="101" y="0"/>
                </a:lnTo>
                <a:lnTo>
                  <a:pt x="128" y="62"/>
                </a:lnTo>
              </a:path>
            </a:pathLst>
          </a:custGeom>
          <a:noFill/>
          <a:ln w="12700" cap="rnd"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dana"/>
              <a:ea typeface="Verdana"/>
              <a:cs typeface="Verdana"/>
              <a:sym typeface="Verdana"/>
            </a:endParaRPr>
          </a:p>
        </p:txBody>
      </p:sp>
      <p:pic>
        <p:nvPicPr>
          <p:cNvPr id="225" name="Google Shape;225;p81"/>
          <p:cNvPicPr preferRelativeResize="0"/>
          <p:nvPr/>
        </p:nvPicPr>
        <p:blipFill rotWithShape="1">
          <a:blip r:embed="rId2">
            <a:alphaModFix/>
          </a:blip>
          <a:srcRect/>
          <a:stretch/>
        </p:blipFill>
        <p:spPr>
          <a:xfrm>
            <a:off x="230621" y="259470"/>
            <a:ext cx="1347030" cy="497403"/>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60"/>
          <p:cNvPicPr preferRelativeResize="0"/>
          <p:nvPr/>
        </p:nvPicPr>
        <p:blipFill rotWithShape="1">
          <a:blip r:embed="rId9">
            <a:alphaModFix/>
          </a:blip>
          <a:srcRect/>
          <a:stretch/>
        </p:blipFill>
        <p:spPr>
          <a:xfrm>
            <a:off x="626267" y="6215145"/>
            <a:ext cx="342900" cy="342900"/>
          </a:xfrm>
          <a:prstGeom prst="rect">
            <a:avLst/>
          </a:prstGeom>
          <a:noFill/>
          <a:ln>
            <a:noFill/>
          </a:ln>
        </p:spPr>
      </p:pic>
      <p:sp>
        <p:nvSpPr>
          <p:cNvPr id="11" name="Google Shape;11;p60"/>
          <p:cNvSpPr txBox="1"/>
          <p:nvPr/>
        </p:nvSpPr>
        <p:spPr>
          <a:xfrm>
            <a:off x="10274267" y="6434934"/>
            <a:ext cx="792000" cy="123111"/>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600"/>
              <a:buFont typeface="Arial"/>
              <a:buNone/>
            </a:pPr>
            <a:r>
              <a:rPr lang="fr-FR" sz="600" b="0" i="0" u="none" strike="noStrike" cap="none">
                <a:solidFill>
                  <a:schemeClr val="dk1"/>
                </a:solidFill>
                <a:latin typeface="Verdana"/>
                <a:ea typeface="Verdana"/>
                <a:cs typeface="Verdana"/>
                <a:sym typeface="Verdana"/>
              </a:rPr>
              <a:t>03/07/2026</a:t>
            </a:r>
            <a:endParaRPr sz="600" b="0" i="0" u="none" strike="noStrike" cap="none">
              <a:solidFill>
                <a:schemeClr val="dk1"/>
              </a:solidFill>
              <a:latin typeface="Verdana"/>
              <a:ea typeface="Verdana"/>
              <a:cs typeface="Verdana"/>
              <a:sym typeface="Verdana"/>
            </a:endParaRPr>
          </a:p>
        </p:txBody>
      </p:sp>
      <p:sp>
        <p:nvSpPr>
          <p:cNvPr id="12" name="Google Shape;12;p60"/>
          <p:cNvSpPr txBox="1"/>
          <p:nvPr/>
        </p:nvSpPr>
        <p:spPr>
          <a:xfrm>
            <a:off x="11066267" y="6430994"/>
            <a:ext cx="540000" cy="127051"/>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600"/>
              <a:buFont typeface="Arial"/>
              <a:buNone/>
            </a:pPr>
            <a:fld id="{00000000-1234-1234-1234-123412341234}" type="slidenum">
              <a:rPr lang="fr-FR" sz="600" b="0" i="0" u="none" strike="noStrike" cap="none">
                <a:solidFill>
                  <a:schemeClr val="dk1"/>
                </a:solidFill>
                <a:latin typeface="Verdana"/>
                <a:ea typeface="Verdana"/>
                <a:cs typeface="Verdana"/>
                <a:sym typeface="Verdana"/>
              </a:rPr>
              <a:t>‹N°›</a:t>
            </a:fld>
            <a:endParaRPr sz="600" b="0" i="0" u="none" strike="noStrike" cap="none">
              <a:solidFill>
                <a:schemeClr val="dk1"/>
              </a:solidFill>
              <a:latin typeface="Verdana"/>
              <a:ea typeface="Verdana"/>
              <a:cs typeface="Verdana"/>
              <a:sym typeface="Verdana"/>
            </a:endParaRPr>
          </a:p>
        </p:txBody>
      </p:sp>
      <p:pic>
        <p:nvPicPr>
          <p:cNvPr id="13" name="Google Shape;13;p60"/>
          <p:cNvPicPr preferRelativeResize="0"/>
          <p:nvPr/>
        </p:nvPicPr>
        <p:blipFill rotWithShape="1">
          <a:blip r:embed="rId9">
            <a:alphaModFix/>
          </a:blip>
          <a:srcRect/>
          <a:stretch/>
        </p:blipFill>
        <p:spPr>
          <a:xfrm>
            <a:off x="626267" y="6215145"/>
            <a:ext cx="342900" cy="342900"/>
          </a:xfrm>
          <a:prstGeom prst="rect">
            <a:avLst/>
          </a:prstGeom>
          <a:noFill/>
          <a:ln>
            <a:noFill/>
          </a:ln>
        </p:spPr>
      </p:pic>
      <p:sp>
        <p:nvSpPr>
          <p:cNvPr id="14" name="Google Shape;14;p60"/>
          <p:cNvSpPr txBox="1"/>
          <p:nvPr/>
        </p:nvSpPr>
        <p:spPr>
          <a:xfrm>
            <a:off x="10274267" y="6434934"/>
            <a:ext cx="792000" cy="123111"/>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600"/>
              <a:buFont typeface="Arial"/>
              <a:buNone/>
            </a:pPr>
            <a:r>
              <a:rPr lang="fr-FR" sz="600" b="0" i="0" u="none" strike="noStrike" cap="none" dirty="0">
                <a:solidFill>
                  <a:schemeClr val="dk1"/>
                </a:solidFill>
                <a:latin typeface="Verdana"/>
                <a:ea typeface="Verdana"/>
                <a:cs typeface="Verdana"/>
                <a:sym typeface="Verdana"/>
              </a:rPr>
              <a:t>03/07/2026</a:t>
            </a:r>
            <a:endParaRPr sz="600" b="0" i="0" u="none" strike="noStrike" cap="none" dirty="0">
              <a:solidFill>
                <a:schemeClr val="dk1"/>
              </a:solidFill>
              <a:latin typeface="Verdana"/>
              <a:ea typeface="Verdana"/>
              <a:cs typeface="Verdana"/>
              <a:sym typeface="Verdana"/>
            </a:endParaRPr>
          </a:p>
        </p:txBody>
      </p:sp>
      <p:sp>
        <p:nvSpPr>
          <p:cNvPr id="15" name="Google Shape;15;p60"/>
          <p:cNvSpPr txBox="1"/>
          <p:nvPr/>
        </p:nvSpPr>
        <p:spPr>
          <a:xfrm>
            <a:off x="11066267" y="6430994"/>
            <a:ext cx="540000" cy="127051"/>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600"/>
              <a:buFont typeface="Arial"/>
              <a:buNone/>
            </a:pPr>
            <a:fld id="{00000000-1234-1234-1234-123412341234}" type="slidenum">
              <a:rPr lang="fr-FR" sz="600" b="0" i="0" u="none" strike="noStrike" cap="none">
                <a:solidFill>
                  <a:schemeClr val="dk1"/>
                </a:solidFill>
                <a:latin typeface="Verdana"/>
                <a:ea typeface="Verdana"/>
                <a:cs typeface="Verdana"/>
                <a:sym typeface="Verdana"/>
              </a:rPr>
              <a:t>‹N°›</a:t>
            </a:fld>
            <a:endParaRPr sz="600" b="0" i="0" u="none" strike="noStrike" cap="none">
              <a:solidFill>
                <a:schemeClr val="dk1"/>
              </a:solidFill>
              <a:latin typeface="Verdana"/>
              <a:ea typeface="Verdana"/>
              <a:cs typeface="Verdana"/>
              <a:sym typeface="Verdana"/>
            </a:endParaRPr>
          </a:p>
        </p:txBody>
      </p:sp>
    </p:spTree>
  </p:cSld>
  <p:clrMap bg1="lt1" tx1="dk1" bg2="dk2" tx2="lt2" accent1="accent1" accent2="accent2" accent3="accent3" accent4="accent4" accent5="accent5" accent6="accent6" hlink="hlink" folHlink="folHlink"/>
  <p:sldLayoutIdLst>
    <p:sldLayoutId id="2147483651" r:id="rId1"/>
    <p:sldLayoutId id="2147483655" r:id="rId2"/>
    <p:sldLayoutId id="2147483659" r:id="rId3"/>
    <p:sldLayoutId id="2147483660" r:id="rId4"/>
    <p:sldLayoutId id="2147483661" r:id="rId5"/>
    <p:sldLayoutId id="2147483662" r:id="rId6"/>
    <p:sldLayoutId id="2147483663"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11.png"/><Relationship Id="rId5"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4.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6.png"/><Relationship Id="rId4" Type="http://schemas.openxmlformats.org/officeDocument/2006/relationships/image" Target="../media/image17.png"/><Relationship Id="rId5"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21.png"/><Relationship Id="rId4" Type="http://schemas.openxmlformats.org/officeDocument/2006/relationships/image" Target="../media/image6.png"/><Relationship Id="rId5"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26.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27.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image" Target="../media/image6.png"/><Relationship Id="rId4" Type="http://schemas.openxmlformats.org/officeDocument/2006/relationships/image" Target="../media/image29.png"/><Relationship Id="rId5"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image" Target="../media/image7.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29.png"/><Relationship Id="rId5"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6.png"/><Relationship Id="rId4" Type="http://schemas.openxmlformats.org/officeDocument/2006/relationships/image" Target="../media/image21.png"/><Relationship Id="rId5"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20.png"/><Relationship Id="rId4" Type="http://schemas.openxmlformats.org/officeDocument/2006/relationships/image" Target="../media/image1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lgn="just" indent="0" marL="0">
              <a:lnSpc>
                <a:spcPct val="105000"/>
              </a:lnSpc>
            </a:pPr>
            <a:r>
              <a:rPr sz="950" b="0" i="0">
                <a:solidFill>
                  <a:srgbClr val="404041"/>
                </a:solidFill>
                <a:latin typeface="Verdana"/>
              </a:rPr>
              <a:t>Square Management est intervenu en tant que Pilote Programme Stratégique - Paiements 2030 auprès de BNP PARIBAS, au sein de Cards &amp; Innovative Payments [CIP]. Le rôle de Square Management incluait l'analyse de services à valeur ajoutée, comme l'IA, pour augmenter l'attractivité des paiements Wero et sécuriser le Produit Net Bancaire (PNB).</a:t>
            </a:r>
          </a:p>
        </p:txBody>
      </p:sp>
      <p:sp>
        <p:nvSpPr>
          <p:cNvPr id="3" name="Text Placeholder 2"/>
          <p:cNvSpPr>
            <a:spLocks noGrp="1"/>
          </p:cNvSpPr>
          <p:nvPr>
            <p:ph type="body" idx="2"/>
          </p:nvPr>
        </p:nvSpPr>
        <p:spPr/>
        <p:txBody>
          <a:bodyPr wrap="square"/>
          <a:lstStyle/>
          <a:p>
            <a:pPr algn="ctr" indent="0" marL="0"/>
            <a:r>
              <a:rPr sz="900" b="1" i="0">
                <a:solidFill>
                  <a:srgbClr val="1A1A1A"/>
                </a:solidFill>
                <a:latin typeface="Verdana"/>
              </a:rPr>
              <a:t>CARDS &amp; INNOVATIVE PAYMENTS [CIP], </a:t>
            </a:r>
            <a:r>
              <a:rPr sz="900" b="0" i="1">
                <a:solidFill>
                  <a:srgbClr val="1A1A1A"/>
                </a:solidFill>
                <a:latin typeface="Verdana"/>
              </a:rPr>
              <a:t>PILOTE PROGRAMME STRATÉGIQUE - PAIEMENTS 2030</a:t>
            </a:r>
          </a:p>
        </p:txBody>
      </p:sp>
      <p:sp>
        <p:nvSpPr>
          <p:cNvPr id="4" name="Text Placeholder 3"/>
          <p:cNvSpPr>
            <a:spLocks noGrp="1"/>
          </p:cNvSpPr>
          <p:nvPr>
            <p:ph type="body" idx="3"/>
          </p:nvPr>
        </p:nvSpPr>
        <p:spPr/>
        <p:txBody>
          <a:bodyPr wrap="square"/>
          <a:lstStyle/>
          <a:p>
            <a:pPr algn="just" indent="0" marL="0">
              <a:lnSpc>
                <a:spcPct val="105000"/>
              </a:lnSpc>
            </a:pPr>
            <a:r>
              <a:rPr sz="950" b="0" i="0">
                <a:solidFill>
                  <a:srgbClr val="404041"/>
                </a:solidFill>
                <a:latin typeface="Verdana"/>
              </a:rPr>
              <a:t>Square Management est intervenu en tant que Chef de projet digital auprès de SNCF. Dans le cadre de cette mission, le consultant a également encadré le chantier d'introduction de l'Intelligence Artificielle pour le service clients, en phase avec la stratégie de personnalisation de l'offre pour le public local.</a:t>
            </a:r>
          </a:p>
        </p:txBody>
      </p:sp>
      <p:sp>
        <p:nvSpPr>
          <p:cNvPr id="5" name="Text Placeholder 4"/>
          <p:cNvSpPr>
            <a:spLocks noGrp="1"/>
          </p:cNvSpPr>
          <p:nvPr>
            <p:ph type="body" idx="4"/>
          </p:nvPr>
        </p:nvSpPr>
        <p:spPr/>
        <p:txBody>
          <a:bodyPr wrap="square"/>
          <a:lstStyle/>
          <a:p>
            <a:pPr algn="ctr" indent="0" marL="0"/>
            <a:r>
              <a:rPr sz="900" b="1" i="0">
                <a:solidFill>
                  <a:srgbClr val="1A1A1A"/>
                </a:solidFill>
                <a:latin typeface="Verdana"/>
              </a:rPr>
              <a:t>DIRECTION EUROPÉENNE ET DU DÉVELOPPEMENT INTERNATIONAL, </a:t>
            </a:r>
            <a:r>
              <a:rPr sz="900" b="0" i="1">
                <a:solidFill>
                  <a:srgbClr val="1A1A1A"/>
                </a:solidFill>
                <a:latin typeface="Verdana"/>
              </a:rPr>
              <a:t>CHEF DE PROJET DIGITAL</a:t>
            </a:r>
          </a:p>
        </p:txBody>
      </p:sp>
      <p:sp>
        <p:nvSpPr>
          <p:cNvPr id="6" name="Text Placeholder 5"/>
          <p:cNvSpPr>
            <a:spLocks noGrp="1"/>
          </p:cNvSpPr>
          <p:nvPr>
            <p:ph type="body" idx="5"/>
          </p:nvPr>
        </p:nvSpPr>
        <p:spPr/>
        <p:txBody>
          <a:bodyPr wrap="square"/>
          <a:lstStyle/>
          <a:p>
            <a:pPr algn="just" indent="0" marL="0">
              <a:lnSpc>
                <a:spcPct val="105000"/>
              </a:lnSpc>
            </a:pPr>
            <a:r>
              <a:rPr sz="950" b="0" i="0">
                <a:solidFill>
                  <a:srgbClr val="404041"/>
                </a:solidFill>
                <a:latin typeface="Verdana"/>
              </a:rPr>
              <a:t>Square Management est intervenu en tant que Senior Advisor chez BNPP BCEF (Card &amp; Innovative Payments) pour une étude stratégique sur le positionnement des moyens de paiement à horizon 2030, notamment avec le lancement de Wero (EPI). Le rôle comprenait l'analyse de la structure PNB et l'élaboration de modèles de simulation pour divers scénarios de paiement.</a:t>
            </a:r>
          </a:p>
        </p:txBody>
      </p:sp>
      <p:sp>
        <p:nvSpPr>
          <p:cNvPr id="7" name="Text Placeholder 6"/>
          <p:cNvSpPr>
            <a:spLocks noGrp="1"/>
          </p:cNvSpPr>
          <p:nvPr>
            <p:ph type="body" idx="6"/>
          </p:nvPr>
        </p:nvSpPr>
        <p:spPr/>
        <p:txBody>
          <a:bodyPr wrap="square"/>
          <a:lstStyle/>
          <a:p>
            <a:pPr algn="ctr" indent="0" marL="0"/>
            <a:r>
              <a:rPr sz="1100" b="1" i="0">
                <a:solidFill>
                  <a:srgbClr val="1A1A1A"/>
                </a:solidFill>
                <a:latin typeface="Verdana"/>
              </a:rPr>
              <a:t>CARD &amp; INNOVATIVE PAYMENTS, </a:t>
            </a:r>
            <a:r>
              <a:rPr sz="1100" b="0" i="1">
                <a:solidFill>
                  <a:srgbClr val="1A1A1A"/>
                </a:solidFill>
                <a:latin typeface="Verdana"/>
              </a:rPr>
              <a:t>SENIOR ADVISOR</a:t>
            </a:r>
          </a:p>
        </p:txBody>
      </p:sp>
      <p:sp>
        <p:nvSpPr>
          <p:cNvPr id="8" name="Text Placeholder 7"/>
          <p:cNvSpPr>
            <a:spLocks noGrp="1"/>
          </p:cNvSpPr>
          <p:nvPr>
            <p:ph type="body" idx="7"/>
          </p:nvPr>
        </p:nvSpPr>
        <p:spPr/>
        <p:txBody>
          <a:bodyPr wrap="square"/>
          <a:lstStyle/>
          <a:p>
            <a:pPr algn="just" indent="0" marL="0">
              <a:lnSpc>
                <a:spcPct val="105000"/>
              </a:lnSpc>
            </a:pPr>
            <a:r>
              <a:rPr sz="950" b="0" i="0">
                <a:solidFill>
                  <a:srgbClr val="404041"/>
                </a:solidFill>
                <a:latin typeface="Verdana"/>
              </a:rPr>
              <a:t>Square Management est intervenu en tant que Proxi Product Owner au sein de la Direction du Digital de SOCIETE GENERALE. Le rôle comprenait la collecte des besoins métiers, la traduction en fonctionnalités, et la coordination des équipes pour superviser les phases de déploiement de cet outil d'IA.</a:t>
            </a:r>
          </a:p>
        </p:txBody>
      </p:sp>
      <p:sp>
        <p:nvSpPr>
          <p:cNvPr id="9" name="Text Placeholder 8"/>
          <p:cNvSpPr>
            <a:spLocks noGrp="1"/>
          </p:cNvSpPr>
          <p:nvPr>
            <p:ph type="body" idx="8"/>
          </p:nvPr>
        </p:nvSpPr>
        <p:spPr/>
        <p:txBody>
          <a:bodyPr wrap="square"/>
          <a:lstStyle/>
          <a:p>
            <a:pPr algn="ctr" indent="0" marL="0"/>
            <a:r>
              <a:rPr sz="1100" b="1" i="0">
                <a:solidFill>
                  <a:srgbClr val="1A1A1A"/>
                </a:solidFill>
                <a:latin typeface="Verdana"/>
              </a:rPr>
              <a:t>DIRECTION DU DIGITAL, </a:t>
            </a:r>
            <a:r>
              <a:rPr sz="1100" b="0" i="1">
                <a:solidFill>
                  <a:srgbClr val="1A1A1A"/>
                </a:solidFill>
                <a:latin typeface="Verdana"/>
              </a:rPr>
              <a:t>PROXI PRODUCT OWNER</a:t>
            </a:r>
          </a:p>
        </p:txBody>
      </p:sp>
      <p:sp>
        <p:nvSpPr>
          <p:cNvPr id="14" name="Title 13"/>
          <p:cNvSpPr>
            <a:spLocks noGrp="1"/>
          </p:cNvSpPr>
          <p:nvPr>
            <p:ph type="title"/>
          </p:nvPr>
        </p:nvSpPr>
        <p:spPr/>
        <p:txBody>
          <a:bodyPr/>
          <a:lstStyle/>
          <a:p>
            <a:r>
              <a:t>Références IA : Front Office (1/4)</a:t>
            </a:r>
          </a:p>
        </p:txBody>
      </p:sp>
      <p:pic>
        <p:nvPicPr>
          <p:cNvPr id="15" name="Picture 14" descr="bnp_paribas.png"/>
          <p:cNvPicPr>
            <a:picLocks noChangeAspect="1"/>
          </p:cNvPicPr>
          <p:nvPr/>
        </p:nvPicPr>
        <p:blipFill>
          <a:blip r:embed="rId2"/>
          <a:stretch>
            <a:fillRect/>
          </a:stretch>
        </p:blipFill>
        <p:spPr>
          <a:xfrm>
            <a:off x="1855624" y="1313656"/>
            <a:ext cx="2289652" cy="728176"/>
          </a:xfrm>
          <a:prstGeom prst="rect">
            <a:avLst/>
          </a:prstGeom>
        </p:spPr>
      </p:pic>
      <p:pic>
        <p:nvPicPr>
          <p:cNvPr id="16" name="Picture 15" descr="bnp_paribas.png"/>
          <p:cNvPicPr>
            <a:picLocks noChangeAspect="1"/>
          </p:cNvPicPr>
          <p:nvPr/>
        </p:nvPicPr>
        <p:blipFill>
          <a:blip r:embed="rId2"/>
          <a:stretch>
            <a:fillRect/>
          </a:stretch>
        </p:blipFill>
        <p:spPr>
          <a:xfrm>
            <a:off x="7733188" y="1313656"/>
            <a:ext cx="2289652" cy="728176"/>
          </a:xfrm>
          <a:prstGeom prst="rect">
            <a:avLst/>
          </a:prstGeom>
        </p:spPr>
      </p:pic>
      <p:pic>
        <p:nvPicPr>
          <p:cNvPr id="17" name="Picture 16" descr="sncf.png"/>
          <p:cNvPicPr>
            <a:picLocks noChangeAspect="1"/>
          </p:cNvPicPr>
          <p:nvPr/>
        </p:nvPicPr>
        <p:blipFill>
          <a:blip r:embed="rId3"/>
          <a:stretch>
            <a:fillRect/>
          </a:stretch>
        </p:blipFill>
        <p:spPr>
          <a:xfrm>
            <a:off x="2516813" y="3987487"/>
            <a:ext cx="967274" cy="804569"/>
          </a:xfrm>
          <a:prstGeom prst="rect">
            <a:avLst/>
          </a:prstGeom>
        </p:spPr>
      </p:pic>
      <p:pic>
        <p:nvPicPr>
          <p:cNvPr id="18" name="Picture 17" descr="societe_generale.png"/>
          <p:cNvPicPr>
            <a:picLocks noChangeAspect="1"/>
          </p:cNvPicPr>
          <p:nvPr/>
        </p:nvPicPr>
        <p:blipFill>
          <a:blip r:embed="rId4"/>
          <a:stretch>
            <a:fillRect/>
          </a:stretch>
        </p:blipFill>
        <p:spPr>
          <a:xfrm>
            <a:off x="7733188" y="4128608"/>
            <a:ext cx="2289652" cy="522326"/>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lgn="just" indent="0" marL="0">
              <a:lnSpc>
                <a:spcPct val="105000"/>
              </a:lnSpc>
            </a:pPr>
            <a:r>
              <a:rPr sz="950" b="0" i="0">
                <a:solidFill>
                  <a:srgbClr val="404041"/>
                </a:solidFill>
                <a:latin typeface="Verdana"/>
              </a:rPr>
              <a:t>Square Management est intervenu en tant que Product Owner chez SOCIETE GENERALE (BDDF/DRO/DGT/POW) sur l'outil "SG Agenda" de prise de rendez-vous en ligne. Le rôle de Square Management comprenait le partage de connaissances avec l'équipe IA Générative. L'objectif IA était d'ouvrir, à terme, la prise de rendez-vous via chatbot/callbot pour s'intégrer dans les interactions client omnicanal.</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BDDF/DRO/DGT/POW, </a:t>
            </a:r>
            <a:r>
              <a:rPr sz="1100" b="0" i="1">
                <a:solidFill>
                  <a:srgbClr val="1A1A1A"/>
                </a:solidFill>
                <a:latin typeface="Verdana"/>
              </a:rPr>
              <a:t>PRODUCT OWNER</a:t>
            </a:r>
          </a:p>
        </p:txBody>
      </p:sp>
      <p:sp>
        <p:nvSpPr>
          <p:cNvPr id="4" name="Text Placeholder 3"/>
          <p:cNvSpPr>
            <a:spLocks noGrp="1"/>
          </p:cNvSpPr>
          <p:nvPr>
            <p:ph type="body" idx="3"/>
          </p:nvPr>
        </p:nvSpPr>
        <p:spPr/>
        <p:txBody>
          <a:bodyPr wrap="square"/>
          <a:lstStyle/>
          <a:p>
            <a:pPr algn="just" indent="0" marL="0">
              <a:lnSpc>
                <a:spcPct val="105000"/>
              </a:lnSpc>
            </a:pPr>
            <a:r>
              <a:rPr sz="950" b="0" i="0">
                <a:solidFill>
                  <a:srgbClr val="404041"/>
                </a:solidFill>
                <a:latin typeface="Verdana"/>
              </a:rPr>
              <a:t>Square Management est intervenu en tant que Chef de projet digital &amp; innovations au sein de la direction Digitale de MOET HENNESSY - Estates &amp; Wines, visant à développer le CRM et les. Le rôle a inclus la contribution au déploiement d’une IA sommelière (présentée à Vivatech) dans le cadre des projets d'innovation.</a:t>
            </a:r>
          </a:p>
        </p:txBody>
      </p:sp>
      <p:sp>
        <p:nvSpPr>
          <p:cNvPr id="5" name="Text Placeholder 4"/>
          <p:cNvSpPr>
            <a:spLocks noGrp="1"/>
          </p:cNvSpPr>
          <p:nvPr>
            <p:ph type="body" idx="4"/>
          </p:nvPr>
        </p:nvSpPr>
        <p:spPr/>
        <p:txBody>
          <a:bodyPr wrap="square"/>
          <a:lstStyle/>
          <a:p>
            <a:pPr algn="ctr" indent="0" marL="0"/>
            <a:r>
              <a:rPr sz="1000" b="1" i="0">
                <a:solidFill>
                  <a:srgbClr val="1A1A1A"/>
                </a:solidFill>
                <a:latin typeface="Verdana"/>
              </a:rPr>
              <a:t>ESTATES &amp; WINES - DIGITAL TEAM, </a:t>
            </a:r>
            <a:r>
              <a:rPr sz="1000" b="0" i="1">
                <a:solidFill>
                  <a:srgbClr val="1A1A1A"/>
                </a:solidFill>
                <a:latin typeface="Verdana"/>
              </a:rPr>
              <a:t>CHEF DE PROJET DIGITAL &amp; INNOVATIONS</a:t>
            </a:r>
          </a:p>
        </p:txBody>
      </p:sp>
      <p:sp>
        <p:nvSpPr>
          <p:cNvPr id="6" name="Text Placeholder 5"/>
          <p:cNvSpPr>
            <a:spLocks noGrp="1"/>
          </p:cNvSpPr>
          <p:nvPr>
            <p:ph type="body" idx="5"/>
          </p:nvPr>
        </p:nvSpPr>
        <p:spPr/>
        <p:txBody>
          <a:bodyPr wrap="square"/>
          <a:lstStyle/>
          <a:p>
            <a:pPr algn="just" indent="0" marL="0">
              <a:lnSpc>
                <a:spcPct val="105000"/>
              </a:lnSpc>
            </a:pPr>
            <a:r>
              <a:rPr sz="950" b="0" i="0">
                <a:solidFill>
                  <a:srgbClr val="404041"/>
                </a:solidFill>
                <a:latin typeface="Verdana"/>
              </a:rPr>
              <a:t>Square Management est intervenu en tant que Chargée de projet digital au sein de la Direction Innovation et expérience client de LA POSTE pour la digitalisation des parcours de vente B2B. Le rôle incluait l'accompagnement sur le chantier IA, visant à intégrer l'Intelligence Artificielle dans les tunnels de vente pour un ciblage automatisé et optimisé des offres.</a:t>
            </a:r>
          </a:p>
        </p:txBody>
      </p:sp>
      <p:sp>
        <p:nvSpPr>
          <p:cNvPr id="7" name="Text Placeholder 6"/>
          <p:cNvSpPr>
            <a:spLocks noGrp="1"/>
          </p:cNvSpPr>
          <p:nvPr>
            <p:ph type="body" idx="6"/>
          </p:nvPr>
        </p:nvSpPr>
        <p:spPr/>
        <p:txBody>
          <a:bodyPr wrap="square"/>
          <a:lstStyle/>
          <a:p>
            <a:pPr algn="ctr" indent="0" marL="0"/>
            <a:r>
              <a:rPr sz="1000" b="1" i="0">
                <a:solidFill>
                  <a:srgbClr val="1A1A1A"/>
                </a:solidFill>
                <a:latin typeface="Verdana"/>
              </a:rPr>
              <a:t>INNOVATION ET EXPÉRIENCE CLIENT, </a:t>
            </a:r>
            <a:r>
              <a:rPr sz="1000" b="0" i="1">
                <a:solidFill>
                  <a:srgbClr val="1A1A1A"/>
                </a:solidFill>
                <a:latin typeface="Verdana"/>
              </a:rPr>
              <a:t>CHARGÉE DE PROJET DIGITAL</a:t>
            </a:r>
          </a:p>
        </p:txBody>
      </p:sp>
      <p:sp>
        <p:nvSpPr>
          <p:cNvPr id="8" name="Text Placeholder 7"/>
          <p:cNvSpPr>
            <a:spLocks noGrp="1"/>
          </p:cNvSpPr>
          <p:nvPr>
            <p:ph type="body" idx="7"/>
          </p:nvPr>
        </p:nvSpPr>
        <p:spPr/>
        <p:txBody>
          <a:bodyPr wrap="square"/>
          <a:lstStyle/>
          <a:p>
            <a:pPr algn="just" indent="0" marL="0">
              <a:lnSpc>
                <a:spcPct val="105000"/>
              </a:lnSpc>
            </a:pPr>
            <a:r>
              <a:rPr sz="950" b="0" i="0">
                <a:solidFill>
                  <a:srgbClr val="404041"/>
                </a:solidFill>
                <a:latin typeface="Verdana"/>
              </a:rPr>
              <a:t>Square Management est intervenu en tant que Product Manager au sein de la Direction digitale de la SG pour piloter l'intégration stratégique d'une IA dans l'App SG, visant les particuliers. Square Management a assuré le suivi complet du cycle de développement Agile (ateliers, sprints, tests utilisateurs).</a:t>
            </a:r>
          </a:p>
        </p:txBody>
      </p:sp>
      <p:sp>
        <p:nvSpPr>
          <p:cNvPr id="9" name="Text Placeholder 8"/>
          <p:cNvSpPr>
            <a:spLocks noGrp="1"/>
          </p:cNvSpPr>
          <p:nvPr>
            <p:ph type="body" idx="8"/>
          </p:nvPr>
        </p:nvSpPr>
        <p:spPr/>
        <p:txBody>
          <a:bodyPr wrap="square"/>
          <a:lstStyle/>
          <a:p>
            <a:pPr algn="ctr" indent="0" marL="0"/>
            <a:r>
              <a:rPr sz="1100" b="1" i="0">
                <a:solidFill>
                  <a:srgbClr val="1A1A1A"/>
                </a:solidFill>
                <a:latin typeface="Verdana"/>
              </a:rPr>
              <a:t>DIGITALE, </a:t>
            </a:r>
            <a:r>
              <a:rPr sz="1100" b="0" i="1">
                <a:solidFill>
                  <a:srgbClr val="1A1A1A"/>
                </a:solidFill>
                <a:latin typeface="Verdana"/>
              </a:rPr>
              <a:t>PRODUCT MANAGER</a:t>
            </a:r>
          </a:p>
        </p:txBody>
      </p:sp>
      <p:sp>
        <p:nvSpPr>
          <p:cNvPr id="14" name="Title 13"/>
          <p:cNvSpPr>
            <a:spLocks noGrp="1"/>
          </p:cNvSpPr>
          <p:nvPr>
            <p:ph type="title"/>
          </p:nvPr>
        </p:nvSpPr>
        <p:spPr/>
        <p:txBody>
          <a:bodyPr/>
          <a:lstStyle/>
          <a:p>
            <a:r>
              <a:t>Références IA : Front Office (2/4)</a:t>
            </a:r>
          </a:p>
        </p:txBody>
      </p:sp>
      <p:pic>
        <p:nvPicPr>
          <p:cNvPr id="15" name="Picture 14" descr="societe_generale.png"/>
          <p:cNvPicPr>
            <a:picLocks noChangeAspect="1"/>
          </p:cNvPicPr>
          <p:nvPr/>
        </p:nvPicPr>
        <p:blipFill>
          <a:blip r:embed="rId2"/>
          <a:stretch>
            <a:fillRect/>
          </a:stretch>
        </p:blipFill>
        <p:spPr>
          <a:xfrm>
            <a:off x="1855624" y="1416581"/>
            <a:ext cx="2289652" cy="522326"/>
          </a:xfrm>
          <a:prstGeom prst="rect">
            <a:avLst/>
          </a:prstGeom>
        </p:spPr>
      </p:pic>
      <p:pic>
        <p:nvPicPr>
          <p:cNvPr id="16" name="Picture 15" descr="la_poste.png"/>
          <p:cNvPicPr>
            <a:picLocks noChangeAspect="1"/>
          </p:cNvPicPr>
          <p:nvPr/>
        </p:nvPicPr>
        <p:blipFill>
          <a:blip r:embed="rId3"/>
          <a:stretch>
            <a:fillRect/>
          </a:stretch>
        </p:blipFill>
        <p:spPr>
          <a:xfrm>
            <a:off x="7733188" y="1507213"/>
            <a:ext cx="2289652" cy="341062"/>
          </a:xfrm>
          <a:prstGeom prst="rect">
            <a:avLst/>
          </a:prstGeom>
        </p:spPr>
      </p:pic>
      <p:pic>
        <p:nvPicPr>
          <p:cNvPr id="17" name="Picture 16" descr="moet_hennessy.png"/>
          <p:cNvPicPr>
            <a:picLocks noChangeAspect="1"/>
          </p:cNvPicPr>
          <p:nvPr/>
        </p:nvPicPr>
        <p:blipFill>
          <a:blip r:embed="rId4"/>
          <a:stretch>
            <a:fillRect/>
          </a:stretch>
        </p:blipFill>
        <p:spPr>
          <a:xfrm>
            <a:off x="1855624" y="4197814"/>
            <a:ext cx="2289652" cy="383915"/>
          </a:xfrm>
          <a:prstGeom prst="rect">
            <a:avLst/>
          </a:prstGeom>
        </p:spPr>
      </p:pic>
      <p:pic>
        <p:nvPicPr>
          <p:cNvPr id="18" name="Picture 17" descr="societe_generale.png"/>
          <p:cNvPicPr>
            <a:picLocks noChangeAspect="1"/>
          </p:cNvPicPr>
          <p:nvPr/>
        </p:nvPicPr>
        <p:blipFill>
          <a:blip r:embed="rId2"/>
          <a:stretch>
            <a:fillRect/>
          </a:stretch>
        </p:blipFill>
        <p:spPr>
          <a:xfrm>
            <a:off x="7733188" y="4128608"/>
            <a:ext cx="2289652" cy="522326"/>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lgn="just" indent="0" marL="0">
              <a:lnSpc>
                <a:spcPct val="105000"/>
              </a:lnSpc>
            </a:pPr>
            <a:r>
              <a:rPr sz="950" b="0" i="0">
                <a:solidFill>
                  <a:srgbClr val="404041"/>
                </a:solidFill>
                <a:latin typeface="Verdana"/>
              </a:rPr>
              <a:t>Square Management est intervenu en tant que Chef de projet marketing auprès de GLEAMER, une start-up pionnière dans les outils de diagnostic à base d'Intelligence Artificielle (IA) en radiologie. La mission portait sur la stratégie marketing et l'aide au lancement de nouveaux produits d'IA.</a:t>
            </a:r>
          </a:p>
        </p:txBody>
      </p:sp>
      <p:sp>
        <p:nvSpPr>
          <p:cNvPr id="3" name="Text Placeholder 2"/>
          <p:cNvSpPr>
            <a:spLocks noGrp="1"/>
          </p:cNvSpPr>
          <p:nvPr>
            <p:ph type="body" idx="2"/>
          </p:nvPr>
        </p:nvSpPr>
        <p:spPr/>
        <p:txBody>
          <a:bodyPr wrap="square"/>
          <a:lstStyle/>
          <a:p>
            <a:pPr algn="ctr" indent="0" marL="0"/>
            <a:r>
              <a:rPr sz="1000" b="1" i="0">
                <a:solidFill>
                  <a:srgbClr val="1A1A1A"/>
                </a:solidFill>
                <a:latin typeface="Verdana"/>
              </a:rPr>
              <a:t>DIRECTION MARKETING &amp; AFFAIRES CLINIQUES, </a:t>
            </a:r>
            <a:r>
              <a:rPr sz="1000" b="0" i="1">
                <a:solidFill>
                  <a:srgbClr val="1A1A1A"/>
                </a:solidFill>
                <a:latin typeface="Verdana"/>
              </a:rPr>
              <a:t>CHEF DE PROJET MARKETING</a:t>
            </a:r>
          </a:p>
        </p:txBody>
      </p:sp>
      <p:sp>
        <p:nvSpPr>
          <p:cNvPr id="4" name="Text Placeholder 3"/>
          <p:cNvSpPr>
            <a:spLocks noGrp="1"/>
          </p:cNvSpPr>
          <p:nvPr>
            <p:ph type="body" idx="3"/>
          </p:nvPr>
        </p:nvSpPr>
        <p:spPr/>
        <p:txBody>
          <a:bodyPr wrap="square"/>
          <a:lstStyle/>
          <a:p>
            <a:pPr algn="just" indent="0" marL="0">
              <a:lnSpc>
                <a:spcPct val="105000"/>
              </a:lnSpc>
            </a:pPr>
            <a:r>
              <a:rPr sz="950" b="0" i="0">
                <a:solidFill>
                  <a:srgbClr val="404041"/>
                </a:solidFill>
                <a:latin typeface="Verdana"/>
              </a:rPr>
              <a:t>Square Management est intervenu en tant que Product Owner (PO) au sein de SG BDDF (Proactivité Digitale) sur le chatbot SoBot. Le contexte de la mission était la maintenance opérationnelle et l'amélioration continue de ce chatbot.</a:t>
            </a:r>
          </a:p>
        </p:txBody>
      </p:sp>
      <p:sp>
        <p:nvSpPr>
          <p:cNvPr id="5" name="Text Placeholder 4"/>
          <p:cNvSpPr>
            <a:spLocks noGrp="1"/>
          </p:cNvSpPr>
          <p:nvPr>
            <p:ph type="body" idx="4"/>
          </p:nvPr>
        </p:nvSpPr>
        <p:spPr/>
        <p:txBody>
          <a:bodyPr wrap="square"/>
          <a:lstStyle/>
          <a:p>
            <a:pPr algn="ctr" indent="0" marL="0"/>
            <a:r>
              <a:rPr sz="1100" b="1" i="0">
                <a:solidFill>
                  <a:srgbClr val="1A1A1A"/>
                </a:solidFill>
                <a:latin typeface="Verdana"/>
              </a:rPr>
              <a:t>PROACTIVITÉ DIGITALE, </a:t>
            </a:r>
            <a:r>
              <a:rPr sz="1100" b="0" i="1">
                <a:solidFill>
                  <a:srgbClr val="1A1A1A"/>
                </a:solidFill>
                <a:latin typeface="Verdana"/>
              </a:rPr>
              <a:t>PO</a:t>
            </a:r>
          </a:p>
        </p:txBody>
      </p:sp>
      <p:sp>
        <p:nvSpPr>
          <p:cNvPr id="6" name="Text Placeholder 5"/>
          <p:cNvSpPr>
            <a:spLocks noGrp="1"/>
          </p:cNvSpPr>
          <p:nvPr>
            <p:ph type="body" idx="5"/>
          </p:nvPr>
        </p:nvSpPr>
        <p:spPr/>
        <p:txBody>
          <a:bodyPr wrap="square"/>
          <a:lstStyle/>
          <a:p>
            <a:pPr algn="just" indent="0" marL="0">
              <a:lnSpc>
                <a:spcPct val="105000"/>
              </a:lnSpc>
            </a:pPr>
            <a:r>
              <a:rPr sz="950" b="0" i="0">
                <a:solidFill>
                  <a:srgbClr val="404041"/>
                </a:solidFill>
                <a:latin typeface="Verdana"/>
              </a:rPr>
              <a:t>Square Management est intervenu en tant que Chef de projet CRM international au sein de la Direction omnicanale de PARFUMS CHRISTIAN DIOR. La mission visait à optimiser la stratégie de communication client en intégrant l'Intelligence Artificielle.</a:t>
            </a:r>
          </a:p>
        </p:txBody>
      </p:sp>
      <p:sp>
        <p:nvSpPr>
          <p:cNvPr id="7" name="Text Placeholder 6"/>
          <p:cNvSpPr>
            <a:spLocks noGrp="1"/>
          </p:cNvSpPr>
          <p:nvPr>
            <p:ph type="body" idx="6"/>
          </p:nvPr>
        </p:nvSpPr>
        <p:spPr/>
        <p:txBody>
          <a:bodyPr wrap="square"/>
          <a:lstStyle/>
          <a:p>
            <a:pPr algn="ctr" indent="0" marL="0"/>
            <a:r>
              <a:rPr sz="1000" b="1" i="0">
                <a:solidFill>
                  <a:srgbClr val="1A1A1A"/>
                </a:solidFill>
                <a:latin typeface="Verdana"/>
              </a:rPr>
              <a:t>DIRECTION OMNICANALE, </a:t>
            </a:r>
            <a:r>
              <a:rPr sz="1000" b="0" i="1">
                <a:solidFill>
                  <a:srgbClr val="1A1A1A"/>
                </a:solidFill>
                <a:latin typeface="Verdana"/>
              </a:rPr>
              <a:t>INTERNATIONAL CRM PROJECT MANAGER</a:t>
            </a:r>
          </a:p>
        </p:txBody>
      </p:sp>
      <p:sp>
        <p:nvSpPr>
          <p:cNvPr id="8" name="Text Placeholder 7"/>
          <p:cNvSpPr>
            <a:spLocks noGrp="1"/>
          </p:cNvSpPr>
          <p:nvPr>
            <p:ph type="body" idx="7"/>
          </p:nvPr>
        </p:nvSpPr>
        <p:spPr/>
        <p:txBody>
          <a:bodyPr wrap="square"/>
          <a:lstStyle/>
          <a:p>
            <a:pPr algn="just" indent="0" marL="0">
              <a:lnSpc>
                <a:spcPct val="105000"/>
              </a:lnSpc>
            </a:pPr>
            <a:r>
              <a:rPr sz="950" b="0" i="0">
                <a:solidFill>
                  <a:srgbClr val="404041"/>
                </a:solidFill>
                <a:latin typeface="Verdana"/>
              </a:rPr>
              <a:t>Square Management est intervenu en tant que Product Owner auprès de SOCIETE GENERALE BDDF (DRO), pilotant l'évolution de SoBot, le chatbot de la banque, qui gère plus de 200 000 conversations mensuelles.</a:t>
            </a:r>
          </a:p>
        </p:txBody>
      </p:sp>
      <p:sp>
        <p:nvSpPr>
          <p:cNvPr id="9" name="Text Placeholder 8"/>
          <p:cNvSpPr>
            <a:spLocks noGrp="1"/>
          </p:cNvSpPr>
          <p:nvPr>
            <p:ph type="body" idx="8"/>
          </p:nvPr>
        </p:nvSpPr>
        <p:spPr/>
        <p:txBody>
          <a:bodyPr wrap="square"/>
          <a:lstStyle/>
          <a:p>
            <a:pPr algn="ctr" indent="0" marL="0"/>
            <a:r>
              <a:rPr sz="1100" b="1" i="0">
                <a:solidFill>
                  <a:srgbClr val="1A1A1A"/>
                </a:solidFill>
                <a:latin typeface="Verdana"/>
              </a:rPr>
              <a:t>DRO, </a:t>
            </a:r>
            <a:r>
              <a:rPr sz="1100" b="0" i="1">
                <a:solidFill>
                  <a:srgbClr val="1A1A1A"/>
                </a:solidFill>
                <a:latin typeface="Verdana"/>
              </a:rPr>
              <a:t>PRODUCT OWNER</a:t>
            </a:r>
          </a:p>
        </p:txBody>
      </p:sp>
      <p:sp>
        <p:nvSpPr>
          <p:cNvPr id="10" name="Text Placeholder 9"/>
          <p:cNvSpPr>
            <a:spLocks noGrp="1"/>
          </p:cNvSpPr>
          <p:nvPr>
            <p:ph type="body" idx="9"/>
          </p:nvPr>
        </p:nvSpPr>
        <p:spPr/>
        <p:txBody>
          <a:bodyPr wrap="square" anchor="ctr"/>
          <a:lstStyle/>
          <a:p>
            <a:pPr algn="ctr" indent="0" marL="0"/>
            <a:r>
              <a:rPr sz="1400" b="1" i="0">
                <a:solidFill>
                  <a:srgbClr val="1A1A1A"/>
                </a:solidFill>
                <a:latin typeface="Verdana"/>
              </a:rPr>
              <a:t>GLEAMER</a:t>
            </a:r>
          </a:p>
        </p:txBody>
      </p:sp>
      <p:sp>
        <p:nvSpPr>
          <p:cNvPr id="14" name="Title 13"/>
          <p:cNvSpPr>
            <a:spLocks noGrp="1"/>
          </p:cNvSpPr>
          <p:nvPr>
            <p:ph type="title"/>
          </p:nvPr>
        </p:nvSpPr>
        <p:spPr/>
        <p:txBody>
          <a:bodyPr/>
          <a:lstStyle/>
          <a:p>
            <a:r>
              <a:t>Références IA : Front Office (3/4)</a:t>
            </a:r>
          </a:p>
        </p:txBody>
      </p:sp>
      <p:pic>
        <p:nvPicPr>
          <p:cNvPr id="15" name="Picture 14" descr="dior.png"/>
          <p:cNvPicPr>
            <a:picLocks noChangeAspect="1"/>
          </p:cNvPicPr>
          <p:nvPr/>
        </p:nvPicPr>
        <p:blipFill>
          <a:blip r:embed="rId2"/>
          <a:stretch>
            <a:fillRect/>
          </a:stretch>
        </p:blipFill>
        <p:spPr>
          <a:xfrm>
            <a:off x="7890588" y="1275460"/>
            <a:ext cx="1974851" cy="804569"/>
          </a:xfrm>
          <a:prstGeom prst="rect">
            <a:avLst/>
          </a:prstGeom>
        </p:spPr>
      </p:pic>
      <p:pic>
        <p:nvPicPr>
          <p:cNvPr id="16" name="Picture 15" descr="societe_generale.png"/>
          <p:cNvPicPr>
            <a:picLocks noChangeAspect="1"/>
          </p:cNvPicPr>
          <p:nvPr/>
        </p:nvPicPr>
        <p:blipFill>
          <a:blip r:embed="rId3"/>
          <a:stretch>
            <a:fillRect/>
          </a:stretch>
        </p:blipFill>
        <p:spPr>
          <a:xfrm>
            <a:off x="1855624" y="4128608"/>
            <a:ext cx="2289652" cy="522326"/>
          </a:xfrm>
          <a:prstGeom prst="rect">
            <a:avLst/>
          </a:prstGeom>
        </p:spPr>
      </p:pic>
      <p:pic>
        <p:nvPicPr>
          <p:cNvPr id="17" name="Picture 16" descr="societe_generale.png"/>
          <p:cNvPicPr>
            <a:picLocks noChangeAspect="1"/>
          </p:cNvPicPr>
          <p:nvPr/>
        </p:nvPicPr>
        <p:blipFill>
          <a:blip r:embed="rId3"/>
          <a:stretch>
            <a:fillRect/>
          </a:stretch>
        </p:blipFill>
        <p:spPr>
          <a:xfrm>
            <a:off x="7733188" y="4128608"/>
            <a:ext cx="2289652" cy="52232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lgn="just" indent="0" marL="0">
              <a:lnSpc>
                <a:spcPct val="105000"/>
              </a:lnSpc>
            </a:pPr>
            <a:r>
              <a:rPr sz="950" b="0" i="0">
                <a:solidFill>
                  <a:srgbClr val="404041"/>
                </a:solidFill>
                <a:latin typeface="Verdana"/>
              </a:rPr>
              <a:t>Square Management est intervenu en tant que Chef de projet au sein de SEGL (Secrétariat général) de SOCIETE GENERALE, dans le cadre du programme LEGAL TSP visant à moderniser les équipes. La mission était centrée sur le développement de "Legal Assistant", une application utilisant l'Intelligence Artificielle pour assister les juristes dans la revue de contrats (corporate finance) selon les guidelines internes.</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SEGL (SECRÉTARIAT GÉNÉRAL), </a:t>
            </a:r>
            <a:r>
              <a:rPr sz="1100" b="0" i="1">
                <a:solidFill>
                  <a:srgbClr val="1A1A1A"/>
                </a:solidFill>
                <a:latin typeface="Verdana"/>
              </a:rPr>
              <a:t>CHEF DE PROJET</a:t>
            </a:r>
          </a:p>
        </p:txBody>
      </p:sp>
      <p:sp>
        <p:nvSpPr>
          <p:cNvPr id="14" name="Title 13"/>
          <p:cNvSpPr>
            <a:spLocks noGrp="1"/>
          </p:cNvSpPr>
          <p:nvPr>
            <p:ph type="title"/>
          </p:nvPr>
        </p:nvSpPr>
        <p:spPr/>
        <p:txBody>
          <a:bodyPr/>
          <a:lstStyle/>
          <a:p>
            <a:r>
              <a:t>Références IA : Front Office (4/4)</a:t>
            </a:r>
          </a:p>
        </p:txBody>
      </p:sp>
      <p:pic>
        <p:nvPicPr>
          <p:cNvPr id="15" name="Picture 14" descr="societe_generale.png"/>
          <p:cNvPicPr>
            <a:picLocks noChangeAspect="1"/>
          </p:cNvPicPr>
          <p:nvPr/>
        </p:nvPicPr>
        <p:blipFill>
          <a:blip r:embed="rId2"/>
          <a:stretch>
            <a:fillRect/>
          </a:stretch>
        </p:blipFill>
        <p:spPr>
          <a:xfrm>
            <a:off x="1855624" y="1416581"/>
            <a:ext cx="2289652" cy="52232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lgn="just" indent="0" marL="0">
              <a:lnSpc>
                <a:spcPct val="105000"/>
              </a:lnSpc>
            </a:pPr>
            <a:r>
              <a:rPr sz="950" b="0" i="0">
                <a:solidFill>
                  <a:srgbClr val="404041"/>
                </a:solidFill>
                <a:latin typeface="Verdana"/>
              </a:rPr>
              <a:t>Square Management est intervenu en tant qu'Expert Gen AI au sein de la Direction Financière d'AXA GIE (entité Finance). La mission principale est d'accompagner les équipes (contrôleurs, actuaires, comptables) à déployer des cas d'usage d'Intelligence Artificielle Générative (Gen AI) à l'échelle du groupe (GIE, Monde). Le rôle se concentre sur l'implémentation de ces solutions pour les fonctions financières.</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DIRECTION FINANCIÈRE, </a:t>
            </a:r>
            <a:r>
              <a:rPr sz="1100" b="0" i="1">
                <a:solidFill>
                  <a:srgbClr val="1A1A1A"/>
                </a:solidFill>
                <a:latin typeface="Verdana"/>
              </a:rPr>
              <a:t>EXPERT GEN AI</a:t>
            </a:r>
          </a:p>
        </p:txBody>
      </p:sp>
      <p:sp>
        <p:nvSpPr>
          <p:cNvPr id="4" name="Text Placeholder 3"/>
          <p:cNvSpPr>
            <a:spLocks noGrp="1"/>
          </p:cNvSpPr>
          <p:nvPr>
            <p:ph type="body" idx="3"/>
          </p:nvPr>
        </p:nvSpPr>
        <p:spPr/>
        <p:txBody>
          <a:bodyPr wrap="square"/>
          <a:lstStyle/>
          <a:p>
            <a:pPr algn="just" indent="0" marL="0">
              <a:lnSpc>
                <a:spcPct val="105000"/>
              </a:lnSpc>
            </a:pPr>
            <a:r>
              <a:rPr sz="950" b="0" i="0">
                <a:solidFill>
                  <a:srgbClr val="404041"/>
                </a:solidFill>
                <a:latin typeface="Verdana"/>
              </a:rPr>
              <a:t>Square Management est intervenu en tant que Product Owner IA au sein de l'équipe Applicatifs Modèles &amp; Innovation de la Direction des Risques de BPCE SA. La mission consistait à piloter le déploiement de l'outil IA interne "Golden Eye" auprès de 500 collaborateurs des Directions Risques.</a:t>
            </a:r>
          </a:p>
        </p:txBody>
      </p:sp>
      <p:sp>
        <p:nvSpPr>
          <p:cNvPr id="5" name="Text Placeholder 4"/>
          <p:cNvSpPr>
            <a:spLocks noGrp="1"/>
          </p:cNvSpPr>
          <p:nvPr>
            <p:ph type="body" idx="4"/>
          </p:nvPr>
        </p:nvSpPr>
        <p:spPr/>
        <p:txBody>
          <a:bodyPr wrap="square"/>
          <a:lstStyle/>
          <a:p>
            <a:pPr algn="ctr" indent="0" marL="0"/>
            <a:r>
              <a:rPr sz="1100" b="1" i="0">
                <a:solidFill>
                  <a:srgbClr val="1A1A1A"/>
                </a:solidFill>
                <a:latin typeface="Verdana"/>
              </a:rPr>
              <a:t>DIRECTION DES RISQUES, </a:t>
            </a:r>
            <a:r>
              <a:rPr sz="1100" b="0" i="1">
                <a:solidFill>
                  <a:srgbClr val="1A1A1A"/>
                </a:solidFill>
                <a:latin typeface="Verdana"/>
              </a:rPr>
              <a:t>PRODUCT OWNER IA</a:t>
            </a:r>
          </a:p>
        </p:txBody>
      </p:sp>
      <p:sp>
        <p:nvSpPr>
          <p:cNvPr id="6" name="Text Placeholder 5"/>
          <p:cNvSpPr>
            <a:spLocks noGrp="1"/>
          </p:cNvSpPr>
          <p:nvPr>
            <p:ph type="body" idx="5"/>
          </p:nvPr>
        </p:nvSpPr>
        <p:spPr/>
        <p:txBody>
          <a:bodyPr wrap="square"/>
          <a:lstStyle/>
          <a:p>
            <a:pPr algn="just" indent="0" marL="0">
              <a:lnSpc>
                <a:spcPct val="105000"/>
              </a:lnSpc>
            </a:pPr>
            <a:r>
              <a:rPr sz="950" b="0" i="0">
                <a:solidFill>
                  <a:srgbClr val="404041"/>
                </a:solidFill>
                <a:latin typeface="Verdana"/>
              </a:rPr>
              <a:t>Square Management est intervenu en tant que Chef de projet au sein de CIB - GLobal Banking - CCCO de BNPP, dans un contexte d’évolutions réglementaires et de montée en puissance de l'Intelligence Artificielle. Les objectifs incluaient l'identification des contrôles automatisables et mutualisables, ainsi que la définition d'une roadmap d’évolution.</a:t>
            </a:r>
          </a:p>
        </p:txBody>
      </p:sp>
      <p:sp>
        <p:nvSpPr>
          <p:cNvPr id="7" name="Text Placeholder 6"/>
          <p:cNvSpPr>
            <a:spLocks noGrp="1"/>
          </p:cNvSpPr>
          <p:nvPr>
            <p:ph type="body" idx="6"/>
          </p:nvPr>
        </p:nvSpPr>
        <p:spPr/>
        <p:txBody>
          <a:bodyPr wrap="square"/>
          <a:lstStyle/>
          <a:p>
            <a:pPr algn="ctr" indent="0" marL="0"/>
            <a:r>
              <a:rPr sz="1100" b="1" i="0">
                <a:solidFill>
                  <a:srgbClr val="1A1A1A"/>
                </a:solidFill>
                <a:latin typeface="Verdana"/>
              </a:rPr>
              <a:t>CIB - GLOBAL BANKING - CCCO, </a:t>
            </a:r>
            <a:r>
              <a:rPr sz="1100" b="0" i="1">
                <a:solidFill>
                  <a:srgbClr val="1A1A1A"/>
                </a:solidFill>
                <a:latin typeface="Verdana"/>
              </a:rPr>
              <a:t>CHEF DE PROJET</a:t>
            </a:r>
          </a:p>
        </p:txBody>
      </p:sp>
      <p:sp>
        <p:nvSpPr>
          <p:cNvPr id="8" name="Text Placeholder 7"/>
          <p:cNvSpPr>
            <a:spLocks noGrp="1"/>
          </p:cNvSpPr>
          <p:nvPr>
            <p:ph type="body" idx="7"/>
          </p:nvPr>
        </p:nvSpPr>
        <p:spPr/>
        <p:txBody>
          <a:bodyPr wrap="square"/>
          <a:lstStyle/>
          <a:p>
            <a:pPr algn="just" indent="0" marL="0">
              <a:lnSpc>
                <a:spcPct val="105000"/>
              </a:lnSpc>
            </a:pPr>
            <a:r>
              <a:rPr sz="950" b="0" i="0">
                <a:solidFill>
                  <a:srgbClr val="404041"/>
                </a:solidFill>
                <a:latin typeface="Verdana"/>
              </a:rPr>
              <a:t>Square Management est intervenu en tant que Chef de projet au sein de la Direction de la Conformité Groupe de LA BANQUE POSTALE. Le contexte de la mission était l'implémentation de l'Intelligence Artificielle dans le cadre de la conformité (LCB-FT, sanctions, embargos).</a:t>
            </a:r>
          </a:p>
        </p:txBody>
      </p:sp>
      <p:sp>
        <p:nvSpPr>
          <p:cNvPr id="9" name="Text Placeholder 8"/>
          <p:cNvSpPr>
            <a:spLocks noGrp="1"/>
          </p:cNvSpPr>
          <p:nvPr>
            <p:ph type="body" idx="8"/>
          </p:nvPr>
        </p:nvSpPr>
        <p:spPr/>
        <p:txBody>
          <a:bodyPr wrap="square"/>
          <a:lstStyle/>
          <a:p>
            <a:pPr algn="ctr" indent="0" marL="0"/>
            <a:r>
              <a:rPr sz="1000" b="1" i="0">
                <a:solidFill>
                  <a:srgbClr val="1A1A1A"/>
                </a:solidFill>
                <a:latin typeface="Verdana"/>
              </a:rPr>
              <a:t>DIRECTION DE LA CONFORMITÉ GROUPE, </a:t>
            </a:r>
            <a:r>
              <a:rPr sz="1000" b="0" i="1">
                <a:solidFill>
                  <a:srgbClr val="1A1A1A"/>
                </a:solidFill>
                <a:latin typeface="Verdana"/>
              </a:rPr>
              <a:t>CHEF DE PROJET</a:t>
            </a:r>
          </a:p>
        </p:txBody>
      </p:sp>
      <p:sp>
        <p:nvSpPr>
          <p:cNvPr id="14" name="Title 13"/>
          <p:cNvSpPr>
            <a:spLocks noGrp="1"/>
          </p:cNvSpPr>
          <p:nvPr>
            <p:ph type="title"/>
          </p:nvPr>
        </p:nvSpPr>
        <p:spPr/>
        <p:txBody>
          <a:bodyPr/>
          <a:lstStyle/>
          <a:p>
            <a:r>
              <a:t>Références IA : Conformité (1/3)</a:t>
            </a:r>
          </a:p>
        </p:txBody>
      </p:sp>
      <p:pic>
        <p:nvPicPr>
          <p:cNvPr id="15" name="Picture 14" descr="axa.png"/>
          <p:cNvPicPr>
            <a:picLocks noChangeAspect="1"/>
          </p:cNvPicPr>
          <p:nvPr/>
        </p:nvPicPr>
        <p:blipFill>
          <a:blip r:embed="rId2"/>
          <a:stretch>
            <a:fillRect/>
          </a:stretch>
        </p:blipFill>
        <p:spPr>
          <a:xfrm>
            <a:off x="2598165" y="1275460"/>
            <a:ext cx="804569" cy="804569"/>
          </a:xfrm>
          <a:prstGeom prst="rect">
            <a:avLst/>
          </a:prstGeom>
        </p:spPr>
      </p:pic>
      <p:pic>
        <p:nvPicPr>
          <p:cNvPr id="16" name="Picture 15" descr="bnp_paribas.png"/>
          <p:cNvPicPr>
            <a:picLocks noChangeAspect="1"/>
          </p:cNvPicPr>
          <p:nvPr/>
        </p:nvPicPr>
        <p:blipFill>
          <a:blip r:embed="rId3"/>
          <a:stretch>
            <a:fillRect/>
          </a:stretch>
        </p:blipFill>
        <p:spPr>
          <a:xfrm>
            <a:off x="7733188" y="1313656"/>
            <a:ext cx="2289652" cy="728176"/>
          </a:xfrm>
          <a:prstGeom prst="rect">
            <a:avLst/>
          </a:prstGeom>
        </p:spPr>
      </p:pic>
      <p:pic>
        <p:nvPicPr>
          <p:cNvPr id="17" name="Picture 16" descr="bpce.png"/>
          <p:cNvPicPr>
            <a:picLocks noChangeAspect="1"/>
          </p:cNvPicPr>
          <p:nvPr/>
        </p:nvPicPr>
        <p:blipFill>
          <a:blip r:embed="rId4"/>
          <a:stretch>
            <a:fillRect/>
          </a:stretch>
        </p:blipFill>
        <p:spPr>
          <a:xfrm>
            <a:off x="1901138" y="3987487"/>
            <a:ext cx="2198624" cy="804569"/>
          </a:xfrm>
          <a:prstGeom prst="rect">
            <a:avLst/>
          </a:prstGeom>
        </p:spPr>
      </p:pic>
      <p:pic>
        <p:nvPicPr>
          <p:cNvPr id="18" name="Picture 17" descr="la_banque_postale.png"/>
          <p:cNvPicPr>
            <a:picLocks noChangeAspect="1"/>
          </p:cNvPicPr>
          <p:nvPr/>
        </p:nvPicPr>
        <p:blipFill>
          <a:blip r:embed="rId5"/>
          <a:stretch>
            <a:fillRect/>
          </a:stretch>
        </p:blipFill>
        <p:spPr>
          <a:xfrm>
            <a:off x="8299014" y="3987487"/>
            <a:ext cx="1158000" cy="80456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lgn="just" indent="0" marL="0">
              <a:lnSpc>
                <a:spcPct val="105000"/>
              </a:lnSpc>
            </a:pPr>
            <a:r>
              <a:rPr sz="950" b="0" i="0">
                <a:solidFill>
                  <a:srgbClr val="404041"/>
                </a:solidFill>
                <a:latin typeface="Verdana"/>
              </a:rPr>
              <a:t>Square Management est intervenu en tant que Conseil auprès du Secrétariat Général de SOCIETE GENERALE pour structurer l'accélération des projets d'IA et d'IA générative (Ecosystème des projets IA). Le contexte de la mission était de définir l'écosystème interne et externe pour le fonctionnement des projets IA et de développer des POC pour des preuves de valeur.</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SECRÉTARIAT GÉNÉRAL, </a:t>
            </a:r>
            <a:r>
              <a:rPr sz="1100" b="0" i="1">
                <a:solidFill>
                  <a:srgbClr val="1A1A1A"/>
                </a:solidFill>
                <a:latin typeface="Verdana"/>
              </a:rPr>
              <a:t>CONSEIL</a:t>
            </a:r>
          </a:p>
        </p:txBody>
      </p:sp>
      <p:sp>
        <p:nvSpPr>
          <p:cNvPr id="4" name="Text Placeholder 3"/>
          <p:cNvSpPr>
            <a:spLocks noGrp="1"/>
          </p:cNvSpPr>
          <p:nvPr>
            <p:ph type="body" idx="3"/>
          </p:nvPr>
        </p:nvSpPr>
        <p:spPr/>
        <p:txBody>
          <a:bodyPr wrap="square"/>
          <a:lstStyle/>
          <a:p>
            <a:pPr algn="just" indent="0" marL="0">
              <a:lnSpc>
                <a:spcPct val="105000"/>
              </a:lnSpc>
            </a:pPr>
            <a:r>
              <a:rPr sz="950" b="0" i="0">
                <a:solidFill>
                  <a:srgbClr val="404041"/>
                </a:solidFill>
                <a:latin typeface="Verdana"/>
              </a:rPr>
              <a:t>Square Management est intervenu en tant que Consultant en Management de l'innovation au sein de la Direction Innovation de BALOISE ASSURANCES. La mission était d'explorer et de mettre en œuvre des applications pratiques de l'Intelligence Artificielle Générative (GenAI) pour le département juridique.</a:t>
            </a:r>
          </a:p>
        </p:txBody>
      </p:sp>
      <p:sp>
        <p:nvSpPr>
          <p:cNvPr id="5" name="Text Placeholder 4"/>
          <p:cNvSpPr>
            <a:spLocks noGrp="1"/>
          </p:cNvSpPr>
          <p:nvPr>
            <p:ph type="body" idx="4"/>
          </p:nvPr>
        </p:nvSpPr>
        <p:spPr/>
        <p:txBody>
          <a:bodyPr wrap="square"/>
          <a:lstStyle/>
          <a:p>
            <a:pPr algn="ctr" indent="0" marL="0"/>
            <a:r>
              <a:rPr sz="1000" b="1" i="0">
                <a:solidFill>
                  <a:srgbClr val="1A1A1A"/>
                </a:solidFill>
                <a:latin typeface="Verdana"/>
              </a:rPr>
              <a:t>DIRECTION INNOVATION, </a:t>
            </a:r>
            <a:r>
              <a:rPr sz="1000" b="0" i="1">
                <a:solidFill>
                  <a:srgbClr val="1A1A1A"/>
                </a:solidFill>
                <a:latin typeface="Verdana"/>
              </a:rPr>
              <a:t>CONSULTANT EN MANAGEMENT DE L'INNOVATION</a:t>
            </a:r>
          </a:p>
        </p:txBody>
      </p:sp>
      <p:sp>
        <p:nvSpPr>
          <p:cNvPr id="6" name="Text Placeholder 5"/>
          <p:cNvSpPr>
            <a:spLocks noGrp="1"/>
          </p:cNvSpPr>
          <p:nvPr>
            <p:ph type="body" idx="5"/>
          </p:nvPr>
        </p:nvSpPr>
        <p:spPr/>
        <p:txBody>
          <a:bodyPr wrap="square"/>
          <a:lstStyle/>
          <a:p>
            <a:pPr algn="just" indent="0" marL="0">
              <a:lnSpc>
                <a:spcPct val="105000"/>
              </a:lnSpc>
            </a:pPr>
            <a:r>
              <a:rPr sz="950" b="0" i="0">
                <a:solidFill>
                  <a:srgbClr val="404041"/>
                </a:solidFill>
                <a:latin typeface="Verdana"/>
              </a:rPr>
              <a:t>Square Management est intervenu en tant que Directeur de mission - Expert LCB-FT auprès d'AXA France (Direction de la conformité) pour l'amélioration de son dispositif de Lutte Contre. Une partie essentielle du rôle incluait l'intégration d'un module d'IA (intelligence artificielle) dans les moteurs de filtrage, ainsi que la revue des scénarios de blanchiment et la digitalisation de tâches manuelles d'investigation.</a:t>
            </a:r>
          </a:p>
        </p:txBody>
      </p:sp>
      <p:sp>
        <p:nvSpPr>
          <p:cNvPr id="7" name="Text Placeholder 6"/>
          <p:cNvSpPr>
            <a:spLocks noGrp="1"/>
          </p:cNvSpPr>
          <p:nvPr>
            <p:ph type="body" idx="6"/>
          </p:nvPr>
        </p:nvSpPr>
        <p:spPr/>
        <p:txBody>
          <a:bodyPr wrap="square"/>
          <a:lstStyle/>
          <a:p>
            <a:pPr algn="ctr" indent="0" marL="0"/>
            <a:r>
              <a:rPr sz="1000" b="1" i="0">
                <a:solidFill>
                  <a:srgbClr val="1A1A1A"/>
                </a:solidFill>
                <a:latin typeface="Verdana"/>
              </a:rPr>
              <a:t>DIRECTION DE LA CONFORMITÉ, </a:t>
            </a:r>
            <a:r>
              <a:rPr sz="1000" b="0" i="1">
                <a:solidFill>
                  <a:srgbClr val="1A1A1A"/>
                </a:solidFill>
                <a:latin typeface="Verdana"/>
              </a:rPr>
              <a:t>DIRECTEUR DE MISSION - EXPERT LCB-FT</a:t>
            </a:r>
          </a:p>
        </p:txBody>
      </p:sp>
      <p:sp>
        <p:nvSpPr>
          <p:cNvPr id="8" name="Text Placeholder 7"/>
          <p:cNvSpPr>
            <a:spLocks noGrp="1"/>
          </p:cNvSpPr>
          <p:nvPr>
            <p:ph type="body" idx="7"/>
          </p:nvPr>
        </p:nvSpPr>
        <p:spPr/>
        <p:txBody>
          <a:bodyPr wrap="square"/>
          <a:lstStyle/>
          <a:p>
            <a:pPr algn="just" indent="0" marL="0">
              <a:lnSpc>
                <a:spcPct val="105000"/>
              </a:lnSpc>
            </a:pPr>
            <a:r>
              <a:rPr sz="950" b="0" i="0">
                <a:solidFill>
                  <a:srgbClr val="404041"/>
                </a:solidFill>
                <a:latin typeface="Verdana"/>
              </a:rPr>
              <a:t>Square Management est intervenu en tant que PMO Stratégique senior Transformation &amp; Conformité auprès de LA BANQUE POSTALE (Direction de la transformation). Le rôle consistait à piloter un portefeuille de 13 projets stratégiques, dont l'intégration de cas d’usage IA.</a:t>
            </a:r>
          </a:p>
        </p:txBody>
      </p:sp>
      <p:sp>
        <p:nvSpPr>
          <p:cNvPr id="9" name="Text Placeholder 8"/>
          <p:cNvSpPr>
            <a:spLocks noGrp="1"/>
          </p:cNvSpPr>
          <p:nvPr>
            <p:ph type="body" idx="8"/>
          </p:nvPr>
        </p:nvSpPr>
        <p:spPr/>
        <p:txBody>
          <a:bodyPr wrap="square"/>
          <a:lstStyle/>
          <a:p>
            <a:pPr algn="ctr" indent="0" marL="0"/>
            <a:r>
              <a:rPr sz="1000" b="1" i="0">
                <a:solidFill>
                  <a:srgbClr val="1A1A1A"/>
                </a:solidFill>
                <a:latin typeface="Verdana"/>
              </a:rPr>
              <a:t>DIRECTION DE LA TRANSFORMATION, </a:t>
            </a:r>
            <a:r>
              <a:rPr sz="1000" b="0" i="1">
                <a:solidFill>
                  <a:srgbClr val="1A1A1A"/>
                </a:solidFill>
                <a:latin typeface="Verdana"/>
              </a:rPr>
              <a:t>PMO STRATÉGIQUE</a:t>
            </a:r>
          </a:p>
        </p:txBody>
      </p:sp>
      <p:sp>
        <p:nvSpPr>
          <p:cNvPr id="14" name="Title 13"/>
          <p:cNvSpPr>
            <a:spLocks noGrp="1"/>
          </p:cNvSpPr>
          <p:nvPr>
            <p:ph type="title"/>
          </p:nvPr>
        </p:nvSpPr>
        <p:spPr/>
        <p:txBody>
          <a:bodyPr/>
          <a:lstStyle/>
          <a:p>
            <a:r>
              <a:t>Références IA : Conformité (2/3)</a:t>
            </a:r>
          </a:p>
        </p:txBody>
      </p:sp>
      <p:pic>
        <p:nvPicPr>
          <p:cNvPr id="15" name="Picture 14" descr="societe_generale.png"/>
          <p:cNvPicPr>
            <a:picLocks noChangeAspect="1"/>
          </p:cNvPicPr>
          <p:nvPr/>
        </p:nvPicPr>
        <p:blipFill>
          <a:blip r:embed="rId2"/>
          <a:stretch>
            <a:fillRect/>
          </a:stretch>
        </p:blipFill>
        <p:spPr>
          <a:xfrm>
            <a:off x="1855624" y="1416581"/>
            <a:ext cx="2289652" cy="522326"/>
          </a:xfrm>
          <a:prstGeom prst="rect">
            <a:avLst/>
          </a:prstGeom>
        </p:spPr>
      </p:pic>
      <p:pic>
        <p:nvPicPr>
          <p:cNvPr id="16" name="Picture 15" descr="axa.png"/>
          <p:cNvPicPr>
            <a:picLocks noChangeAspect="1"/>
          </p:cNvPicPr>
          <p:nvPr/>
        </p:nvPicPr>
        <p:blipFill>
          <a:blip r:embed="rId3"/>
          <a:stretch>
            <a:fillRect/>
          </a:stretch>
        </p:blipFill>
        <p:spPr>
          <a:xfrm>
            <a:off x="8475729" y="1275460"/>
            <a:ext cx="804569" cy="804569"/>
          </a:xfrm>
          <a:prstGeom prst="rect">
            <a:avLst/>
          </a:prstGeom>
        </p:spPr>
      </p:pic>
      <p:pic>
        <p:nvPicPr>
          <p:cNvPr id="17" name="Picture 16" descr="baloise.png"/>
          <p:cNvPicPr>
            <a:picLocks noChangeAspect="1"/>
          </p:cNvPicPr>
          <p:nvPr/>
        </p:nvPicPr>
        <p:blipFill>
          <a:blip r:embed="rId4"/>
          <a:stretch>
            <a:fillRect/>
          </a:stretch>
        </p:blipFill>
        <p:spPr>
          <a:xfrm>
            <a:off x="1855624" y="4065486"/>
            <a:ext cx="2289652" cy="648570"/>
          </a:xfrm>
          <a:prstGeom prst="rect">
            <a:avLst/>
          </a:prstGeom>
        </p:spPr>
      </p:pic>
      <p:pic>
        <p:nvPicPr>
          <p:cNvPr id="18" name="Picture 17" descr="la_banque_postale.png"/>
          <p:cNvPicPr>
            <a:picLocks noChangeAspect="1"/>
          </p:cNvPicPr>
          <p:nvPr/>
        </p:nvPicPr>
        <p:blipFill>
          <a:blip r:embed="rId5"/>
          <a:stretch>
            <a:fillRect/>
          </a:stretch>
        </p:blipFill>
        <p:spPr>
          <a:xfrm>
            <a:off x="8299014" y="3987487"/>
            <a:ext cx="1158000" cy="804569"/>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lgn="just" indent="0" marL="0">
              <a:lnSpc>
                <a:spcPct val="105000"/>
              </a:lnSpc>
            </a:pPr>
            <a:r>
              <a:rPr sz="950" b="0" i="0">
                <a:solidFill>
                  <a:srgbClr val="404041"/>
                </a:solidFill>
                <a:latin typeface="Verdana"/>
              </a:rPr>
              <a:t>Square Management est intervenu en tant que Content Manager / Référent technique au sein de la DSI de SG, pour l'intégration d'un outil d'Intelligence Artificielle dans l'application client. Cette initiative vise à améliorer la satisfaction client en fournissant des conseils proactifs et prédictifs via l'IA pour la gestion quotidienne des comptes.</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DSI, </a:t>
            </a:r>
            <a:r>
              <a:rPr sz="1100" b="0" i="1">
                <a:solidFill>
                  <a:srgbClr val="1A1A1A"/>
                </a:solidFill>
                <a:latin typeface="Verdana"/>
              </a:rPr>
              <a:t>CONTENT MANAGER / RÉFÉRENT TECHNIQUE</a:t>
            </a:r>
          </a:p>
        </p:txBody>
      </p:sp>
      <p:sp>
        <p:nvSpPr>
          <p:cNvPr id="4" name="Text Placeholder 3"/>
          <p:cNvSpPr>
            <a:spLocks noGrp="1"/>
          </p:cNvSpPr>
          <p:nvPr>
            <p:ph type="body" idx="3"/>
          </p:nvPr>
        </p:nvSpPr>
        <p:spPr/>
        <p:txBody>
          <a:bodyPr wrap="square"/>
          <a:lstStyle/>
          <a:p>
            <a:pPr algn="just" indent="0" marL="0">
              <a:lnSpc>
                <a:spcPct val="105000"/>
              </a:lnSpc>
            </a:pPr>
            <a:r>
              <a:rPr sz="950" b="0" i="0">
                <a:solidFill>
                  <a:srgbClr val="404041"/>
                </a:solidFill>
                <a:latin typeface="Verdana"/>
              </a:rPr>
              <a:t>Square Management est intervenu en tant que PO et MOA au Secrétariat Général de SOCIETE GENERALE pour accompagner la transformation de la filière juridique et le déploiement d'un clausier digital. Ce travail visait à faciliter l'analyse, l'homogénéisation des modèles de contrats et le déploiement de l’outil.</a:t>
            </a:r>
          </a:p>
        </p:txBody>
      </p:sp>
      <p:sp>
        <p:nvSpPr>
          <p:cNvPr id="5" name="Text Placeholder 4"/>
          <p:cNvSpPr>
            <a:spLocks noGrp="1"/>
          </p:cNvSpPr>
          <p:nvPr>
            <p:ph type="body" idx="4"/>
          </p:nvPr>
        </p:nvSpPr>
        <p:spPr/>
        <p:txBody>
          <a:bodyPr wrap="square"/>
          <a:lstStyle/>
          <a:p>
            <a:pPr algn="ctr" indent="0" marL="0"/>
            <a:r>
              <a:rPr sz="1100" b="1" i="0">
                <a:solidFill>
                  <a:srgbClr val="1A1A1A"/>
                </a:solidFill>
                <a:latin typeface="Verdana"/>
              </a:rPr>
              <a:t>SECRÉTARIAT GÉNÉRAL, </a:t>
            </a:r>
            <a:r>
              <a:rPr sz="1100" b="0" i="1">
                <a:solidFill>
                  <a:srgbClr val="1A1A1A"/>
                </a:solidFill>
                <a:latin typeface="Verdana"/>
              </a:rPr>
              <a:t>PO ET MOA</a:t>
            </a:r>
          </a:p>
        </p:txBody>
      </p:sp>
      <p:sp>
        <p:nvSpPr>
          <p:cNvPr id="6" name="Text Placeholder 5"/>
          <p:cNvSpPr>
            <a:spLocks noGrp="1"/>
          </p:cNvSpPr>
          <p:nvPr>
            <p:ph type="body" idx="5"/>
          </p:nvPr>
        </p:nvSpPr>
        <p:spPr/>
        <p:txBody>
          <a:bodyPr wrap="square"/>
          <a:lstStyle/>
          <a:p>
            <a:pPr algn="just" indent="0" marL="0">
              <a:lnSpc>
                <a:spcPct val="105000"/>
              </a:lnSpc>
            </a:pPr>
            <a:r>
              <a:rPr sz="950" b="0" i="0">
                <a:solidFill>
                  <a:srgbClr val="404041"/>
                </a:solidFill>
                <a:latin typeface="Verdana"/>
              </a:rPr>
              <a:t>Square Management est intervenu en tant que Consultant auprès de SOCIETE GENERALE pour le déploiement de "NEXTGEN / HOLMES", un nouvel outil de lutte anti-blanchiment (LAB LAT) basé sur l'Intelligence Artificielle (via Palantir). Square Management a donc joué un rôle clé de Program Management Office pour assurer la bonne gouvernance et le déploiement de cet outil IA.</a:t>
            </a:r>
          </a:p>
        </p:txBody>
      </p:sp>
      <p:sp>
        <p:nvSpPr>
          <p:cNvPr id="7" name="Text Placeholder 6"/>
          <p:cNvSpPr>
            <a:spLocks noGrp="1"/>
          </p:cNvSpPr>
          <p:nvPr>
            <p:ph type="body" idx="6"/>
          </p:nvPr>
        </p:nvSpPr>
        <p:spPr/>
        <p:txBody>
          <a:bodyPr wrap="square"/>
          <a:lstStyle/>
          <a:p>
            <a:pPr algn="ctr" indent="0" marL="0"/>
            <a:r>
              <a:rPr sz="1100" b="1" i="0">
                <a:solidFill>
                  <a:srgbClr val="1A1A1A"/>
                </a:solidFill>
                <a:latin typeface="Verdana"/>
              </a:rPr>
              <a:t>COMPLIANCE (RESG/CFT ET CPLE/DTO), </a:t>
            </a:r>
            <a:r>
              <a:rPr sz="1100" b="0" i="1">
                <a:solidFill>
                  <a:srgbClr val="1A1A1A"/>
                </a:solidFill>
                <a:latin typeface="Verdana"/>
              </a:rPr>
              <a:t>CONSULTANT</a:t>
            </a:r>
          </a:p>
        </p:txBody>
      </p:sp>
      <p:sp>
        <p:nvSpPr>
          <p:cNvPr id="14" name="Title 13"/>
          <p:cNvSpPr>
            <a:spLocks noGrp="1"/>
          </p:cNvSpPr>
          <p:nvPr>
            <p:ph type="title"/>
          </p:nvPr>
        </p:nvSpPr>
        <p:spPr/>
        <p:txBody>
          <a:bodyPr/>
          <a:lstStyle/>
          <a:p>
            <a:r>
              <a:t>Références IA : Conformité (3/3)</a:t>
            </a:r>
          </a:p>
        </p:txBody>
      </p:sp>
      <p:pic>
        <p:nvPicPr>
          <p:cNvPr id="15" name="Picture 14" descr="societe_generale.png"/>
          <p:cNvPicPr>
            <a:picLocks noChangeAspect="1"/>
          </p:cNvPicPr>
          <p:nvPr/>
        </p:nvPicPr>
        <p:blipFill>
          <a:blip r:embed="rId2"/>
          <a:stretch>
            <a:fillRect/>
          </a:stretch>
        </p:blipFill>
        <p:spPr>
          <a:xfrm>
            <a:off x="1855624" y="1416581"/>
            <a:ext cx="2289652" cy="522326"/>
          </a:xfrm>
          <a:prstGeom prst="rect">
            <a:avLst/>
          </a:prstGeom>
        </p:spPr>
      </p:pic>
      <p:pic>
        <p:nvPicPr>
          <p:cNvPr id="16" name="Picture 15" descr="societe_generale.png"/>
          <p:cNvPicPr>
            <a:picLocks noChangeAspect="1"/>
          </p:cNvPicPr>
          <p:nvPr/>
        </p:nvPicPr>
        <p:blipFill>
          <a:blip r:embed="rId2"/>
          <a:stretch>
            <a:fillRect/>
          </a:stretch>
        </p:blipFill>
        <p:spPr>
          <a:xfrm>
            <a:off x="7733188" y="1416581"/>
            <a:ext cx="2289652" cy="522326"/>
          </a:xfrm>
          <a:prstGeom prst="rect">
            <a:avLst/>
          </a:prstGeom>
        </p:spPr>
      </p:pic>
      <p:pic>
        <p:nvPicPr>
          <p:cNvPr id="17" name="Picture 16" descr="societe_generale.png"/>
          <p:cNvPicPr>
            <a:picLocks noChangeAspect="1"/>
          </p:cNvPicPr>
          <p:nvPr/>
        </p:nvPicPr>
        <p:blipFill>
          <a:blip r:embed="rId2"/>
          <a:stretch>
            <a:fillRect/>
          </a:stretch>
        </p:blipFill>
        <p:spPr>
          <a:xfrm>
            <a:off x="1855624" y="4128608"/>
            <a:ext cx="2289652" cy="522326"/>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lgn="just" indent="0" marL="0">
              <a:lnSpc>
                <a:spcPct val="105000"/>
              </a:lnSpc>
            </a:pPr>
            <a:r>
              <a:rPr sz="950" b="0" i="0">
                <a:solidFill>
                  <a:srgbClr val="404041"/>
                </a:solidFill>
                <a:latin typeface="Verdana"/>
              </a:rPr>
              <a:t>Square Management est intervenu en tant que Change Manager - International auprès d'AXA XL, Direction Transformation &amp; Change Delivery. La mission était centrée sur le déploiement d'un outil d'Intelligence Artificielle destiné à automatiser et sécuriser la comparaison de documents pour les équipes commerciales.</a:t>
            </a:r>
          </a:p>
        </p:txBody>
      </p:sp>
      <p:sp>
        <p:nvSpPr>
          <p:cNvPr id="3" name="Text Placeholder 2"/>
          <p:cNvSpPr>
            <a:spLocks noGrp="1"/>
          </p:cNvSpPr>
          <p:nvPr>
            <p:ph type="body" idx="2"/>
          </p:nvPr>
        </p:nvSpPr>
        <p:spPr/>
        <p:txBody>
          <a:bodyPr wrap="square"/>
          <a:lstStyle/>
          <a:p>
            <a:pPr algn="ctr" indent="0" marL="0"/>
            <a:r>
              <a:rPr sz="1000" b="1" i="0">
                <a:solidFill>
                  <a:srgbClr val="1A1A1A"/>
                </a:solidFill>
                <a:latin typeface="Verdana"/>
              </a:rPr>
              <a:t>TRANSFORMATION &amp; CHANGE DELIVERY, </a:t>
            </a:r>
            <a:r>
              <a:rPr sz="1000" b="0" i="1">
                <a:solidFill>
                  <a:srgbClr val="1A1A1A"/>
                </a:solidFill>
                <a:latin typeface="Verdana"/>
              </a:rPr>
              <a:t>CHANGE MANAGER - INTERNATIONAL</a:t>
            </a:r>
          </a:p>
        </p:txBody>
      </p:sp>
      <p:sp>
        <p:nvSpPr>
          <p:cNvPr id="4" name="Text Placeholder 3"/>
          <p:cNvSpPr>
            <a:spLocks noGrp="1"/>
          </p:cNvSpPr>
          <p:nvPr>
            <p:ph type="body" idx="3"/>
          </p:nvPr>
        </p:nvSpPr>
        <p:spPr/>
        <p:txBody>
          <a:bodyPr wrap="square"/>
          <a:lstStyle/>
          <a:p>
            <a:pPr algn="just" indent="0" marL="0">
              <a:lnSpc>
                <a:spcPct val="105000"/>
              </a:lnSpc>
            </a:pPr>
            <a:r>
              <a:rPr sz="950" b="0" i="0">
                <a:solidFill>
                  <a:srgbClr val="404041"/>
                </a:solidFill>
                <a:latin typeface="Verdana"/>
              </a:rPr>
              <a:t>Square Management est intervenu en tant que Chef de projet Innovation au sein de la Direction Générale des Opérations (DSI) d'AKTO, dans un contexte post-fusion visant à accélérer les projets stratégiques. La mission principale était d'initier et d'élaborer la direction stratégique en IA Générative.</a:t>
            </a:r>
          </a:p>
        </p:txBody>
      </p:sp>
      <p:sp>
        <p:nvSpPr>
          <p:cNvPr id="5" name="Text Placeholder 4"/>
          <p:cNvSpPr>
            <a:spLocks noGrp="1"/>
          </p:cNvSpPr>
          <p:nvPr>
            <p:ph type="body" idx="4"/>
          </p:nvPr>
        </p:nvSpPr>
        <p:spPr/>
        <p:txBody>
          <a:bodyPr wrap="square"/>
          <a:lstStyle/>
          <a:p>
            <a:pPr algn="ctr" indent="0" marL="0"/>
            <a:r>
              <a:rPr sz="1000" b="1" i="0">
                <a:solidFill>
                  <a:srgbClr val="1A1A1A"/>
                </a:solidFill>
                <a:latin typeface="Verdana"/>
              </a:rPr>
              <a:t>DIRECTION GENERALE DES OPERATIONS + DSI, </a:t>
            </a:r>
            <a:r>
              <a:rPr sz="1000" b="0" i="1">
                <a:solidFill>
                  <a:srgbClr val="1A1A1A"/>
                </a:solidFill>
                <a:latin typeface="Verdana"/>
              </a:rPr>
              <a:t>CHEF DE PROJET INNOVATION</a:t>
            </a:r>
          </a:p>
        </p:txBody>
      </p:sp>
      <p:sp>
        <p:nvSpPr>
          <p:cNvPr id="6" name="Text Placeholder 5"/>
          <p:cNvSpPr>
            <a:spLocks noGrp="1"/>
          </p:cNvSpPr>
          <p:nvPr>
            <p:ph type="body" idx="5"/>
          </p:nvPr>
        </p:nvSpPr>
        <p:spPr/>
        <p:txBody>
          <a:bodyPr wrap="square"/>
          <a:lstStyle/>
          <a:p>
            <a:pPr algn="just" indent="0" marL="0">
              <a:lnSpc>
                <a:spcPct val="105000"/>
              </a:lnSpc>
            </a:pPr>
            <a:r>
              <a:rPr sz="950" b="0" i="0">
                <a:solidFill>
                  <a:srgbClr val="404041"/>
                </a:solidFill>
                <a:latin typeface="Verdana"/>
              </a:rPr>
              <a:t>Square Management est intervenu en tant que Manager Transformation et Innovation auprès de la Direction Grand Public d'ENGIE, dans un contexte de promotion de l'innovation et de l'Intelligence Artificielle (IA) au sein du Groupe. Le rôle a consisté à réaliser un diagnostic des initiatives et des compétences IA/IAG, et à concevoir et déployer une "IA FACTORY" pour maximiser l'efficacité.</a:t>
            </a:r>
          </a:p>
        </p:txBody>
      </p:sp>
      <p:sp>
        <p:nvSpPr>
          <p:cNvPr id="7" name="Text Placeholder 6"/>
          <p:cNvSpPr>
            <a:spLocks noGrp="1"/>
          </p:cNvSpPr>
          <p:nvPr>
            <p:ph type="body" idx="6"/>
          </p:nvPr>
        </p:nvSpPr>
        <p:spPr/>
        <p:txBody>
          <a:bodyPr wrap="square"/>
          <a:lstStyle/>
          <a:p>
            <a:pPr algn="ctr" indent="0" marL="0"/>
            <a:r>
              <a:rPr sz="1000" b="1" i="0">
                <a:solidFill>
                  <a:srgbClr val="1A1A1A"/>
                </a:solidFill>
                <a:latin typeface="Verdana"/>
              </a:rPr>
              <a:t>DIRECTION GRAND PUBLIC, </a:t>
            </a:r>
            <a:r>
              <a:rPr sz="1000" b="0" i="1">
                <a:solidFill>
                  <a:srgbClr val="1A1A1A"/>
                </a:solidFill>
                <a:latin typeface="Verdana"/>
              </a:rPr>
              <a:t>MANAGER TRANSFORMATION ET INNOVATION</a:t>
            </a:r>
          </a:p>
        </p:txBody>
      </p:sp>
      <p:sp>
        <p:nvSpPr>
          <p:cNvPr id="8" name="Text Placeholder 7"/>
          <p:cNvSpPr>
            <a:spLocks noGrp="1"/>
          </p:cNvSpPr>
          <p:nvPr>
            <p:ph type="body" idx="7"/>
          </p:nvPr>
        </p:nvSpPr>
        <p:spPr/>
        <p:txBody>
          <a:bodyPr wrap="square"/>
          <a:lstStyle/>
          <a:p>
            <a:pPr algn="just" indent="0" marL="0">
              <a:lnSpc>
                <a:spcPct val="105000"/>
              </a:lnSpc>
            </a:pPr>
            <a:r>
              <a:rPr sz="950" b="0" i="0">
                <a:solidFill>
                  <a:srgbClr val="404041"/>
                </a:solidFill>
                <a:latin typeface="Verdana"/>
              </a:rPr>
              <a:t>Square Management est intervenu en tant que Chef de projet. Concernant l'IA, le consultant a participé à la partie change management en assurant des formations à un outil d'Intelligence Artificielle (IA) de screening des contrats, soulignant ainsi l'intégration d'outils innovants dans le processus de transformation.</a:t>
            </a:r>
          </a:p>
        </p:txBody>
      </p:sp>
      <p:sp>
        <p:nvSpPr>
          <p:cNvPr id="9" name="Text Placeholder 8"/>
          <p:cNvSpPr>
            <a:spLocks noGrp="1"/>
          </p:cNvSpPr>
          <p:nvPr>
            <p:ph type="body" idx="8"/>
          </p:nvPr>
        </p:nvSpPr>
        <p:spPr/>
        <p:txBody>
          <a:bodyPr wrap="square"/>
          <a:lstStyle/>
          <a:p>
            <a:pPr algn="ctr" indent="0" marL="0"/>
            <a:r>
              <a:rPr sz="1000" b="1" i="0">
                <a:solidFill>
                  <a:srgbClr val="1A1A1A"/>
                </a:solidFill>
                <a:latin typeface="Verdana"/>
              </a:rPr>
              <a:t>COFACE GLOBAL SOLUTION (CGS), </a:t>
            </a:r>
            <a:r>
              <a:rPr sz="1000" b="0" i="1">
                <a:solidFill>
                  <a:srgbClr val="1A1A1A"/>
                </a:solidFill>
                <a:latin typeface="Verdana"/>
              </a:rPr>
              <a:t>CHEF DE PROJET - MIGRATIONS</a:t>
            </a:r>
          </a:p>
        </p:txBody>
      </p:sp>
      <p:sp>
        <p:nvSpPr>
          <p:cNvPr id="11" name="Text Placeholder 10"/>
          <p:cNvSpPr>
            <a:spLocks noGrp="1"/>
          </p:cNvSpPr>
          <p:nvPr>
            <p:ph type="body" idx="13"/>
          </p:nvPr>
        </p:nvSpPr>
        <p:spPr/>
        <p:txBody>
          <a:bodyPr wrap="square" anchor="ctr"/>
          <a:lstStyle/>
          <a:p>
            <a:pPr algn="ctr" indent="0" marL="0"/>
            <a:r>
              <a:rPr sz="1400" b="1" i="0">
                <a:solidFill>
                  <a:srgbClr val="1A1A1A"/>
                </a:solidFill>
                <a:latin typeface="Verdana"/>
              </a:rPr>
              <a:t>AKTO</a:t>
            </a:r>
          </a:p>
        </p:txBody>
      </p:sp>
      <p:sp>
        <p:nvSpPr>
          <p:cNvPr id="14" name="Title 13"/>
          <p:cNvSpPr>
            <a:spLocks noGrp="1"/>
          </p:cNvSpPr>
          <p:nvPr>
            <p:ph type="title"/>
          </p:nvPr>
        </p:nvSpPr>
        <p:spPr/>
        <p:txBody>
          <a:bodyPr/>
          <a:lstStyle/>
          <a:p>
            <a:r>
              <a:t>Références IA : Opérations (1/3)</a:t>
            </a:r>
          </a:p>
        </p:txBody>
      </p:sp>
      <p:pic>
        <p:nvPicPr>
          <p:cNvPr id="15" name="Picture 14" descr="axa.png"/>
          <p:cNvPicPr>
            <a:picLocks noChangeAspect="1"/>
          </p:cNvPicPr>
          <p:nvPr/>
        </p:nvPicPr>
        <p:blipFill>
          <a:blip r:embed="rId2"/>
          <a:stretch>
            <a:fillRect/>
          </a:stretch>
        </p:blipFill>
        <p:spPr>
          <a:xfrm>
            <a:off x="2598165" y="1275460"/>
            <a:ext cx="804569" cy="804569"/>
          </a:xfrm>
          <a:prstGeom prst="rect">
            <a:avLst/>
          </a:prstGeom>
        </p:spPr>
      </p:pic>
      <p:pic>
        <p:nvPicPr>
          <p:cNvPr id="16" name="Picture 15" descr="engie.png"/>
          <p:cNvPicPr>
            <a:picLocks noChangeAspect="1"/>
          </p:cNvPicPr>
          <p:nvPr/>
        </p:nvPicPr>
        <p:blipFill>
          <a:blip r:embed="rId3"/>
          <a:stretch>
            <a:fillRect/>
          </a:stretch>
        </p:blipFill>
        <p:spPr>
          <a:xfrm>
            <a:off x="7765066" y="1275460"/>
            <a:ext cx="2225896" cy="804569"/>
          </a:xfrm>
          <a:prstGeom prst="rect">
            <a:avLst/>
          </a:prstGeom>
        </p:spPr>
      </p:pic>
      <p:pic>
        <p:nvPicPr>
          <p:cNvPr id="17" name="Picture 16" descr="coface.png"/>
          <p:cNvPicPr>
            <a:picLocks noChangeAspect="1"/>
          </p:cNvPicPr>
          <p:nvPr/>
        </p:nvPicPr>
        <p:blipFill>
          <a:blip r:embed="rId4"/>
          <a:stretch>
            <a:fillRect/>
          </a:stretch>
        </p:blipFill>
        <p:spPr>
          <a:xfrm>
            <a:off x="7733188" y="4011740"/>
            <a:ext cx="2289652" cy="75606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lgn="just" indent="0" marL="0">
              <a:lnSpc>
                <a:spcPct val="105000"/>
              </a:lnSpc>
            </a:pPr>
            <a:r>
              <a:rPr sz="950" b="0" i="0">
                <a:solidFill>
                  <a:srgbClr val="404041"/>
                </a:solidFill>
                <a:latin typeface="Verdana"/>
              </a:rPr>
              <a:t>Square Management est intervenu en tant que Responsable périmètre opérations (MO/BO) et juridiques pour le CREDIT AGRICOLE LEASING AND FACTORING, dans le cadre du programme "PERFORMANCE 2030" visant à optimiser le. Le programme visait à maîtriser ces charges pour investir dans des projets de croissance et saisir les opportunités de l'environnement technologique, notamment l'évolution vers l'IA/digitalisation.</a:t>
            </a:r>
          </a:p>
        </p:txBody>
      </p:sp>
      <p:sp>
        <p:nvSpPr>
          <p:cNvPr id="3" name="Text Placeholder 2"/>
          <p:cNvSpPr>
            <a:spLocks noGrp="1"/>
          </p:cNvSpPr>
          <p:nvPr>
            <p:ph type="body" idx="2"/>
          </p:nvPr>
        </p:nvSpPr>
        <p:spPr/>
        <p:txBody>
          <a:bodyPr wrap="square"/>
          <a:lstStyle/>
          <a:p>
            <a:pPr algn="ctr" indent="0" marL="0"/>
            <a:r>
              <a:rPr sz="1000" b="1" i="0">
                <a:solidFill>
                  <a:srgbClr val="1A1A1A"/>
                </a:solidFill>
                <a:latin typeface="Verdana"/>
              </a:rPr>
              <a:t>GROUPE CAL&amp;F, </a:t>
            </a:r>
            <a:r>
              <a:rPr sz="1000" b="0" i="1">
                <a:solidFill>
                  <a:srgbClr val="1A1A1A"/>
                </a:solidFill>
                <a:latin typeface="Verdana"/>
              </a:rPr>
              <a:t>RESPONSABLE PÉRIMÈTRE OPÉRATIONS (MO/BO) ET JURIDIQUES</a:t>
            </a:r>
          </a:p>
        </p:txBody>
      </p:sp>
      <p:sp>
        <p:nvSpPr>
          <p:cNvPr id="4" name="Text Placeholder 3"/>
          <p:cNvSpPr>
            <a:spLocks noGrp="1"/>
          </p:cNvSpPr>
          <p:nvPr>
            <p:ph type="body" idx="3"/>
          </p:nvPr>
        </p:nvSpPr>
        <p:spPr/>
        <p:txBody>
          <a:bodyPr wrap="square"/>
          <a:lstStyle/>
          <a:p>
            <a:pPr algn="just" indent="0" marL="0">
              <a:lnSpc>
                <a:spcPct val="105000"/>
              </a:lnSpc>
            </a:pPr>
            <a:r>
              <a:rPr sz="950" b="0" i="0">
                <a:solidFill>
                  <a:srgbClr val="404041"/>
                </a:solidFill>
                <a:latin typeface="Verdana"/>
              </a:rPr>
              <a:t>Square Management est intervenu en tant qu'Expert organisation Agile à l'échelle auprès de la Direction Recherche et Développement de VALEO. Le contexte de la mission était l'intégration stratégique de l'Intelligence Artificielle pour optimiser les chaînes de production.</a:t>
            </a:r>
          </a:p>
        </p:txBody>
      </p:sp>
      <p:sp>
        <p:nvSpPr>
          <p:cNvPr id="5" name="Text Placeholder 4"/>
          <p:cNvSpPr>
            <a:spLocks noGrp="1"/>
          </p:cNvSpPr>
          <p:nvPr>
            <p:ph type="body" idx="4"/>
          </p:nvPr>
        </p:nvSpPr>
        <p:spPr/>
        <p:txBody>
          <a:bodyPr wrap="square"/>
          <a:lstStyle/>
          <a:p>
            <a:pPr algn="ctr" indent="0" marL="0"/>
            <a:r>
              <a:rPr sz="1000" b="1" i="0">
                <a:solidFill>
                  <a:srgbClr val="1A1A1A"/>
                </a:solidFill>
                <a:latin typeface="Verdana"/>
              </a:rPr>
              <a:t>RECHERCHE ET DÉVELOPPEMENT, </a:t>
            </a:r>
            <a:r>
              <a:rPr sz="1000" b="0" i="1">
                <a:solidFill>
                  <a:srgbClr val="1A1A1A"/>
                </a:solidFill>
                <a:latin typeface="Verdana"/>
              </a:rPr>
              <a:t>EXPERT ORGANISATION AGILE À L'ÉCHELLE</a:t>
            </a:r>
          </a:p>
        </p:txBody>
      </p:sp>
      <p:sp>
        <p:nvSpPr>
          <p:cNvPr id="6" name="Text Placeholder 5"/>
          <p:cNvSpPr>
            <a:spLocks noGrp="1"/>
          </p:cNvSpPr>
          <p:nvPr>
            <p:ph type="body" idx="5"/>
          </p:nvPr>
        </p:nvSpPr>
        <p:spPr/>
        <p:txBody>
          <a:bodyPr wrap="square"/>
          <a:lstStyle/>
          <a:p>
            <a:pPr algn="just" indent="0" marL="0">
              <a:lnSpc>
                <a:spcPct val="105000"/>
              </a:lnSpc>
            </a:pPr>
            <a:r>
              <a:rPr sz="950" b="0" i="0">
                <a:solidFill>
                  <a:srgbClr val="404041"/>
                </a:solidFill>
                <a:latin typeface="Verdana"/>
              </a:rPr>
              <a:t>Square Management est intervenu en tant qu'Accompagnement Directrice de Projet Dispositif Cible PPI au sein de SOCIETE GENERALE BDDF, dans le cadre du programme "Top Parcours". Le contexte est la refonte du modèle opérationnel de distribution des prêts immobiliers pour améliorer la satisfaction client et regagner des parts de marché.</a:t>
            </a:r>
          </a:p>
        </p:txBody>
      </p:sp>
      <p:sp>
        <p:nvSpPr>
          <p:cNvPr id="7" name="Text Placeholder 6"/>
          <p:cNvSpPr>
            <a:spLocks noGrp="1"/>
          </p:cNvSpPr>
          <p:nvPr>
            <p:ph type="body" idx="6"/>
          </p:nvPr>
        </p:nvSpPr>
        <p:spPr/>
        <p:txBody>
          <a:bodyPr wrap="square"/>
          <a:lstStyle/>
          <a:p>
            <a:pPr algn="ctr" indent="0" marL="0"/>
            <a:r>
              <a:rPr sz="900" b="1" i="0">
                <a:solidFill>
                  <a:srgbClr val="1A1A1A"/>
                </a:solidFill>
                <a:latin typeface="Verdana"/>
              </a:rPr>
              <a:t>BDDF/TPA/EPA, </a:t>
            </a:r>
            <a:r>
              <a:rPr sz="900" b="0" i="1">
                <a:solidFill>
                  <a:srgbClr val="1A1A1A"/>
                </a:solidFill>
                <a:latin typeface="Verdana"/>
              </a:rPr>
              <a:t>ACCOMPAGNEMENT DIRECTRICE DE PROJET DISPOSITIF CIBLE PPI (PRÊT PERSONNEL IMMOBILIER)</a:t>
            </a:r>
          </a:p>
        </p:txBody>
      </p:sp>
      <p:sp>
        <p:nvSpPr>
          <p:cNvPr id="8" name="Text Placeholder 7"/>
          <p:cNvSpPr>
            <a:spLocks noGrp="1"/>
          </p:cNvSpPr>
          <p:nvPr>
            <p:ph type="body" idx="7"/>
          </p:nvPr>
        </p:nvSpPr>
        <p:spPr/>
        <p:txBody>
          <a:bodyPr wrap="square"/>
          <a:lstStyle/>
          <a:p>
            <a:pPr algn="just" indent="0" marL="0">
              <a:lnSpc>
                <a:spcPct val="105000"/>
              </a:lnSpc>
            </a:pPr>
            <a:r>
              <a:rPr sz="950" b="0" i="0">
                <a:solidFill>
                  <a:srgbClr val="404041"/>
                </a:solidFill>
                <a:latin typeface="Verdana"/>
              </a:rPr>
              <a:t>Square Management est intervenu en tant que BUSINESS ANALYST / IA au sein du DATA OFFICE d'AXA GIE, dans un contexte d'innovation visant l'amélioration des processus. La mission était centrée sur le déploiement de SecureGPT, une solution d’intelligence artificielle, par l'identification de cas d'usage métiers.</a:t>
            </a:r>
          </a:p>
        </p:txBody>
      </p:sp>
      <p:sp>
        <p:nvSpPr>
          <p:cNvPr id="9" name="Text Placeholder 8"/>
          <p:cNvSpPr>
            <a:spLocks noGrp="1"/>
          </p:cNvSpPr>
          <p:nvPr>
            <p:ph type="body" idx="8"/>
          </p:nvPr>
        </p:nvSpPr>
        <p:spPr/>
        <p:txBody>
          <a:bodyPr wrap="square"/>
          <a:lstStyle/>
          <a:p>
            <a:pPr algn="ctr" indent="0" marL="0"/>
            <a:r>
              <a:rPr sz="1100" b="1" i="0">
                <a:solidFill>
                  <a:srgbClr val="1A1A1A"/>
                </a:solidFill>
                <a:latin typeface="Verdana"/>
              </a:rPr>
              <a:t>DATA OFFICE, </a:t>
            </a:r>
            <a:r>
              <a:rPr sz="1100" b="0" i="1">
                <a:solidFill>
                  <a:srgbClr val="1A1A1A"/>
                </a:solidFill>
                <a:latin typeface="Verdana"/>
              </a:rPr>
              <a:t>BUSINESS ANALYST / IA</a:t>
            </a:r>
          </a:p>
        </p:txBody>
      </p:sp>
      <p:sp>
        <p:nvSpPr>
          <p:cNvPr id="14" name="Title 13"/>
          <p:cNvSpPr>
            <a:spLocks noGrp="1"/>
          </p:cNvSpPr>
          <p:nvPr>
            <p:ph type="title"/>
          </p:nvPr>
        </p:nvSpPr>
        <p:spPr/>
        <p:txBody>
          <a:bodyPr/>
          <a:lstStyle/>
          <a:p>
            <a:r>
              <a:t>Références IA : Opérations (2/3)</a:t>
            </a:r>
          </a:p>
        </p:txBody>
      </p:sp>
      <p:pic>
        <p:nvPicPr>
          <p:cNvPr id="15" name="Picture 14" descr="credit_agricole.png"/>
          <p:cNvPicPr>
            <a:picLocks noChangeAspect="1"/>
          </p:cNvPicPr>
          <p:nvPr/>
        </p:nvPicPr>
        <p:blipFill>
          <a:blip r:embed="rId2"/>
          <a:stretch>
            <a:fillRect/>
          </a:stretch>
        </p:blipFill>
        <p:spPr>
          <a:xfrm>
            <a:off x="2422590" y="1275460"/>
            <a:ext cx="1155720" cy="804569"/>
          </a:xfrm>
          <a:prstGeom prst="rect">
            <a:avLst/>
          </a:prstGeom>
        </p:spPr>
      </p:pic>
      <p:pic>
        <p:nvPicPr>
          <p:cNvPr id="16" name="Picture 15" descr="societe_generale.png"/>
          <p:cNvPicPr>
            <a:picLocks noChangeAspect="1"/>
          </p:cNvPicPr>
          <p:nvPr/>
        </p:nvPicPr>
        <p:blipFill>
          <a:blip r:embed="rId3"/>
          <a:stretch>
            <a:fillRect/>
          </a:stretch>
        </p:blipFill>
        <p:spPr>
          <a:xfrm>
            <a:off x="7733188" y="1416581"/>
            <a:ext cx="2289652" cy="522326"/>
          </a:xfrm>
          <a:prstGeom prst="rect">
            <a:avLst/>
          </a:prstGeom>
        </p:spPr>
      </p:pic>
      <p:pic>
        <p:nvPicPr>
          <p:cNvPr id="17" name="Picture 16" descr="valeo.png"/>
          <p:cNvPicPr>
            <a:picLocks noChangeAspect="1"/>
          </p:cNvPicPr>
          <p:nvPr/>
        </p:nvPicPr>
        <p:blipFill>
          <a:blip r:embed="rId4"/>
          <a:stretch>
            <a:fillRect/>
          </a:stretch>
        </p:blipFill>
        <p:spPr>
          <a:xfrm>
            <a:off x="2093809" y="3987487"/>
            <a:ext cx="1813282" cy="804569"/>
          </a:xfrm>
          <a:prstGeom prst="rect">
            <a:avLst/>
          </a:prstGeom>
        </p:spPr>
      </p:pic>
      <p:pic>
        <p:nvPicPr>
          <p:cNvPr id="18" name="Picture 17" descr="axa.png"/>
          <p:cNvPicPr>
            <a:picLocks noChangeAspect="1"/>
          </p:cNvPicPr>
          <p:nvPr/>
        </p:nvPicPr>
        <p:blipFill>
          <a:blip r:embed="rId5"/>
          <a:stretch>
            <a:fillRect/>
          </a:stretch>
        </p:blipFill>
        <p:spPr>
          <a:xfrm>
            <a:off x="8475729" y="3987487"/>
            <a:ext cx="804569" cy="80456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lgn="just" indent="0" marL="0">
              <a:lnSpc>
                <a:spcPct val="105000"/>
              </a:lnSpc>
            </a:pPr>
            <a:r>
              <a:rPr sz="950" b="0" i="0">
                <a:solidFill>
                  <a:srgbClr val="404041"/>
                </a:solidFill>
                <a:latin typeface="Verdana"/>
              </a:rPr>
              <a:t>Enjeux : Gagner en efficacité et réactivité en cas d’évènements climatiques vis-à-vis de nos clients Automatiser et simplifier le parcours client DAB Climatique pour améliorer la satisfaction client en lien avec l’expérience client sans dégrader l’activité courante et l’INR Améliorer et harmoniser l’organisation des process pour une meilleure maîtrise des dossiers en gestion.</a:t>
            </a:r>
          </a:p>
        </p:txBody>
      </p:sp>
      <p:sp>
        <p:nvSpPr>
          <p:cNvPr id="3" name="Text Placeholder 2"/>
          <p:cNvSpPr>
            <a:spLocks noGrp="1"/>
          </p:cNvSpPr>
          <p:nvPr>
            <p:ph type="body" idx="2"/>
          </p:nvPr>
        </p:nvSpPr>
        <p:spPr/>
        <p:txBody>
          <a:bodyPr wrap="square"/>
          <a:lstStyle/>
          <a:p>
            <a:pPr algn="ctr" indent="0" marL="0"/>
            <a:r>
              <a:rPr sz="1000" b="1" i="0">
                <a:solidFill>
                  <a:srgbClr val="1A1A1A"/>
                </a:solidFill>
                <a:latin typeface="Verdana"/>
              </a:rPr>
              <a:t>DIRECTION SINISTRES ET PRESTATIONS, </a:t>
            </a:r>
            <a:r>
              <a:rPr sz="1000" b="0" i="1">
                <a:solidFill>
                  <a:srgbClr val="1A1A1A"/>
                </a:solidFill>
                <a:latin typeface="Verdana"/>
              </a:rPr>
              <a:t>CADRAGE PROJET CLIMATIQUE</a:t>
            </a:r>
          </a:p>
        </p:txBody>
      </p:sp>
      <p:sp>
        <p:nvSpPr>
          <p:cNvPr id="4" name="Text Placeholder 3"/>
          <p:cNvSpPr>
            <a:spLocks noGrp="1"/>
          </p:cNvSpPr>
          <p:nvPr>
            <p:ph type="body" idx="3"/>
          </p:nvPr>
        </p:nvSpPr>
        <p:spPr/>
        <p:txBody>
          <a:bodyPr wrap="square"/>
          <a:lstStyle/>
          <a:p>
            <a:pPr algn="just" indent="0" marL="0">
              <a:lnSpc>
                <a:spcPct val="105000"/>
              </a:lnSpc>
            </a:pPr>
            <a:r>
              <a:rPr sz="950" b="0" i="0">
                <a:solidFill>
                  <a:srgbClr val="404041"/>
                </a:solidFill>
                <a:latin typeface="Verdana"/>
              </a:rPr>
              <a:t>Square Management est intervenu en tant que Datascientist au sein de la Direction IA et Big Data d'ALLIANZ, dans le contexte du pôle BigData. La mission IA a consisté à développer un programme de classification des emails du périmètre indemnisation et vie.</a:t>
            </a:r>
          </a:p>
        </p:txBody>
      </p:sp>
      <p:sp>
        <p:nvSpPr>
          <p:cNvPr id="5" name="Text Placeholder 4"/>
          <p:cNvSpPr>
            <a:spLocks noGrp="1"/>
          </p:cNvSpPr>
          <p:nvPr>
            <p:ph type="body" idx="4"/>
          </p:nvPr>
        </p:nvSpPr>
        <p:spPr/>
        <p:txBody>
          <a:bodyPr wrap="square"/>
          <a:lstStyle/>
          <a:p>
            <a:pPr algn="ctr" indent="0" marL="0"/>
            <a:r>
              <a:rPr sz="1100" b="1" i="0">
                <a:solidFill>
                  <a:srgbClr val="1A1A1A"/>
                </a:solidFill>
                <a:latin typeface="Verdana"/>
              </a:rPr>
              <a:t>DIRECTION IA ET BIG DATA, </a:t>
            </a:r>
            <a:r>
              <a:rPr sz="1100" b="0" i="1">
                <a:solidFill>
                  <a:srgbClr val="1A1A1A"/>
                </a:solidFill>
                <a:latin typeface="Verdana"/>
              </a:rPr>
              <a:t>DATASCIENTIST</a:t>
            </a:r>
          </a:p>
        </p:txBody>
      </p:sp>
      <p:sp>
        <p:nvSpPr>
          <p:cNvPr id="6" name="Text Placeholder 5"/>
          <p:cNvSpPr>
            <a:spLocks noGrp="1"/>
          </p:cNvSpPr>
          <p:nvPr>
            <p:ph type="body" idx="5"/>
          </p:nvPr>
        </p:nvSpPr>
        <p:spPr/>
        <p:txBody>
          <a:bodyPr wrap="square"/>
          <a:lstStyle/>
          <a:p>
            <a:pPr algn="just" indent="0" marL="0">
              <a:lnSpc>
                <a:spcPct val="105000"/>
              </a:lnSpc>
            </a:pPr>
            <a:r>
              <a:rPr sz="950" b="0" i="0">
                <a:solidFill>
                  <a:srgbClr val="404041"/>
                </a:solidFill>
                <a:latin typeface="Verdana"/>
              </a:rPr>
              <a:t>Square Management est intervenu en tant que PMO / Consultant auprès de l'équipe Excellence Opérationnelle de CARMIGNAC, rattachée au COO/DSI. L'équipe est responsable de la coordination des initiatives d'Intelligence Artificielle. La mission comprenait également le PMO du programme de transformation data et le pilotage de l'exercice budgétaire.</a:t>
            </a:r>
          </a:p>
        </p:txBody>
      </p:sp>
      <p:sp>
        <p:nvSpPr>
          <p:cNvPr id="7" name="Text Placeholder 6"/>
          <p:cNvSpPr>
            <a:spLocks noGrp="1"/>
          </p:cNvSpPr>
          <p:nvPr>
            <p:ph type="body" idx="6"/>
          </p:nvPr>
        </p:nvSpPr>
        <p:spPr/>
        <p:txBody>
          <a:bodyPr wrap="square"/>
          <a:lstStyle/>
          <a:p>
            <a:pPr algn="ctr" indent="0" marL="0"/>
            <a:r>
              <a:rPr sz="1000" b="1" i="0">
                <a:solidFill>
                  <a:srgbClr val="1A1A1A"/>
                </a:solidFill>
                <a:latin typeface="Verdana"/>
              </a:rPr>
              <a:t>COO / DSI / EXCELLENCE OPÉRATIONNELLE, </a:t>
            </a:r>
            <a:r>
              <a:rPr sz="1000" b="0" i="1">
                <a:solidFill>
                  <a:srgbClr val="1A1A1A"/>
                </a:solidFill>
                <a:latin typeface="Verdana"/>
              </a:rPr>
              <a:t>PMO / CONSULTANT</a:t>
            </a:r>
          </a:p>
        </p:txBody>
      </p:sp>
      <p:sp>
        <p:nvSpPr>
          <p:cNvPr id="14" name="Title 13"/>
          <p:cNvSpPr>
            <a:spLocks noGrp="1"/>
          </p:cNvSpPr>
          <p:nvPr>
            <p:ph type="title"/>
          </p:nvPr>
        </p:nvSpPr>
        <p:spPr/>
        <p:txBody>
          <a:bodyPr/>
          <a:lstStyle/>
          <a:p>
            <a:r>
              <a:t>Références IA : Opérations (3/3)</a:t>
            </a:r>
          </a:p>
        </p:txBody>
      </p:sp>
      <p:pic>
        <p:nvPicPr>
          <p:cNvPr id="15" name="Picture 14" descr="groupama.png"/>
          <p:cNvPicPr>
            <a:picLocks noChangeAspect="1"/>
          </p:cNvPicPr>
          <p:nvPr/>
        </p:nvPicPr>
        <p:blipFill>
          <a:blip r:embed="rId2"/>
          <a:stretch>
            <a:fillRect/>
          </a:stretch>
        </p:blipFill>
        <p:spPr>
          <a:xfrm>
            <a:off x="1855624" y="1357040"/>
            <a:ext cx="2289652" cy="641409"/>
          </a:xfrm>
          <a:prstGeom prst="rect">
            <a:avLst/>
          </a:prstGeom>
        </p:spPr>
      </p:pic>
      <p:pic>
        <p:nvPicPr>
          <p:cNvPr id="16" name="Picture 15" descr="carmignac.png"/>
          <p:cNvPicPr>
            <a:picLocks noChangeAspect="1"/>
          </p:cNvPicPr>
          <p:nvPr/>
        </p:nvPicPr>
        <p:blipFill>
          <a:blip r:embed="rId3"/>
          <a:stretch>
            <a:fillRect/>
          </a:stretch>
        </p:blipFill>
        <p:spPr>
          <a:xfrm>
            <a:off x="7733188" y="1424929"/>
            <a:ext cx="2289652" cy="505631"/>
          </a:xfrm>
          <a:prstGeom prst="rect">
            <a:avLst/>
          </a:prstGeom>
        </p:spPr>
      </p:pic>
      <p:pic>
        <p:nvPicPr>
          <p:cNvPr id="17" name="Picture 16" descr="allianz.png"/>
          <p:cNvPicPr>
            <a:picLocks noChangeAspect="1"/>
          </p:cNvPicPr>
          <p:nvPr/>
        </p:nvPicPr>
        <p:blipFill>
          <a:blip r:embed="rId4"/>
          <a:stretch>
            <a:fillRect/>
          </a:stretch>
        </p:blipFill>
        <p:spPr>
          <a:xfrm>
            <a:off x="1855624" y="4104758"/>
            <a:ext cx="2289652" cy="570027"/>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lgn="just" indent="0" marL="0">
              <a:lnSpc>
                <a:spcPct val="105000"/>
              </a:lnSpc>
            </a:pPr>
            <a:r>
              <a:rPr sz="950" b="0" i="0">
                <a:solidFill>
                  <a:srgbClr val="404041"/>
                </a:solidFill>
                <a:latin typeface="Verdana"/>
              </a:rPr>
              <a:t>Square Management est intervenu en tant qu'Innovation Strategy pour CREDIT AGRICOLE (CAPFM) afin de structurer la dynamique de l'Intelligence Artificielle, placée au cœur de sa stratégie d'innovation via le programme transverse "AI Connect". Le rôle a consisté à réaliser un diagnostic de maturité IA pour l'ensemble des entités du groupe, puis à concevoir le dispositif.</a:t>
            </a:r>
          </a:p>
        </p:txBody>
      </p:sp>
      <p:sp>
        <p:nvSpPr>
          <p:cNvPr id="3" name="Text Placeholder 2"/>
          <p:cNvSpPr>
            <a:spLocks noGrp="1"/>
          </p:cNvSpPr>
          <p:nvPr>
            <p:ph type="body" idx="2"/>
          </p:nvPr>
        </p:nvSpPr>
        <p:spPr/>
        <p:txBody>
          <a:bodyPr wrap="square"/>
          <a:lstStyle/>
          <a:p>
            <a:pPr algn="ctr" indent="0" marL="0"/>
            <a:r>
              <a:rPr sz="1000" b="1" i="0">
                <a:solidFill>
                  <a:srgbClr val="1A1A1A"/>
                </a:solidFill>
                <a:latin typeface="Verdana"/>
              </a:rPr>
              <a:t>CAPFM - HEAD OF INNOVATION &amp; CTO, </a:t>
            </a:r>
            <a:r>
              <a:rPr sz="1000" b="0" i="1">
                <a:solidFill>
                  <a:srgbClr val="1A1A1A"/>
                </a:solidFill>
                <a:latin typeface="Verdana"/>
              </a:rPr>
              <a:t>INNOVATION STRATEGY</a:t>
            </a:r>
          </a:p>
        </p:txBody>
      </p:sp>
      <p:sp>
        <p:nvSpPr>
          <p:cNvPr id="4" name="Text Placeholder 3"/>
          <p:cNvSpPr>
            <a:spLocks noGrp="1"/>
          </p:cNvSpPr>
          <p:nvPr>
            <p:ph type="body" idx="3"/>
          </p:nvPr>
        </p:nvSpPr>
        <p:spPr/>
        <p:txBody>
          <a:bodyPr wrap="square"/>
          <a:lstStyle/>
          <a:p>
            <a:pPr algn="just" indent="0" marL="0">
              <a:lnSpc>
                <a:spcPct val="105000"/>
              </a:lnSpc>
            </a:pPr>
            <a:r>
              <a:rPr sz="950" b="0" i="0">
                <a:solidFill>
                  <a:srgbClr val="404041"/>
                </a:solidFill>
                <a:latin typeface="Verdana"/>
              </a:rPr>
              <a:t>Square Management est intervenu en tant que Chef de projet stratégique IA au sein de la Direction Juridique et Réglementaire de SOCIETE GENERALE. La mission visait à définir la vision et la feuille de route stratégique pour l’usage de l’Intelligence Artificielle (IA).</a:t>
            </a:r>
          </a:p>
        </p:txBody>
      </p:sp>
      <p:sp>
        <p:nvSpPr>
          <p:cNvPr id="5" name="Text Placeholder 4"/>
          <p:cNvSpPr>
            <a:spLocks noGrp="1"/>
          </p:cNvSpPr>
          <p:nvPr>
            <p:ph type="body" idx="4"/>
          </p:nvPr>
        </p:nvSpPr>
        <p:spPr/>
        <p:txBody>
          <a:bodyPr wrap="square"/>
          <a:lstStyle/>
          <a:p>
            <a:pPr algn="ctr" indent="0" marL="0"/>
            <a:r>
              <a:rPr sz="1000" b="1" i="0">
                <a:solidFill>
                  <a:srgbClr val="1A1A1A"/>
                </a:solidFill>
                <a:latin typeface="Verdana"/>
              </a:rPr>
              <a:t>DIRECTION JURIDIQUE ET RÉGLEMENTAIRE, </a:t>
            </a:r>
            <a:r>
              <a:rPr sz="1000" b="0" i="1">
                <a:solidFill>
                  <a:srgbClr val="1A1A1A"/>
                </a:solidFill>
                <a:latin typeface="Verdana"/>
              </a:rPr>
              <a:t>CHEF DE PROJET STRATÉGIQUE IA</a:t>
            </a:r>
          </a:p>
        </p:txBody>
      </p:sp>
      <p:sp>
        <p:nvSpPr>
          <p:cNvPr id="6" name="Text Placeholder 5"/>
          <p:cNvSpPr>
            <a:spLocks noGrp="1"/>
          </p:cNvSpPr>
          <p:nvPr>
            <p:ph type="body" idx="5"/>
          </p:nvPr>
        </p:nvSpPr>
        <p:spPr/>
        <p:txBody>
          <a:bodyPr wrap="square"/>
          <a:lstStyle/>
          <a:p>
            <a:pPr algn="just" indent="0" marL="0">
              <a:lnSpc>
                <a:spcPct val="105000"/>
              </a:lnSpc>
            </a:pPr>
            <a:r>
              <a:rPr sz="950" b="0" i="0">
                <a:solidFill>
                  <a:srgbClr val="404041"/>
                </a:solidFill>
                <a:latin typeface="Verdana"/>
              </a:rPr>
              <a:t>Square Management est intervenu en tant que PMO au sein de la Direction Recherche &amp; Innovation de L'OREAL, dans le cadre du programme "Augmented Researchers" visant à intégrer le digital, la data et la technologie. La mission se concentre sur l'accompagnement d'initiatives digitales, dont la réinvention de la formulation de fonds de teint et capillaire via des modèles d'IA prédictif.</a:t>
            </a:r>
          </a:p>
        </p:txBody>
      </p:sp>
      <p:sp>
        <p:nvSpPr>
          <p:cNvPr id="7" name="Text Placeholder 6"/>
          <p:cNvSpPr>
            <a:spLocks noGrp="1"/>
          </p:cNvSpPr>
          <p:nvPr>
            <p:ph type="body" idx="6"/>
          </p:nvPr>
        </p:nvSpPr>
        <p:spPr/>
        <p:txBody>
          <a:bodyPr wrap="square"/>
          <a:lstStyle/>
          <a:p>
            <a:pPr algn="ctr" indent="0" marL="0"/>
            <a:r>
              <a:rPr sz="1100" b="1" i="0">
                <a:solidFill>
                  <a:srgbClr val="1A1A1A"/>
                </a:solidFill>
                <a:latin typeface="Verdana"/>
              </a:rPr>
              <a:t>DIRECTION RECHERCHE &amp; INNOVATION, </a:t>
            </a:r>
            <a:r>
              <a:rPr sz="1100" b="0" i="1">
                <a:solidFill>
                  <a:srgbClr val="1A1A1A"/>
                </a:solidFill>
                <a:latin typeface="Verdana"/>
              </a:rPr>
              <a:t>PMO</a:t>
            </a:r>
          </a:p>
        </p:txBody>
      </p:sp>
      <p:sp>
        <p:nvSpPr>
          <p:cNvPr id="8" name="Text Placeholder 7"/>
          <p:cNvSpPr>
            <a:spLocks noGrp="1"/>
          </p:cNvSpPr>
          <p:nvPr>
            <p:ph type="body" idx="7"/>
          </p:nvPr>
        </p:nvSpPr>
        <p:spPr/>
        <p:txBody>
          <a:bodyPr wrap="square"/>
          <a:lstStyle/>
          <a:p>
            <a:pPr algn="just" indent="0" marL="0">
              <a:lnSpc>
                <a:spcPct val="105000"/>
              </a:lnSpc>
            </a:pPr>
            <a:r>
              <a:rPr sz="950" b="0" i="0">
                <a:solidFill>
                  <a:srgbClr val="404041"/>
                </a:solidFill>
                <a:latin typeface="Verdana"/>
              </a:rPr>
              <a:t>Square Management est intervenu en tant qu'Innovation Management &amp; AI auprès de BALOISE ASSURANCES pour l'organisation d'un Hackathon IA transverse.</a:t>
            </a:r>
          </a:p>
        </p:txBody>
      </p:sp>
      <p:sp>
        <p:nvSpPr>
          <p:cNvPr id="9" name="Text Placeholder 8"/>
          <p:cNvSpPr>
            <a:spLocks noGrp="1"/>
          </p:cNvSpPr>
          <p:nvPr>
            <p:ph type="body" idx="8"/>
          </p:nvPr>
        </p:nvSpPr>
        <p:spPr/>
        <p:txBody>
          <a:bodyPr wrap="square"/>
          <a:lstStyle/>
          <a:p>
            <a:pPr algn="ctr" indent="0" marL="0"/>
            <a:r>
              <a:rPr sz="1000" b="1" i="0">
                <a:solidFill>
                  <a:srgbClr val="1A1A1A"/>
                </a:solidFill>
                <a:latin typeface="Verdana"/>
              </a:rPr>
              <a:t>HEAD OF INNOVATION, </a:t>
            </a:r>
            <a:r>
              <a:rPr sz="1000" b="0" i="1">
                <a:solidFill>
                  <a:srgbClr val="1A1A1A"/>
                </a:solidFill>
                <a:latin typeface="Verdana"/>
              </a:rPr>
              <a:t>INNOVATION MANAGEMENT &amp; AI</a:t>
            </a:r>
          </a:p>
        </p:txBody>
      </p:sp>
      <p:sp>
        <p:nvSpPr>
          <p:cNvPr id="14" name="Title 13"/>
          <p:cNvSpPr>
            <a:spLocks noGrp="1"/>
          </p:cNvSpPr>
          <p:nvPr>
            <p:ph type="title"/>
          </p:nvPr>
        </p:nvSpPr>
        <p:spPr/>
        <p:txBody>
          <a:bodyPr/>
          <a:lstStyle/>
          <a:p>
            <a:r>
              <a:t>Références IA : Innovation métier (1/4)</a:t>
            </a:r>
          </a:p>
        </p:txBody>
      </p:sp>
      <p:pic>
        <p:nvPicPr>
          <p:cNvPr id="15" name="Picture 14" descr="credit_agricole.png"/>
          <p:cNvPicPr>
            <a:picLocks noChangeAspect="1"/>
          </p:cNvPicPr>
          <p:nvPr/>
        </p:nvPicPr>
        <p:blipFill>
          <a:blip r:embed="rId2"/>
          <a:stretch>
            <a:fillRect/>
          </a:stretch>
        </p:blipFill>
        <p:spPr>
          <a:xfrm>
            <a:off x="2422590" y="1275460"/>
            <a:ext cx="1155720" cy="804569"/>
          </a:xfrm>
          <a:prstGeom prst="rect">
            <a:avLst/>
          </a:prstGeom>
        </p:spPr>
      </p:pic>
      <p:pic>
        <p:nvPicPr>
          <p:cNvPr id="16" name="Picture 15" descr="loreal.png"/>
          <p:cNvPicPr>
            <a:picLocks noChangeAspect="1"/>
          </p:cNvPicPr>
          <p:nvPr/>
        </p:nvPicPr>
        <p:blipFill>
          <a:blip r:embed="rId3"/>
          <a:stretch>
            <a:fillRect/>
          </a:stretch>
        </p:blipFill>
        <p:spPr>
          <a:xfrm>
            <a:off x="7733188" y="1470245"/>
            <a:ext cx="2289652" cy="414999"/>
          </a:xfrm>
          <a:prstGeom prst="rect">
            <a:avLst/>
          </a:prstGeom>
        </p:spPr>
      </p:pic>
      <p:pic>
        <p:nvPicPr>
          <p:cNvPr id="17" name="Picture 16" descr="societe_generale.png"/>
          <p:cNvPicPr>
            <a:picLocks noChangeAspect="1"/>
          </p:cNvPicPr>
          <p:nvPr/>
        </p:nvPicPr>
        <p:blipFill>
          <a:blip r:embed="rId4"/>
          <a:stretch>
            <a:fillRect/>
          </a:stretch>
        </p:blipFill>
        <p:spPr>
          <a:xfrm>
            <a:off x="1855624" y="4128608"/>
            <a:ext cx="2289652" cy="522326"/>
          </a:xfrm>
          <a:prstGeom prst="rect">
            <a:avLst/>
          </a:prstGeom>
        </p:spPr>
      </p:pic>
      <p:pic>
        <p:nvPicPr>
          <p:cNvPr id="18" name="Picture 17" descr="baloise.png"/>
          <p:cNvPicPr>
            <a:picLocks noChangeAspect="1"/>
          </p:cNvPicPr>
          <p:nvPr/>
        </p:nvPicPr>
        <p:blipFill>
          <a:blip r:embed="rId5"/>
          <a:stretch>
            <a:fillRect/>
          </a:stretch>
        </p:blipFill>
        <p:spPr>
          <a:xfrm>
            <a:off x="7733188" y="4065486"/>
            <a:ext cx="2289652" cy="64857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lgn="just" indent="0" marL="0">
              <a:lnSpc>
                <a:spcPct val="105000"/>
              </a:lnSpc>
            </a:pPr>
            <a:r>
              <a:rPr sz="950" b="0" i="0">
                <a:solidFill>
                  <a:srgbClr val="404041"/>
                </a:solidFill>
                <a:latin typeface="Verdana"/>
              </a:rPr>
              <a:t>Square Management est intervenu en Stratégie Digitale et IA générative au sein de la Recherche &amp; Innovation de L'ORÉAL, qui mène une transformation digitale via le programme "Augmented Researcher" pour renforcer l'innovation. Le rôle a consisté à accompagner le CDTO Métier dans la co-construction de la stratégie digitale 2025-2027 autour d'un socle d'IA générative.</a:t>
            </a:r>
          </a:p>
        </p:txBody>
      </p:sp>
      <p:sp>
        <p:nvSpPr>
          <p:cNvPr id="3" name="Text Placeholder 2"/>
          <p:cNvSpPr>
            <a:spLocks noGrp="1"/>
          </p:cNvSpPr>
          <p:nvPr>
            <p:ph type="body" idx="2"/>
          </p:nvPr>
        </p:nvSpPr>
        <p:spPr/>
        <p:txBody>
          <a:bodyPr wrap="square"/>
          <a:lstStyle/>
          <a:p>
            <a:pPr algn="ctr" indent="0" marL="0"/>
            <a:r>
              <a:rPr sz="1000" b="1" i="0">
                <a:solidFill>
                  <a:srgbClr val="1A1A1A"/>
                </a:solidFill>
                <a:latin typeface="Verdana"/>
              </a:rPr>
              <a:t>RECHERCHE &amp; INNOVATION, </a:t>
            </a:r>
            <a:r>
              <a:rPr sz="1000" b="0" i="1">
                <a:solidFill>
                  <a:srgbClr val="1A1A1A"/>
                </a:solidFill>
                <a:latin typeface="Verdana"/>
              </a:rPr>
              <a:t>STRATÉGIE DIGITALE ET IA GÉNÉRATIVE</a:t>
            </a:r>
          </a:p>
        </p:txBody>
      </p:sp>
      <p:sp>
        <p:nvSpPr>
          <p:cNvPr id="4" name="Text Placeholder 3"/>
          <p:cNvSpPr>
            <a:spLocks noGrp="1"/>
          </p:cNvSpPr>
          <p:nvPr>
            <p:ph type="body" idx="3"/>
          </p:nvPr>
        </p:nvSpPr>
        <p:spPr/>
        <p:txBody>
          <a:bodyPr wrap="square"/>
          <a:lstStyle/>
          <a:p>
            <a:pPr algn="just" indent="0" marL="0">
              <a:lnSpc>
                <a:spcPct val="105000"/>
              </a:lnSpc>
            </a:pPr>
            <a:r>
              <a:rPr sz="950" b="0" i="0">
                <a:solidFill>
                  <a:srgbClr val="404041"/>
                </a:solidFill>
                <a:latin typeface="Verdana"/>
              </a:rPr>
              <a:t>Square Management est intervenu en tant que Consultante auprès de MOET HENNESSY (MH) pour réaliser. Le rôle a consisté à mener un benchmark terrain et à proposer des recommandations stratégiques concrètes, incluant une vision prospective intégrant les technologies de pointe, notamment l'Intelligence Artificielle (IA).</a:t>
            </a:r>
          </a:p>
        </p:txBody>
      </p:sp>
      <p:sp>
        <p:nvSpPr>
          <p:cNvPr id="5" name="Text Placeholder 4"/>
          <p:cNvSpPr>
            <a:spLocks noGrp="1"/>
          </p:cNvSpPr>
          <p:nvPr>
            <p:ph type="body" idx="4"/>
          </p:nvPr>
        </p:nvSpPr>
        <p:spPr/>
        <p:txBody>
          <a:bodyPr wrap="square"/>
          <a:lstStyle/>
          <a:p>
            <a:pPr algn="ctr" indent="0" marL="0"/>
            <a:r>
              <a:rPr sz="1100" b="1" i="0">
                <a:solidFill>
                  <a:srgbClr val="1A1A1A"/>
                </a:solidFill>
                <a:latin typeface="Verdana"/>
              </a:rPr>
              <a:t>MH, </a:t>
            </a:r>
            <a:r>
              <a:rPr sz="1100" b="0" i="1">
                <a:solidFill>
                  <a:srgbClr val="1A1A1A"/>
                </a:solidFill>
                <a:latin typeface="Verdana"/>
              </a:rPr>
              <a:t>CONSULTANTE</a:t>
            </a:r>
          </a:p>
        </p:txBody>
      </p:sp>
      <p:sp>
        <p:nvSpPr>
          <p:cNvPr id="6" name="Text Placeholder 5"/>
          <p:cNvSpPr>
            <a:spLocks noGrp="1"/>
          </p:cNvSpPr>
          <p:nvPr>
            <p:ph type="body" idx="5"/>
          </p:nvPr>
        </p:nvSpPr>
        <p:spPr/>
        <p:txBody>
          <a:bodyPr wrap="square"/>
          <a:lstStyle/>
          <a:p>
            <a:pPr algn="just" indent="0" marL="0">
              <a:lnSpc>
                <a:spcPct val="105000"/>
              </a:lnSpc>
            </a:pPr>
            <a:r>
              <a:rPr sz="950" b="0" i="0">
                <a:solidFill>
                  <a:srgbClr val="404041"/>
                </a:solidFill>
                <a:latin typeface="Verdana"/>
              </a:rPr>
              <a:t>Square Management est intervenu en tant que Chef de projet auprès de LVMH (Expérience client) pour une étude sur l'évolution de l'expérience client dans le secteur du luxe et du retail. L'étude a intégré l'IA dans la partie prospective, en proposant des scénarios futurs pour le parcours client omnicanal et phygital, notamment l'intégration de nouvelles technologies comme l'IA pour enrichir l'expérience client.</a:t>
            </a:r>
          </a:p>
        </p:txBody>
      </p:sp>
      <p:sp>
        <p:nvSpPr>
          <p:cNvPr id="7" name="Text Placeholder 6"/>
          <p:cNvSpPr>
            <a:spLocks noGrp="1"/>
          </p:cNvSpPr>
          <p:nvPr>
            <p:ph type="body" idx="6"/>
          </p:nvPr>
        </p:nvSpPr>
        <p:spPr/>
        <p:txBody>
          <a:bodyPr wrap="square"/>
          <a:lstStyle/>
          <a:p>
            <a:pPr algn="ctr" indent="0" marL="0"/>
            <a:r>
              <a:rPr sz="1100" b="1" i="0">
                <a:solidFill>
                  <a:srgbClr val="1A1A1A"/>
                </a:solidFill>
                <a:latin typeface="Verdana"/>
              </a:rPr>
              <a:t>EXPÉRIENCE CLIENT, </a:t>
            </a:r>
            <a:r>
              <a:rPr sz="1100" b="0" i="1">
                <a:solidFill>
                  <a:srgbClr val="1A1A1A"/>
                </a:solidFill>
                <a:latin typeface="Verdana"/>
              </a:rPr>
              <a:t>CHEF DE PROJET</a:t>
            </a:r>
          </a:p>
        </p:txBody>
      </p:sp>
      <p:sp>
        <p:nvSpPr>
          <p:cNvPr id="8" name="Text Placeholder 7"/>
          <p:cNvSpPr>
            <a:spLocks noGrp="1"/>
          </p:cNvSpPr>
          <p:nvPr>
            <p:ph type="body" idx="7"/>
          </p:nvPr>
        </p:nvSpPr>
        <p:spPr/>
        <p:txBody>
          <a:bodyPr wrap="square"/>
          <a:lstStyle/>
          <a:p>
            <a:pPr algn="just" indent="0" marL="0">
              <a:lnSpc>
                <a:spcPct val="105000"/>
              </a:lnSpc>
            </a:pPr>
            <a:r>
              <a:rPr sz="950" b="0" i="0">
                <a:solidFill>
                  <a:srgbClr val="404041"/>
                </a:solidFill>
                <a:latin typeface="Verdana"/>
              </a:rPr>
              <a:t>Square Management est intervenu en tant que Consultant auprès de MOET HENNESSY pour réaliser une étude stratégique de l'état de l'art des. L'objectif était de proposer des scénarios d'évolution et d'identifier les opportunités stratégiques, notamment l'intégration de l'IA pour la transformation des expériences client.</a:t>
            </a:r>
          </a:p>
        </p:txBody>
      </p:sp>
      <p:sp>
        <p:nvSpPr>
          <p:cNvPr id="9" name="Text Placeholder 8"/>
          <p:cNvSpPr>
            <a:spLocks noGrp="1"/>
          </p:cNvSpPr>
          <p:nvPr>
            <p:ph type="body" idx="8"/>
          </p:nvPr>
        </p:nvSpPr>
        <p:spPr/>
        <p:txBody>
          <a:bodyPr wrap="square"/>
          <a:lstStyle/>
          <a:p>
            <a:pPr algn="ctr" indent="0" marL="0"/>
            <a:r>
              <a:rPr sz="1100" b="1" i="0">
                <a:solidFill>
                  <a:srgbClr val="1A1A1A"/>
                </a:solidFill>
                <a:latin typeface="Verdana"/>
              </a:rPr>
              <a:t>CONSULTANT</a:t>
            </a:r>
          </a:p>
        </p:txBody>
      </p:sp>
      <p:sp>
        <p:nvSpPr>
          <p:cNvPr id="14" name="Title 13"/>
          <p:cNvSpPr>
            <a:spLocks noGrp="1"/>
          </p:cNvSpPr>
          <p:nvPr>
            <p:ph type="title"/>
          </p:nvPr>
        </p:nvSpPr>
        <p:spPr/>
        <p:txBody>
          <a:bodyPr/>
          <a:lstStyle/>
          <a:p>
            <a:r>
              <a:t>Références IA : Innovation métier (2/4)</a:t>
            </a:r>
          </a:p>
        </p:txBody>
      </p:sp>
      <p:pic>
        <p:nvPicPr>
          <p:cNvPr id="15" name="Picture 14" descr="loreal.png"/>
          <p:cNvPicPr>
            <a:picLocks noChangeAspect="1"/>
          </p:cNvPicPr>
          <p:nvPr/>
        </p:nvPicPr>
        <p:blipFill>
          <a:blip r:embed="rId2"/>
          <a:stretch>
            <a:fillRect/>
          </a:stretch>
        </p:blipFill>
        <p:spPr>
          <a:xfrm>
            <a:off x="1855624" y="1470245"/>
            <a:ext cx="2289652" cy="414999"/>
          </a:xfrm>
          <a:prstGeom prst="rect">
            <a:avLst/>
          </a:prstGeom>
        </p:spPr>
      </p:pic>
      <p:pic>
        <p:nvPicPr>
          <p:cNvPr id="16" name="Picture 15" descr="lvmh.png"/>
          <p:cNvPicPr>
            <a:picLocks noChangeAspect="1"/>
          </p:cNvPicPr>
          <p:nvPr/>
        </p:nvPicPr>
        <p:blipFill>
          <a:blip r:embed="rId3"/>
          <a:stretch>
            <a:fillRect/>
          </a:stretch>
        </p:blipFill>
        <p:spPr>
          <a:xfrm>
            <a:off x="7733188" y="1342644"/>
            <a:ext cx="2289652" cy="670200"/>
          </a:xfrm>
          <a:prstGeom prst="rect">
            <a:avLst/>
          </a:prstGeom>
        </p:spPr>
      </p:pic>
      <p:pic>
        <p:nvPicPr>
          <p:cNvPr id="17" name="Picture 16" descr="moet_hennessy.png"/>
          <p:cNvPicPr>
            <a:picLocks noChangeAspect="1"/>
          </p:cNvPicPr>
          <p:nvPr/>
        </p:nvPicPr>
        <p:blipFill>
          <a:blip r:embed="rId4"/>
          <a:stretch>
            <a:fillRect/>
          </a:stretch>
        </p:blipFill>
        <p:spPr>
          <a:xfrm>
            <a:off x="1855624" y="4197814"/>
            <a:ext cx="2289652" cy="383915"/>
          </a:xfrm>
          <a:prstGeom prst="rect">
            <a:avLst/>
          </a:prstGeom>
        </p:spPr>
      </p:pic>
      <p:pic>
        <p:nvPicPr>
          <p:cNvPr id="18" name="Picture 17" descr="moet_hennessy.png"/>
          <p:cNvPicPr>
            <a:picLocks noChangeAspect="1"/>
          </p:cNvPicPr>
          <p:nvPr/>
        </p:nvPicPr>
        <p:blipFill>
          <a:blip r:embed="rId4"/>
          <a:stretch>
            <a:fillRect/>
          </a:stretch>
        </p:blipFill>
        <p:spPr>
          <a:xfrm>
            <a:off x="7733188" y="4197814"/>
            <a:ext cx="2289652" cy="383915"/>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lgn="just" indent="0" marL="0">
              <a:lnSpc>
                <a:spcPct val="105000"/>
              </a:lnSpc>
            </a:pPr>
            <a:r>
              <a:rPr sz="950" b="0" i="0">
                <a:solidFill>
                  <a:srgbClr val="404041"/>
                </a:solidFill>
                <a:latin typeface="Verdana"/>
              </a:rPr>
              <a:t>Square Management est intervenu en tant qu'Expert en Gestion de l'Innovation auprès de BNPP (DITA / BCEF) pour une exploration stratégique de l'IA générative. La mission, structurée en trois sprints, visait à évaluer l'intégration optimale de cette technologie (notamment Chat GPT) au sein des différents métiers.</a:t>
            </a:r>
          </a:p>
        </p:txBody>
      </p:sp>
      <p:sp>
        <p:nvSpPr>
          <p:cNvPr id="3" name="Text Placeholder 2"/>
          <p:cNvSpPr>
            <a:spLocks noGrp="1"/>
          </p:cNvSpPr>
          <p:nvPr>
            <p:ph type="body" idx="2"/>
          </p:nvPr>
        </p:nvSpPr>
        <p:spPr/>
        <p:txBody>
          <a:bodyPr wrap="square"/>
          <a:lstStyle/>
          <a:p>
            <a:pPr algn="ctr" indent="0" marL="0"/>
            <a:r>
              <a:rPr sz="1000" b="1" i="0">
                <a:solidFill>
                  <a:srgbClr val="1A1A1A"/>
                </a:solidFill>
                <a:latin typeface="Verdana"/>
              </a:rPr>
              <a:t>DITA / BCEF, </a:t>
            </a:r>
            <a:r>
              <a:rPr sz="1000" b="0" i="1">
                <a:solidFill>
                  <a:srgbClr val="1A1A1A"/>
                </a:solidFill>
                <a:latin typeface="Verdana"/>
              </a:rPr>
              <a:t>EXPERT EN GESTION DE L’INNOVATION</a:t>
            </a:r>
          </a:p>
        </p:txBody>
      </p:sp>
      <p:sp>
        <p:nvSpPr>
          <p:cNvPr id="4" name="Text Placeholder 3"/>
          <p:cNvSpPr>
            <a:spLocks noGrp="1"/>
          </p:cNvSpPr>
          <p:nvPr>
            <p:ph type="body" idx="3"/>
          </p:nvPr>
        </p:nvSpPr>
        <p:spPr/>
        <p:txBody>
          <a:bodyPr wrap="square"/>
          <a:lstStyle/>
          <a:p>
            <a:pPr algn="just" indent="0" marL="0">
              <a:lnSpc>
                <a:spcPct val="105000"/>
              </a:lnSpc>
            </a:pPr>
            <a:r>
              <a:rPr sz="950" b="0" i="0">
                <a:solidFill>
                  <a:srgbClr val="404041"/>
                </a:solidFill>
                <a:latin typeface="Verdana"/>
              </a:rPr>
              <a:t>Square Management est intervenu en tant que PMO/Program Manager au sein de la Recherche et Innovation de L'ORÉAL, pour accompagner la transformation digitale via le pilier "Augmented Researcher". La mission a soutenu des initiatives stratégiques axées sur l'Intelligence Artificielle.</a:t>
            </a:r>
          </a:p>
        </p:txBody>
      </p:sp>
      <p:sp>
        <p:nvSpPr>
          <p:cNvPr id="5" name="Text Placeholder 4"/>
          <p:cNvSpPr>
            <a:spLocks noGrp="1"/>
          </p:cNvSpPr>
          <p:nvPr>
            <p:ph type="body" idx="4"/>
          </p:nvPr>
        </p:nvSpPr>
        <p:spPr/>
        <p:txBody>
          <a:bodyPr wrap="square"/>
          <a:lstStyle/>
          <a:p>
            <a:pPr algn="ctr" indent="0" marL="0"/>
            <a:r>
              <a:rPr sz="1100" b="1" i="0">
                <a:solidFill>
                  <a:srgbClr val="1A1A1A"/>
                </a:solidFill>
                <a:latin typeface="Verdana"/>
              </a:rPr>
              <a:t>RECHERCHE ET INNOVATION, </a:t>
            </a:r>
            <a:r>
              <a:rPr sz="1100" b="0" i="1">
                <a:solidFill>
                  <a:srgbClr val="1A1A1A"/>
                </a:solidFill>
                <a:latin typeface="Verdana"/>
              </a:rPr>
              <a:t>PMO/ PROGRAM MANAGER</a:t>
            </a:r>
          </a:p>
        </p:txBody>
      </p:sp>
      <p:sp>
        <p:nvSpPr>
          <p:cNvPr id="6" name="Text Placeholder 5"/>
          <p:cNvSpPr>
            <a:spLocks noGrp="1"/>
          </p:cNvSpPr>
          <p:nvPr>
            <p:ph type="body" idx="5"/>
          </p:nvPr>
        </p:nvSpPr>
        <p:spPr/>
        <p:txBody>
          <a:bodyPr wrap="square"/>
          <a:lstStyle/>
          <a:p>
            <a:pPr algn="just" indent="0" marL="0">
              <a:lnSpc>
                <a:spcPct val="105000"/>
              </a:lnSpc>
            </a:pPr>
            <a:r>
              <a:rPr sz="950" b="0" i="0">
                <a:solidFill>
                  <a:srgbClr val="404041"/>
                </a:solidFill>
                <a:latin typeface="Verdana"/>
              </a:rPr>
              <a:t>Square Management est intervenu en tant que Team Lead/PMO/Program Manager auprès de la Direction Recherche &amp; Innovation de L'OREAL, dans le cadre de la transformation digitale via le programme "Augmented Researchers". Cela incluait l'accélération des processus de formulation (e.g., Fast Color) grâce à l'intégration de modèles d'Intelligence Artificielle prédictifs.</a:t>
            </a:r>
          </a:p>
        </p:txBody>
      </p:sp>
      <p:sp>
        <p:nvSpPr>
          <p:cNvPr id="7" name="Text Placeholder 6"/>
          <p:cNvSpPr>
            <a:spLocks noGrp="1"/>
          </p:cNvSpPr>
          <p:nvPr>
            <p:ph type="body" idx="6"/>
          </p:nvPr>
        </p:nvSpPr>
        <p:spPr/>
        <p:txBody>
          <a:bodyPr wrap="square"/>
          <a:lstStyle/>
          <a:p>
            <a:pPr algn="ctr" indent="0" marL="0"/>
            <a:r>
              <a:rPr sz="1000" b="1" i="0">
                <a:solidFill>
                  <a:srgbClr val="1A1A1A"/>
                </a:solidFill>
                <a:latin typeface="Verdana"/>
              </a:rPr>
              <a:t>DIRECTION RECHERCHE &amp; INNOVATION, </a:t>
            </a:r>
            <a:r>
              <a:rPr sz="1000" b="0" i="1">
                <a:solidFill>
                  <a:srgbClr val="1A1A1A"/>
                </a:solidFill>
                <a:latin typeface="Verdana"/>
              </a:rPr>
              <a:t>TEAM LEAD/ PMO/ PROGRAM MANAGER</a:t>
            </a:r>
          </a:p>
        </p:txBody>
      </p:sp>
      <p:sp>
        <p:nvSpPr>
          <p:cNvPr id="8" name="Text Placeholder 7"/>
          <p:cNvSpPr>
            <a:spLocks noGrp="1"/>
          </p:cNvSpPr>
          <p:nvPr>
            <p:ph type="body" idx="7"/>
          </p:nvPr>
        </p:nvSpPr>
        <p:spPr/>
        <p:txBody>
          <a:bodyPr wrap="square"/>
          <a:lstStyle/>
          <a:p>
            <a:pPr algn="just" indent="0" marL="0">
              <a:lnSpc>
                <a:spcPct val="105000"/>
              </a:lnSpc>
            </a:pPr>
            <a:r>
              <a:rPr sz="950" b="0" i="0">
                <a:solidFill>
                  <a:srgbClr val="404041"/>
                </a:solidFill>
                <a:latin typeface="Verdana"/>
              </a:rPr>
              <a:t>Square Management est intervenu en tant que Chargé de développement et de clientèle pour Bloomfield Robotics, une start-up américaine spécialisée en Intelligence Artificielle (IA) appliquée à la viticulture. Cela incluait la présentation des bénéfices de l'IA pour une viticulture plus intelligente et durable.</a:t>
            </a:r>
          </a:p>
        </p:txBody>
      </p:sp>
      <p:sp>
        <p:nvSpPr>
          <p:cNvPr id="9" name="Text Placeholder 8"/>
          <p:cNvSpPr>
            <a:spLocks noGrp="1"/>
          </p:cNvSpPr>
          <p:nvPr>
            <p:ph type="body" idx="8"/>
          </p:nvPr>
        </p:nvSpPr>
        <p:spPr/>
        <p:txBody>
          <a:bodyPr wrap="square"/>
          <a:lstStyle/>
          <a:p>
            <a:pPr algn="ctr" indent="0" marL="0"/>
            <a:r>
              <a:rPr sz="1000" b="1" i="0">
                <a:solidFill>
                  <a:srgbClr val="1A1A1A"/>
                </a:solidFill>
                <a:latin typeface="Verdana"/>
              </a:rPr>
              <a:t>DIRECTION COMMERCIALE, </a:t>
            </a:r>
            <a:r>
              <a:rPr sz="1000" b="0" i="1">
                <a:solidFill>
                  <a:srgbClr val="1A1A1A"/>
                </a:solidFill>
                <a:latin typeface="Verdana"/>
              </a:rPr>
              <a:t>CHARGÉ DE DÉVELOPPEMENT</a:t>
            </a:r>
          </a:p>
        </p:txBody>
      </p:sp>
      <p:sp>
        <p:nvSpPr>
          <p:cNvPr id="13" name="Text Placeholder 12"/>
          <p:cNvSpPr>
            <a:spLocks noGrp="1"/>
          </p:cNvSpPr>
          <p:nvPr>
            <p:ph type="body" idx="15"/>
          </p:nvPr>
        </p:nvSpPr>
        <p:spPr/>
        <p:txBody>
          <a:bodyPr wrap="square" anchor="ctr"/>
          <a:lstStyle/>
          <a:p>
            <a:pPr algn="ctr" indent="0" marL="0"/>
            <a:r>
              <a:rPr sz="1400" b="1" i="0">
                <a:solidFill>
                  <a:srgbClr val="1A1A1A"/>
                </a:solidFill>
                <a:latin typeface="Verdana"/>
              </a:rPr>
              <a:t>Bloomfield robotic</a:t>
            </a:r>
          </a:p>
        </p:txBody>
      </p:sp>
      <p:sp>
        <p:nvSpPr>
          <p:cNvPr id="14" name="Title 13"/>
          <p:cNvSpPr>
            <a:spLocks noGrp="1"/>
          </p:cNvSpPr>
          <p:nvPr>
            <p:ph type="title"/>
          </p:nvPr>
        </p:nvSpPr>
        <p:spPr/>
        <p:txBody>
          <a:bodyPr/>
          <a:lstStyle/>
          <a:p>
            <a:r>
              <a:t>Références IA : Innovation métier (3/4)</a:t>
            </a:r>
          </a:p>
        </p:txBody>
      </p:sp>
      <p:pic>
        <p:nvPicPr>
          <p:cNvPr id="15" name="Picture 14" descr="bnp_paribas.png"/>
          <p:cNvPicPr>
            <a:picLocks noChangeAspect="1"/>
          </p:cNvPicPr>
          <p:nvPr/>
        </p:nvPicPr>
        <p:blipFill>
          <a:blip r:embed="rId2"/>
          <a:stretch>
            <a:fillRect/>
          </a:stretch>
        </p:blipFill>
        <p:spPr>
          <a:xfrm>
            <a:off x="1855624" y="1313656"/>
            <a:ext cx="2289652" cy="728176"/>
          </a:xfrm>
          <a:prstGeom prst="rect">
            <a:avLst/>
          </a:prstGeom>
        </p:spPr>
      </p:pic>
      <p:pic>
        <p:nvPicPr>
          <p:cNvPr id="16" name="Picture 15" descr="loreal.png"/>
          <p:cNvPicPr>
            <a:picLocks noChangeAspect="1"/>
          </p:cNvPicPr>
          <p:nvPr/>
        </p:nvPicPr>
        <p:blipFill>
          <a:blip r:embed="rId3"/>
          <a:stretch>
            <a:fillRect/>
          </a:stretch>
        </p:blipFill>
        <p:spPr>
          <a:xfrm>
            <a:off x="7733188" y="1470245"/>
            <a:ext cx="2289652" cy="414999"/>
          </a:xfrm>
          <a:prstGeom prst="rect">
            <a:avLst/>
          </a:prstGeom>
        </p:spPr>
      </p:pic>
      <p:pic>
        <p:nvPicPr>
          <p:cNvPr id="17" name="Picture 16" descr="loreal.png"/>
          <p:cNvPicPr>
            <a:picLocks noChangeAspect="1"/>
          </p:cNvPicPr>
          <p:nvPr/>
        </p:nvPicPr>
        <p:blipFill>
          <a:blip r:embed="rId3"/>
          <a:stretch>
            <a:fillRect/>
          </a:stretch>
        </p:blipFill>
        <p:spPr>
          <a:xfrm>
            <a:off x="1855624" y="4182272"/>
            <a:ext cx="2289652" cy="414999"/>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lgn="just" indent="0" marL="0">
              <a:lnSpc>
                <a:spcPct val="105000"/>
              </a:lnSpc>
            </a:pPr>
            <a:r>
              <a:rPr sz="950" b="0" i="0">
                <a:solidFill>
                  <a:srgbClr val="404041"/>
                </a:solidFill>
                <a:latin typeface="Verdana"/>
              </a:rPr>
              <a:t>Square Management est intervenu en tant que Chef de projet au sein de la Supply Chain de Chicago Pneumatic, dans le but d'améliorer le processus de prévision de la demande. La mission était axée sur le développement d'algorithmes d'Intelligence Artificielle utilisant des données exogènes pour prédire la quantité à livrer.</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SUPPLY CHAIN, </a:t>
            </a:r>
            <a:r>
              <a:rPr sz="1100" b="0" i="1">
                <a:solidFill>
                  <a:srgbClr val="1A1A1A"/>
                </a:solidFill>
                <a:latin typeface="Verdana"/>
              </a:rPr>
              <a:t>CHEF DE PROJET</a:t>
            </a:r>
          </a:p>
        </p:txBody>
      </p:sp>
      <p:sp>
        <p:nvSpPr>
          <p:cNvPr id="4" name="Text Placeholder 3"/>
          <p:cNvSpPr>
            <a:spLocks noGrp="1"/>
          </p:cNvSpPr>
          <p:nvPr>
            <p:ph type="body" idx="3"/>
          </p:nvPr>
        </p:nvSpPr>
        <p:spPr/>
        <p:txBody>
          <a:bodyPr wrap="square"/>
          <a:lstStyle/>
          <a:p>
            <a:pPr algn="just" indent="0" marL="0">
              <a:lnSpc>
                <a:spcPct val="105000"/>
              </a:lnSpc>
            </a:pPr>
            <a:r>
              <a:rPr sz="950" b="0" i="0">
                <a:solidFill>
                  <a:srgbClr val="404041"/>
                </a:solidFill>
                <a:latin typeface="Verdana"/>
              </a:rPr>
              <a:t>Square Management est intervenu en tant que Chef de projet chez Capgemini Engineering, au sein de la Recherche et Innovation. La mission portait sur un projet de R&amp;D visant à optimiser et fiabiliser le flux d'information d'une chaîne d'approvisionnement digitalisée (DSC), en utilisant l'IoT, l'IA et la Blockchain.</a:t>
            </a:r>
          </a:p>
        </p:txBody>
      </p:sp>
      <p:sp>
        <p:nvSpPr>
          <p:cNvPr id="5" name="Text Placeholder 4"/>
          <p:cNvSpPr>
            <a:spLocks noGrp="1"/>
          </p:cNvSpPr>
          <p:nvPr>
            <p:ph type="body" idx="4"/>
          </p:nvPr>
        </p:nvSpPr>
        <p:spPr/>
        <p:txBody>
          <a:bodyPr wrap="square"/>
          <a:lstStyle/>
          <a:p>
            <a:pPr algn="ctr" indent="0" marL="0"/>
            <a:r>
              <a:rPr sz="1100" b="1" i="0">
                <a:solidFill>
                  <a:srgbClr val="1A1A1A"/>
                </a:solidFill>
                <a:latin typeface="Verdana"/>
              </a:rPr>
              <a:t>RECHERCHE ET INNOVATION, </a:t>
            </a:r>
            <a:r>
              <a:rPr sz="1100" b="0" i="1">
                <a:solidFill>
                  <a:srgbClr val="1A1A1A"/>
                </a:solidFill>
                <a:latin typeface="Verdana"/>
              </a:rPr>
              <a:t>CHEF DE PROJET</a:t>
            </a:r>
          </a:p>
        </p:txBody>
      </p:sp>
      <p:sp>
        <p:nvSpPr>
          <p:cNvPr id="6" name="Text Placeholder 5"/>
          <p:cNvSpPr>
            <a:spLocks noGrp="1"/>
          </p:cNvSpPr>
          <p:nvPr>
            <p:ph type="body" idx="5"/>
          </p:nvPr>
        </p:nvSpPr>
        <p:spPr/>
        <p:txBody>
          <a:bodyPr wrap="square"/>
          <a:lstStyle/>
          <a:p>
            <a:pPr algn="just" indent="0" marL="0">
              <a:lnSpc>
                <a:spcPct val="105000"/>
              </a:lnSpc>
            </a:pPr>
            <a:r>
              <a:rPr sz="950" b="0" i="0">
                <a:solidFill>
                  <a:srgbClr val="404041"/>
                </a:solidFill>
                <a:latin typeface="Verdana"/>
              </a:rPr>
              <a:t>Square Management est intervenu en tant que Manager de l'innovation au sein du Département Innovation d'Arquus, qui cherchait à développer des projets d'innovation collaboratifs pour faire face à la concurrence. Le rôle a consisté, entre autres, à être MOA sur la phase d’avant-projet du projet "Mobilité IA". La mission s'inscrivait dans la stratégie globale d'innovation d'Arquus.</a:t>
            </a:r>
          </a:p>
        </p:txBody>
      </p:sp>
      <p:sp>
        <p:nvSpPr>
          <p:cNvPr id="7" name="Text Placeholder 6"/>
          <p:cNvSpPr>
            <a:spLocks noGrp="1"/>
          </p:cNvSpPr>
          <p:nvPr>
            <p:ph type="body" idx="6"/>
          </p:nvPr>
        </p:nvSpPr>
        <p:spPr/>
        <p:txBody>
          <a:bodyPr wrap="square"/>
          <a:lstStyle/>
          <a:p>
            <a:pPr algn="ctr" indent="0" marL="0"/>
            <a:r>
              <a:rPr sz="1000" b="1" i="0">
                <a:solidFill>
                  <a:srgbClr val="1A1A1A"/>
                </a:solidFill>
                <a:latin typeface="Verdana"/>
              </a:rPr>
              <a:t>DÉPARTEMENT INNOVATION, </a:t>
            </a:r>
            <a:r>
              <a:rPr sz="1000" b="0" i="1">
                <a:solidFill>
                  <a:srgbClr val="1A1A1A"/>
                </a:solidFill>
                <a:latin typeface="Verdana"/>
              </a:rPr>
              <a:t>MANAGER DE L'INNOVATION</a:t>
            </a:r>
          </a:p>
        </p:txBody>
      </p:sp>
      <p:sp>
        <p:nvSpPr>
          <p:cNvPr id="8" name="Text Placeholder 7"/>
          <p:cNvSpPr>
            <a:spLocks noGrp="1"/>
          </p:cNvSpPr>
          <p:nvPr>
            <p:ph type="body" idx="7"/>
          </p:nvPr>
        </p:nvSpPr>
        <p:spPr/>
        <p:txBody>
          <a:bodyPr wrap="square"/>
          <a:lstStyle/>
          <a:p>
            <a:pPr algn="just" indent="0" marL="0">
              <a:lnSpc>
                <a:spcPct val="105000"/>
              </a:lnSpc>
            </a:pPr>
            <a:r>
              <a:rPr sz="950" b="0" i="0">
                <a:solidFill>
                  <a:srgbClr val="404041"/>
                </a:solidFill>
                <a:latin typeface="Verdana"/>
              </a:rPr>
              <a:t>Square Management est intervenu en tant que Chef de projet au sein du pôle Digital Open Innovation - New Services Design de CONFIDENTIEL - SECTEUR LUXE. Le rôle a consisté à analyser les besoins des parties prenantes, cartographier les offres de services et définir le modèle d'intégration de la technologie IA.</a:t>
            </a:r>
          </a:p>
        </p:txBody>
      </p:sp>
      <p:sp>
        <p:nvSpPr>
          <p:cNvPr id="9" name="Text Placeholder 8"/>
          <p:cNvSpPr>
            <a:spLocks noGrp="1"/>
          </p:cNvSpPr>
          <p:nvPr>
            <p:ph type="body" idx="8"/>
          </p:nvPr>
        </p:nvSpPr>
        <p:spPr/>
        <p:txBody>
          <a:bodyPr wrap="square"/>
          <a:lstStyle/>
          <a:p>
            <a:pPr algn="ctr" indent="0" marL="0"/>
            <a:r>
              <a:rPr sz="1100" b="1" i="0">
                <a:solidFill>
                  <a:srgbClr val="1A1A1A"/>
                </a:solidFill>
                <a:latin typeface="Verdana"/>
              </a:rPr>
              <a:t>INNOVATION / R&amp;D, </a:t>
            </a:r>
            <a:r>
              <a:rPr sz="1100" b="0" i="1">
                <a:solidFill>
                  <a:srgbClr val="1A1A1A"/>
                </a:solidFill>
                <a:latin typeface="Verdana"/>
              </a:rPr>
              <a:t>CHEF DE PROJET</a:t>
            </a:r>
          </a:p>
        </p:txBody>
      </p:sp>
      <p:sp>
        <p:nvSpPr>
          <p:cNvPr id="13" name="Text Placeholder 12"/>
          <p:cNvSpPr>
            <a:spLocks noGrp="1"/>
          </p:cNvSpPr>
          <p:nvPr>
            <p:ph type="body" idx="15"/>
          </p:nvPr>
        </p:nvSpPr>
        <p:spPr/>
        <p:txBody>
          <a:bodyPr wrap="square" anchor="ctr"/>
          <a:lstStyle/>
          <a:p>
            <a:pPr algn="ctr" indent="0" marL="0"/>
            <a:r>
              <a:rPr sz="1400" b="1" i="0">
                <a:solidFill>
                  <a:srgbClr val="1A1A1A"/>
                </a:solidFill>
                <a:latin typeface="Verdana"/>
              </a:rPr>
              <a:t>CONFIDENTIEL - SECTEUR LUXE</a:t>
            </a:r>
          </a:p>
        </p:txBody>
      </p:sp>
      <p:sp>
        <p:nvSpPr>
          <p:cNvPr id="14" name="Title 13"/>
          <p:cNvSpPr>
            <a:spLocks noGrp="1"/>
          </p:cNvSpPr>
          <p:nvPr>
            <p:ph type="title"/>
          </p:nvPr>
        </p:nvSpPr>
        <p:spPr/>
        <p:txBody>
          <a:bodyPr/>
          <a:lstStyle/>
          <a:p>
            <a:r>
              <a:t>Références IA : Innovation métier (4/4)</a:t>
            </a:r>
          </a:p>
        </p:txBody>
      </p:sp>
      <p:pic>
        <p:nvPicPr>
          <p:cNvPr id="15" name="Picture 14" descr="chicago_pneumatic.png"/>
          <p:cNvPicPr>
            <a:picLocks noChangeAspect="1"/>
          </p:cNvPicPr>
          <p:nvPr/>
        </p:nvPicPr>
        <p:blipFill>
          <a:blip r:embed="rId2"/>
          <a:stretch>
            <a:fillRect/>
          </a:stretch>
        </p:blipFill>
        <p:spPr>
          <a:xfrm>
            <a:off x="1855624" y="1325490"/>
            <a:ext cx="2289652" cy="704508"/>
          </a:xfrm>
          <a:prstGeom prst="rect">
            <a:avLst/>
          </a:prstGeom>
        </p:spPr>
      </p:pic>
      <p:pic>
        <p:nvPicPr>
          <p:cNvPr id="16" name="Picture 15" descr="arquus.png"/>
          <p:cNvPicPr>
            <a:picLocks noChangeAspect="1"/>
          </p:cNvPicPr>
          <p:nvPr/>
        </p:nvPicPr>
        <p:blipFill>
          <a:blip r:embed="rId3"/>
          <a:stretch>
            <a:fillRect/>
          </a:stretch>
        </p:blipFill>
        <p:spPr>
          <a:xfrm>
            <a:off x="8462753" y="1275460"/>
            <a:ext cx="830522" cy="804569"/>
          </a:xfrm>
          <a:prstGeom prst="rect">
            <a:avLst/>
          </a:prstGeom>
        </p:spPr>
      </p:pic>
      <p:pic>
        <p:nvPicPr>
          <p:cNvPr id="17" name="Picture 16" descr="capgemini.png"/>
          <p:cNvPicPr>
            <a:picLocks noChangeAspect="1"/>
          </p:cNvPicPr>
          <p:nvPr/>
        </p:nvPicPr>
        <p:blipFill>
          <a:blip r:embed="rId4"/>
          <a:stretch>
            <a:fillRect/>
          </a:stretch>
        </p:blipFill>
        <p:spPr>
          <a:xfrm>
            <a:off x="1855624" y="4121453"/>
            <a:ext cx="2289652" cy="536637"/>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lgn="just" indent="0" marL="0">
              <a:lnSpc>
                <a:spcPct val="105000"/>
              </a:lnSpc>
            </a:pPr>
            <a:r>
              <a:rPr sz="950" b="0" i="0">
                <a:solidFill>
                  <a:srgbClr val="404041"/>
                </a:solidFill>
                <a:latin typeface="Verdana"/>
              </a:rPr>
              <a:t>Square Management est intervenu en tant que PMO / Chef de projet transverse au sein de la Direction DATA &amp; IA de BPCE, afin de créer un cadre de pilotage et d'assurer le suivi opérationnel des sujets transverses de la Direction Data &amp; IA. Le rôle a consisté à piloter le budget, le suivi des projets et des KPIs de la Direction Data &amp; IA.</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DATA &amp; IA, </a:t>
            </a:r>
            <a:r>
              <a:rPr sz="1100" b="0" i="1">
                <a:solidFill>
                  <a:srgbClr val="1A1A1A"/>
                </a:solidFill>
                <a:latin typeface="Verdana"/>
              </a:rPr>
              <a:t>PMO / CHEF DE PROJET TRANSVERSE</a:t>
            </a:r>
          </a:p>
        </p:txBody>
      </p:sp>
      <p:sp>
        <p:nvSpPr>
          <p:cNvPr id="4" name="Text Placeholder 3"/>
          <p:cNvSpPr>
            <a:spLocks noGrp="1"/>
          </p:cNvSpPr>
          <p:nvPr>
            <p:ph type="body" idx="3"/>
          </p:nvPr>
        </p:nvSpPr>
        <p:spPr/>
        <p:txBody>
          <a:bodyPr wrap="square"/>
          <a:lstStyle/>
          <a:p>
            <a:pPr algn="just" indent="0" marL="0">
              <a:lnSpc>
                <a:spcPct val="105000"/>
              </a:lnSpc>
            </a:pPr>
            <a:r>
              <a:rPr sz="950" b="0" i="0">
                <a:solidFill>
                  <a:srgbClr val="404041"/>
                </a:solidFill>
                <a:latin typeface="Verdana"/>
              </a:rPr>
              <a:t>Square Management est intervenu en tant que Chef de projet auprès de BNP PARIBAS (Direction de l'Engagement) sur le projet "ESG AI Advisory". La solution utilise l'IA pour analyser les données clients et référentiels externes afin d'identifier des opportunités commerciales.</a:t>
            </a:r>
          </a:p>
        </p:txBody>
      </p:sp>
      <p:sp>
        <p:nvSpPr>
          <p:cNvPr id="5" name="Text Placeholder 4"/>
          <p:cNvSpPr>
            <a:spLocks noGrp="1"/>
          </p:cNvSpPr>
          <p:nvPr>
            <p:ph type="body" idx="4"/>
          </p:nvPr>
        </p:nvSpPr>
        <p:spPr/>
        <p:txBody>
          <a:bodyPr wrap="square"/>
          <a:lstStyle/>
          <a:p>
            <a:pPr algn="ctr" indent="0" marL="0"/>
            <a:r>
              <a:rPr sz="1100" b="1" i="0">
                <a:solidFill>
                  <a:srgbClr val="1A1A1A"/>
                </a:solidFill>
                <a:latin typeface="Verdana"/>
              </a:rPr>
              <a:t>DIRECTION DE L'ENGAGEMENT, </a:t>
            </a:r>
            <a:r>
              <a:rPr sz="1100" b="0" i="1">
                <a:solidFill>
                  <a:srgbClr val="1A1A1A"/>
                </a:solidFill>
                <a:latin typeface="Verdana"/>
              </a:rPr>
              <a:t>CHEF DE PROJET</a:t>
            </a:r>
          </a:p>
        </p:txBody>
      </p:sp>
      <p:sp>
        <p:nvSpPr>
          <p:cNvPr id="6" name="Text Placeholder 5"/>
          <p:cNvSpPr>
            <a:spLocks noGrp="1"/>
          </p:cNvSpPr>
          <p:nvPr>
            <p:ph type="body" idx="5"/>
          </p:nvPr>
        </p:nvSpPr>
        <p:spPr/>
        <p:txBody>
          <a:bodyPr wrap="square"/>
          <a:lstStyle/>
          <a:p>
            <a:pPr algn="just" indent="0" marL="0">
              <a:lnSpc>
                <a:spcPct val="105000"/>
              </a:lnSpc>
            </a:pPr>
            <a:r>
              <a:rPr sz="950" b="0" i="0">
                <a:solidFill>
                  <a:srgbClr val="404041"/>
                </a:solidFill>
                <a:latin typeface="Verdana"/>
              </a:rPr>
              <a:t>Square Management est intervenu en tant que Directeur de projet chez NATIXIS CIB pour le cadrage du Target Operating Model (TOM) Data Management au sein du COO. L'objectif principal était de définir la nouvelle organisation et les méthodologies de Data Management, en capitalisant notamment sur les usages de l'Intelligence Artificielle (IA) et en soutenant les ambitions d'efficacité opérationnelle.</a:t>
            </a:r>
          </a:p>
        </p:txBody>
      </p:sp>
      <p:sp>
        <p:nvSpPr>
          <p:cNvPr id="7" name="Text Placeholder 6"/>
          <p:cNvSpPr>
            <a:spLocks noGrp="1"/>
          </p:cNvSpPr>
          <p:nvPr>
            <p:ph type="body" idx="6"/>
          </p:nvPr>
        </p:nvSpPr>
        <p:spPr/>
        <p:txBody>
          <a:bodyPr wrap="square"/>
          <a:lstStyle/>
          <a:p>
            <a:pPr algn="ctr" indent="0" marL="0"/>
            <a:r>
              <a:rPr sz="1100" b="1" i="0">
                <a:solidFill>
                  <a:srgbClr val="1A1A1A"/>
                </a:solidFill>
                <a:latin typeface="Verdana"/>
              </a:rPr>
              <a:t>COO NATIXIS CIB, </a:t>
            </a:r>
            <a:r>
              <a:rPr sz="1100" b="0" i="1">
                <a:solidFill>
                  <a:srgbClr val="1A1A1A"/>
                </a:solidFill>
                <a:latin typeface="Verdana"/>
              </a:rPr>
              <a:t>DIRECTEUR DE PROJET</a:t>
            </a:r>
          </a:p>
        </p:txBody>
      </p:sp>
      <p:sp>
        <p:nvSpPr>
          <p:cNvPr id="8" name="Text Placeholder 7"/>
          <p:cNvSpPr>
            <a:spLocks noGrp="1"/>
          </p:cNvSpPr>
          <p:nvPr>
            <p:ph type="body" idx="7"/>
          </p:nvPr>
        </p:nvSpPr>
        <p:spPr/>
        <p:txBody>
          <a:bodyPr wrap="square"/>
          <a:lstStyle/>
          <a:p>
            <a:pPr algn="just" indent="0" marL="0">
              <a:lnSpc>
                <a:spcPct val="105000"/>
              </a:lnSpc>
            </a:pPr>
            <a:r>
              <a:rPr sz="950" b="0" i="0">
                <a:solidFill>
                  <a:srgbClr val="404041"/>
                </a:solidFill>
                <a:latin typeface="Verdana"/>
              </a:rPr>
              <a:t>Square Management est intervenu en tant qu'Expert IA Générative au sein de la Direction Digital &amp; payments de BPCE SA, dans le contexte de développement de solutions d’IA générative pour les collaborateurs et les clients.</a:t>
            </a:r>
          </a:p>
        </p:txBody>
      </p:sp>
      <p:sp>
        <p:nvSpPr>
          <p:cNvPr id="9" name="Text Placeholder 8"/>
          <p:cNvSpPr>
            <a:spLocks noGrp="1"/>
          </p:cNvSpPr>
          <p:nvPr>
            <p:ph type="body" idx="8"/>
          </p:nvPr>
        </p:nvSpPr>
        <p:spPr/>
        <p:txBody>
          <a:bodyPr wrap="square"/>
          <a:lstStyle/>
          <a:p>
            <a:pPr algn="ctr" indent="0" marL="0"/>
            <a:r>
              <a:rPr sz="1000" b="1" i="0">
                <a:solidFill>
                  <a:srgbClr val="1A1A1A"/>
                </a:solidFill>
                <a:latin typeface="Verdana"/>
              </a:rPr>
              <a:t>DIRECTION DIGITAL &amp; PAYMENTS, </a:t>
            </a:r>
            <a:r>
              <a:rPr sz="1000" b="0" i="1">
                <a:solidFill>
                  <a:srgbClr val="1A1A1A"/>
                </a:solidFill>
                <a:latin typeface="Verdana"/>
              </a:rPr>
              <a:t>EXPERT IA GENERATIVE</a:t>
            </a:r>
          </a:p>
        </p:txBody>
      </p:sp>
      <p:sp>
        <p:nvSpPr>
          <p:cNvPr id="14" name="Title 13"/>
          <p:cNvSpPr>
            <a:spLocks noGrp="1"/>
          </p:cNvSpPr>
          <p:nvPr>
            <p:ph type="title"/>
          </p:nvPr>
        </p:nvSpPr>
        <p:spPr/>
        <p:txBody>
          <a:bodyPr/>
          <a:lstStyle/>
          <a:p>
            <a:r>
              <a:t>Références IA : Stratégie IT (1/8)</a:t>
            </a:r>
          </a:p>
        </p:txBody>
      </p:sp>
      <p:pic>
        <p:nvPicPr>
          <p:cNvPr id="15" name="Picture 14" descr="bpce.png"/>
          <p:cNvPicPr>
            <a:picLocks noChangeAspect="1"/>
          </p:cNvPicPr>
          <p:nvPr/>
        </p:nvPicPr>
        <p:blipFill>
          <a:blip r:embed="rId2"/>
          <a:stretch>
            <a:fillRect/>
          </a:stretch>
        </p:blipFill>
        <p:spPr>
          <a:xfrm>
            <a:off x="1901138" y="1275460"/>
            <a:ext cx="2198624" cy="804569"/>
          </a:xfrm>
          <a:prstGeom prst="rect">
            <a:avLst/>
          </a:prstGeom>
        </p:spPr>
      </p:pic>
      <p:pic>
        <p:nvPicPr>
          <p:cNvPr id="16" name="Picture 15" descr="natixis.png"/>
          <p:cNvPicPr>
            <a:picLocks noChangeAspect="1"/>
          </p:cNvPicPr>
          <p:nvPr/>
        </p:nvPicPr>
        <p:blipFill>
          <a:blip r:embed="rId3"/>
          <a:stretch>
            <a:fillRect/>
          </a:stretch>
        </p:blipFill>
        <p:spPr>
          <a:xfrm>
            <a:off x="7733188" y="1376274"/>
            <a:ext cx="2289652" cy="602941"/>
          </a:xfrm>
          <a:prstGeom prst="rect">
            <a:avLst/>
          </a:prstGeom>
        </p:spPr>
      </p:pic>
      <p:pic>
        <p:nvPicPr>
          <p:cNvPr id="17" name="Picture 16" descr="bnp_paribas.png"/>
          <p:cNvPicPr>
            <a:picLocks noChangeAspect="1"/>
          </p:cNvPicPr>
          <p:nvPr/>
        </p:nvPicPr>
        <p:blipFill>
          <a:blip r:embed="rId4"/>
          <a:stretch>
            <a:fillRect/>
          </a:stretch>
        </p:blipFill>
        <p:spPr>
          <a:xfrm>
            <a:off x="1855624" y="4025683"/>
            <a:ext cx="2289652" cy="728176"/>
          </a:xfrm>
          <a:prstGeom prst="rect">
            <a:avLst/>
          </a:prstGeom>
        </p:spPr>
      </p:pic>
      <p:pic>
        <p:nvPicPr>
          <p:cNvPr id="18" name="Picture 17" descr="bpce.png"/>
          <p:cNvPicPr>
            <a:picLocks noChangeAspect="1"/>
          </p:cNvPicPr>
          <p:nvPr/>
        </p:nvPicPr>
        <p:blipFill>
          <a:blip r:embed="rId2"/>
          <a:stretch>
            <a:fillRect/>
          </a:stretch>
        </p:blipFill>
        <p:spPr>
          <a:xfrm>
            <a:off x="7778702" y="3987487"/>
            <a:ext cx="2198624" cy="804569"/>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lgn="just" indent="0" marL="0">
              <a:lnSpc>
                <a:spcPct val="105000"/>
              </a:lnSpc>
            </a:pPr>
            <a:r>
              <a:rPr sz="950" b="0" i="0">
                <a:solidFill>
                  <a:srgbClr val="404041"/>
                </a:solidFill>
                <a:latin typeface="Verdana"/>
              </a:rPr>
              <a:t>Square Management est intervenu en tant que Model Advisor chez CREDIT AGRICOLE CIB, au sein de Global Markets Regulatory Compliance. La mission s'inscrivait dans le contexte de l'amélioration du cycle de vie des modèles de détection d'abus de marché pour préserver l'intégrité des marchés financiers.</a:t>
            </a:r>
          </a:p>
        </p:txBody>
      </p:sp>
      <p:sp>
        <p:nvSpPr>
          <p:cNvPr id="3" name="Text Placeholder 2"/>
          <p:cNvSpPr>
            <a:spLocks noGrp="1"/>
          </p:cNvSpPr>
          <p:nvPr>
            <p:ph type="body" idx="2"/>
          </p:nvPr>
        </p:nvSpPr>
        <p:spPr/>
        <p:txBody>
          <a:bodyPr wrap="square"/>
          <a:lstStyle/>
          <a:p>
            <a:pPr algn="ctr" indent="0" marL="0"/>
            <a:r>
              <a:rPr sz="1000" b="1" i="0">
                <a:solidFill>
                  <a:srgbClr val="1A1A1A"/>
                </a:solidFill>
                <a:latin typeface="Verdana"/>
              </a:rPr>
              <a:t>GLOBAL MARKETS REGULATORY COMPLIANCE, </a:t>
            </a:r>
            <a:r>
              <a:rPr sz="1000" b="0" i="1">
                <a:solidFill>
                  <a:srgbClr val="1A1A1A"/>
                </a:solidFill>
                <a:latin typeface="Verdana"/>
              </a:rPr>
              <a:t>MODEL ADVISOR</a:t>
            </a:r>
          </a:p>
        </p:txBody>
      </p:sp>
      <p:sp>
        <p:nvSpPr>
          <p:cNvPr id="4" name="Text Placeholder 3"/>
          <p:cNvSpPr>
            <a:spLocks noGrp="1"/>
          </p:cNvSpPr>
          <p:nvPr>
            <p:ph type="body" idx="3"/>
          </p:nvPr>
        </p:nvSpPr>
        <p:spPr/>
        <p:txBody>
          <a:bodyPr wrap="square"/>
          <a:lstStyle/>
          <a:p>
            <a:pPr algn="just" indent="0" marL="0">
              <a:lnSpc>
                <a:spcPct val="105000"/>
              </a:lnSpc>
            </a:pPr>
            <a:r>
              <a:rPr sz="950" b="0" i="0">
                <a:solidFill>
                  <a:srgbClr val="404041"/>
                </a:solidFill>
                <a:latin typeface="Verdana"/>
              </a:rPr>
              <a:t>Square Management est intervenu en tant que Data Steward au sein de la Direction Fonction Commerciale de la FDJ. Le contexte est celui de la professionnalisation de la FDJ sur la gouvernance des données, notamment via une direction data et IA, et l'accélération de la livraison de cas d’usage data science et IA.</a:t>
            </a:r>
          </a:p>
        </p:txBody>
      </p:sp>
      <p:sp>
        <p:nvSpPr>
          <p:cNvPr id="5" name="Text Placeholder 4"/>
          <p:cNvSpPr>
            <a:spLocks noGrp="1"/>
          </p:cNvSpPr>
          <p:nvPr>
            <p:ph type="body" idx="4"/>
          </p:nvPr>
        </p:nvSpPr>
        <p:spPr/>
        <p:txBody>
          <a:bodyPr wrap="square"/>
          <a:lstStyle/>
          <a:p>
            <a:pPr algn="ctr" indent="0" marL="0"/>
            <a:r>
              <a:rPr sz="1100" b="1" i="0">
                <a:solidFill>
                  <a:srgbClr val="1A1A1A"/>
                </a:solidFill>
                <a:latin typeface="Verdana"/>
              </a:rPr>
              <a:t>DIRECTION FONCTION COMMERCIAL, </a:t>
            </a:r>
            <a:r>
              <a:rPr sz="1100" b="0" i="1">
                <a:solidFill>
                  <a:srgbClr val="1A1A1A"/>
                </a:solidFill>
                <a:latin typeface="Verdana"/>
              </a:rPr>
              <a:t>DATA STEWARD</a:t>
            </a:r>
          </a:p>
        </p:txBody>
      </p:sp>
      <p:sp>
        <p:nvSpPr>
          <p:cNvPr id="6" name="Text Placeholder 5"/>
          <p:cNvSpPr>
            <a:spLocks noGrp="1"/>
          </p:cNvSpPr>
          <p:nvPr>
            <p:ph type="body" idx="5"/>
          </p:nvPr>
        </p:nvSpPr>
        <p:spPr/>
        <p:txBody>
          <a:bodyPr wrap="square"/>
          <a:lstStyle/>
          <a:p>
            <a:pPr algn="just" indent="0" marL="0">
              <a:lnSpc>
                <a:spcPct val="105000"/>
              </a:lnSpc>
            </a:pPr>
            <a:r>
              <a:rPr sz="950" b="0" i="0">
                <a:solidFill>
                  <a:srgbClr val="404041"/>
                </a:solidFill>
                <a:latin typeface="Verdana"/>
              </a:rPr>
              <a:t>Square Management est intervenu en tant que Data Steward au sein de la Direction Fonction Commerciale de la FDJ, dans un contexte de professionnalisation de la gouvernance de données et d'accélération des cas d'usage data science et IA. La mission vise notamment à garantir une base de données fiable pour les projets d'IA et Data Science.</a:t>
            </a:r>
          </a:p>
        </p:txBody>
      </p:sp>
      <p:sp>
        <p:nvSpPr>
          <p:cNvPr id="7" name="Text Placeholder 6"/>
          <p:cNvSpPr>
            <a:spLocks noGrp="1"/>
          </p:cNvSpPr>
          <p:nvPr>
            <p:ph type="body" idx="6"/>
          </p:nvPr>
        </p:nvSpPr>
        <p:spPr/>
        <p:txBody>
          <a:bodyPr wrap="square"/>
          <a:lstStyle/>
          <a:p>
            <a:pPr algn="ctr" indent="0" marL="0"/>
            <a:r>
              <a:rPr sz="1100" b="1" i="0">
                <a:solidFill>
                  <a:srgbClr val="1A1A1A"/>
                </a:solidFill>
                <a:latin typeface="Verdana"/>
              </a:rPr>
              <a:t>DIRECTION FONCTION COMMERCIAL, </a:t>
            </a:r>
            <a:r>
              <a:rPr sz="1100" b="0" i="1">
                <a:solidFill>
                  <a:srgbClr val="1A1A1A"/>
                </a:solidFill>
                <a:latin typeface="Verdana"/>
              </a:rPr>
              <a:t>DATA STEWARD</a:t>
            </a:r>
          </a:p>
        </p:txBody>
      </p:sp>
      <p:sp>
        <p:nvSpPr>
          <p:cNvPr id="8" name="Text Placeholder 7"/>
          <p:cNvSpPr>
            <a:spLocks noGrp="1"/>
          </p:cNvSpPr>
          <p:nvPr>
            <p:ph type="body" idx="7"/>
          </p:nvPr>
        </p:nvSpPr>
        <p:spPr/>
        <p:txBody>
          <a:bodyPr wrap="square"/>
          <a:lstStyle/>
          <a:p>
            <a:pPr algn="just" indent="0" marL="0">
              <a:lnSpc>
                <a:spcPct val="105000"/>
              </a:lnSpc>
            </a:pPr>
            <a:r>
              <a:rPr sz="950" b="0" i="0">
                <a:solidFill>
                  <a:srgbClr val="404041"/>
                </a:solidFill>
                <a:latin typeface="Verdana"/>
              </a:rPr>
              <a:t>Square Management est intervenu en tant qu'International CRM project Manager au sein de l'équipe Data &amp; AI de PARFUMS CHRISTIAN DIOR. Le contexte de la mission est de définir une stratégie d'activation client "data-driven" forte et immersive en s'appuyant sur les données et l'IA.</a:t>
            </a:r>
          </a:p>
        </p:txBody>
      </p:sp>
      <p:sp>
        <p:nvSpPr>
          <p:cNvPr id="9" name="Text Placeholder 8"/>
          <p:cNvSpPr>
            <a:spLocks noGrp="1"/>
          </p:cNvSpPr>
          <p:nvPr>
            <p:ph type="body" idx="8"/>
          </p:nvPr>
        </p:nvSpPr>
        <p:spPr/>
        <p:txBody>
          <a:bodyPr wrap="square"/>
          <a:lstStyle/>
          <a:p>
            <a:pPr algn="ctr" indent="0" marL="0"/>
            <a:r>
              <a:rPr sz="1000" b="1" i="0">
                <a:solidFill>
                  <a:srgbClr val="1A1A1A"/>
                </a:solidFill>
                <a:latin typeface="Verdana"/>
              </a:rPr>
              <a:t>EQUIPE DATA &amp; AI, </a:t>
            </a:r>
            <a:r>
              <a:rPr sz="1000" b="0" i="1">
                <a:solidFill>
                  <a:srgbClr val="1A1A1A"/>
                </a:solidFill>
                <a:latin typeface="Verdana"/>
              </a:rPr>
              <a:t>INTERNATIONAL CRM PROJECT MANAGER</a:t>
            </a:r>
          </a:p>
        </p:txBody>
      </p:sp>
      <p:sp>
        <p:nvSpPr>
          <p:cNvPr id="14" name="Title 13"/>
          <p:cNvSpPr>
            <a:spLocks noGrp="1"/>
          </p:cNvSpPr>
          <p:nvPr>
            <p:ph type="title"/>
          </p:nvPr>
        </p:nvSpPr>
        <p:spPr/>
        <p:txBody>
          <a:bodyPr/>
          <a:lstStyle/>
          <a:p>
            <a:r>
              <a:t>Références IA : Stratégie IT (2/8)</a:t>
            </a:r>
          </a:p>
        </p:txBody>
      </p:sp>
      <p:pic>
        <p:nvPicPr>
          <p:cNvPr id="15" name="Picture 14" descr="credit_agricole.png"/>
          <p:cNvPicPr>
            <a:picLocks noChangeAspect="1"/>
          </p:cNvPicPr>
          <p:nvPr/>
        </p:nvPicPr>
        <p:blipFill>
          <a:blip r:embed="rId2"/>
          <a:stretch>
            <a:fillRect/>
          </a:stretch>
        </p:blipFill>
        <p:spPr>
          <a:xfrm>
            <a:off x="2422590" y="1275460"/>
            <a:ext cx="1155720" cy="804569"/>
          </a:xfrm>
          <a:prstGeom prst="rect">
            <a:avLst/>
          </a:prstGeom>
        </p:spPr>
      </p:pic>
      <p:pic>
        <p:nvPicPr>
          <p:cNvPr id="16" name="Picture 15" descr="fdj.png"/>
          <p:cNvPicPr>
            <a:picLocks noChangeAspect="1"/>
          </p:cNvPicPr>
          <p:nvPr/>
        </p:nvPicPr>
        <p:blipFill>
          <a:blip r:embed="rId3"/>
          <a:stretch>
            <a:fillRect/>
          </a:stretch>
        </p:blipFill>
        <p:spPr>
          <a:xfrm>
            <a:off x="7738801" y="1275460"/>
            <a:ext cx="2278425" cy="804569"/>
          </a:xfrm>
          <a:prstGeom prst="rect">
            <a:avLst/>
          </a:prstGeom>
        </p:spPr>
      </p:pic>
      <p:pic>
        <p:nvPicPr>
          <p:cNvPr id="17" name="Picture 16" descr="fdj.png"/>
          <p:cNvPicPr>
            <a:picLocks noChangeAspect="1"/>
          </p:cNvPicPr>
          <p:nvPr/>
        </p:nvPicPr>
        <p:blipFill>
          <a:blip r:embed="rId3"/>
          <a:stretch>
            <a:fillRect/>
          </a:stretch>
        </p:blipFill>
        <p:spPr>
          <a:xfrm>
            <a:off x="1861237" y="3987487"/>
            <a:ext cx="2278425" cy="804569"/>
          </a:xfrm>
          <a:prstGeom prst="rect">
            <a:avLst/>
          </a:prstGeom>
        </p:spPr>
      </p:pic>
      <p:pic>
        <p:nvPicPr>
          <p:cNvPr id="18" name="Picture 17" descr="dior.png"/>
          <p:cNvPicPr>
            <a:picLocks noChangeAspect="1"/>
          </p:cNvPicPr>
          <p:nvPr/>
        </p:nvPicPr>
        <p:blipFill>
          <a:blip r:embed="rId4"/>
          <a:stretch>
            <a:fillRect/>
          </a:stretch>
        </p:blipFill>
        <p:spPr>
          <a:xfrm>
            <a:off x="7890588" y="3987487"/>
            <a:ext cx="1974851" cy="804569"/>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lgn="just" indent="0" marL="0">
              <a:lnSpc>
                <a:spcPct val="105000"/>
              </a:lnSpc>
            </a:pPr>
            <a:r>
              <a:rPr sz="950" b="0" i="0">
                <a:solidFill>
                  <a:srgbClr val="404041"/>
                </a:solidFill>
                <a:latin typeface="Verdana"/>
              </a:rPr>
              <a:t>Square Management est intervenu en tant que PORTFOLIO MANAGER FRANCE chez SCALE AI, une infrastructure critique pour l'Intelligence Artificielle Générative. Le contexte de la mission était l'hypercroissance et l'amélioration de la qualité linguistique pour un modèle d'IA générative, visant la précision et la conformité aux standards européens.</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DSI, </a:t>
            </a:r>
            <a:r>
              <a:rPr sz="1100" b="0" i="1">
                <a:solidFill>
                  <a:srgbClr val="1A1A1A"/>
                </a:solidFill>
                <a:latin typeface="Verdana"/>
              </a:rPr>
              <a:t>PORTFOLIO MANAGER FRANCE</a:t>
            </a:r>
          </a:p>
        </p:txBody>
      </p:sp>
      <p:sp>
        <p:nvSpPr>
          <p:cNvPr id="4" name="Text Placeholder 3"/>
          <p:cNvSpPr>
            <a:spLocks noGrp="1"/>
          </p:cNvSpPr>
          <p:nvPr>
            <p:ph type="body" idx="3"/>
          </p:nvPr>
        </p:nvSpPr>
        <p:spPr/>
        <p:txBody>
          <a:bodyPr wrap="square"/>
          <a:lstStyle/>
          <a:p>
            <a:pPr algn="just" indent="0" marL="0">
              <a:lnSpc>
                <a:spcPct val="105000"/>
              </a:lnSpc>
            </a:pPr>
            <a:r>
              <a:rPr sz="950" b="0" i="0">
                <a:solidFill>
                  <a:srgbClr val="404041"/>
                </a:solidFill>
                <a:latin typeface="Verdana"/>
              </a:rPr>
              <a:t>Square Management est intervenu en tant que Directeur de transformation au sein de la DSI de TDF, dans le cadre de la reprise de la direction de la transformation digitale. La mission comprenait notamment l'implémentation de solutions d'IA sur mesure visant à optimiser les processus métiers.</a:t>
            </a:r>
          </a:p>
        </p:txBody>
      </p:sp>
      <p:sp>
        <p:nvSpPr>
          <p:cNvPr id="5" name="Text Placeholder 4"/>
          <p:cNvSpPr>
            <a:spLocks noGrp="1"/>
          </p:cNvSpPr>
          <p:nvPr>
            <p:ph type="body" idx="4"/>
          </p:nvPr>
        </p:nvSpPr>
        <p:spPr/>
        <p:txBody>
          <a:bodyPr wrap="square"/>
          <a:lstStyle/>
          <a:p>
            <a:pPr algn="ctr" indent="0" marL="0"/>
            <a:r>
              <a:rPr sz="1100" b="1" i="0">
                <a:solidFill>
                  <a:srgbClr val="1A1A1A"/>
                </a:solidFill>
                <a:latin typeface="Verdana"/>
              </a:rPr>
              <a:t>DSI, </a:t>
            </a:r>
            <a:r>
              <a:rPr sz="1100" b="0" i="1">
                <a:solidFill>
                  <a:srgbClr val="1A1A1A"/>
                </a:solidFill>
                <a:latin typeface="Verdana"/>
              </a:rPr>
              <a:t>DIRECTEUR DE TRANSFORMATION</a:t>
            </a:r>
          </a:p>
        </p:txBody>
      </p:sp>
      <p:sp>
        <p:nvSpPr>
          <p:cNvPr id="6" name="Text Placeholder 5"/>
          <p:cNvSpPr>
            <a:spLocks noGrp="1"/>
          </p:cNvSpPr>
          <p:nvPr>
            <p:ph type="body" idx="5"/>
          </p:nvPr>
        </p:nvSpPr>
        <p:spPr/>
        <p:txBody>
          <a:bodyPr wrap="square"/>
          <a:lstStyle/>
          <a:p>
            <a:pPr algn="just" indent="0" marL="0">
              <a:lnSpc>
                <a:spcPct val="105000"/>
              </a:lnSpc>
            </a:pPr>
            <a:r>
              <a:rPr sz="950" b="0" i="0">
                <a:solidFill>
                  <a:srgbClr val="404041"/>
                </a:solidFill>
                <a:latin typeface="Verdana"/>
              </a:rPr>
              <a:t>Square Management est intervenu en tant que Data scientist au sein du pôle d’architecture technique de la DSI de SOCIETE GENERALE, pour développer des solutions innovantes d'aide à la décision. Le rôle a impliqué la conception et le développement de solutions d’Intelligence Artificielle basées principalement sur les LLMs (Large Language Models), en collaboration avec les métiers.</a:t>
            </a:r>
          </a:p>
        </p:txBody>
      </p:sp>
      <p:sp>
        <p:nvSpPr>
          <p:cNvPr id="7" name="Text Placeholder 6"/>
          <p:cNvSpPr>
            <a:spLocks noGrp="1"/>
          </p:cNvSpPr>
          <p:nvPr>
            <p:ph type="body" idx="6"/>
          </p:nvPr>
        </p:nvSpPr>
        <p:spPr/>
        <p:txBody>
          <a:bodyPr wrap="square"/>
          <a:lstStyle/>
          <a:p>
            <a:pPr algn="ctr" indent="0" marL="0"/>
            <a:r>
              <a:rPr sz="1100" b="1" i="0">
                <a:solidFill>
                  <a:srgbClr val="1A1A1A"/>
                </a:solidFill>
                <a:latin typeface="Verdana"/>
              </a:rPr>
              <a:t>DSI, </a:t>
            </a:r>
            <a:r>
              <a:rPr sz="1100" b="0" i="1">
                <a:solidFill>
                  <a:srgbClr val="1A1A1A"/>
                </a:solidFill>
                <a:latin typeface="Verdana"/>
              </a:rPr>
              <a:t>DATA SCIENTIST</a:t>
            </a:r>
          </a:p>
        </p:txBody>
      </p:sp>
      <p:sp>
        <p:nvSpPr>
          <p:cNvPr id="8" name="Text Placeholder 7"/>
          <p:cNvSpPr>
            <a:spLocks noGrp="1"/>
          </p:cNvSpPr>
          <p:nvPr>
            <p:ph type="body" idx="7"/>
          </p:nvPr>
        </p:nvSpPr>
        <p:spPr/>
        <p:txBody>
          <a:bodyPr wrap="square"/>
          <a:lstStyle/>
          <a:p>
            <a:pPr algn="just" indent="0" marL="0">
              <a:lnSpc>
                <a:spcPct val="105000"/>
              </a:lnSpc>
            </a:pPr>
            <a:r>
              <a:rPr sz="950" b="0" i="0">
                <a:solidFill>
                  <a:srgbClr val="404041"/>
                </a:solidFill>
                <a:latin typeface="Verdana"/>
              </a:rPr>
              <a:t>Square Management est intervenu en tant qu'Experte IA (NLP - LLMs) auprès de BALOISE ASSURANCES, dans le cadre d'une expérimentation visant à déployer des outils d'IA générative sur Azure. L'intervention a également inclus le développement d'un outil flexible pour l'estimation des coûts des modèles RAG sur Azure.</a:t>
            </a:r>
          </a:p>
        </p:txBody>
      </p:sp>
      <p:sp>
        <p:nvSpPr>
          <p:cNvPr id="9" name="Text Placeholder 8"/>
          <p:cNvSpPr>
            <a:spLocks noGrp="1"/>
          </p:cNvSpPr>
          <p:nvPr>
            <p:ph type="body" idx="8"/>
          </p:nvPr>
        </p:nvSpPr>
        <p:spPr/>
        <p:txBody>
          <a:bodyPr wrap="square"/>
          <a:lstStyle/>
          <a:p>
            <a:pPr algn="ctr" indent="0" marL="0"/>
            <a:r>
              <a:rPr sz="1100" b="1" i="0">
                <a:solidFill>
                  <a:srgbClr val="1A1A1A"/>
                </a:solidFill>
                <a:latin typeface="Verdana"/>
              </a:rPr>
              <a:t>INNOVATION, </a:t>
            </a:r>
            <a:r>
              <a:rPr sz="1100" b="0" i="1">
                <a:solidFill>
                  <a:srgbClr val="1A1A1A"/>
                </a:solidFill>
                <a:latin typeface="Verdana"/>
              </a:rPr>
              <a:t>EXPERTE IA</a:t>
            </a:r>
          </a:p>
        </p:txBody>
      </p:sp>
      <p:sp>
        <p:nvSpPr>
          <p:cNvPr id="14" name="Title 13"/>
          <p:cNvSpPr>
            <a:spLocks noGrp="1"/>
          </p:cNvSpPr>
          <p:nvPr>
            <p:ph type="title"/>
          </p:nvPr>
        </p:nvSpPr>
        <p:spPr/>
        <p:txBody>
          <a:bodyPr/>
          <a:lstStyle/>
          <a:p>
            <a:r>
              <a:t>Références IA : Stratégie IT (3/8)</a:t>
            </a:r>
          </a:p>
        </p:txBody>
      </p:sp>
      <p:pic>
        <p:nvPicPr>
          <p:cNvPr id="15" name="Picture 14" descr="scale_ai.png"/>
          <p:cNvPicPr>
            <a:picLocks noChangeAspect="1"/>
          </p:cNvPicPr>
          <p:nvPr/>
        </p:nvPicPr>
        <p:blipFill>
          <a:blip r:embed="rId2"/>
          <a:stretch>
            <a:fillRect/>
          </a:stretch>
        </p:blipFill>
        <p:spPr>
          <a:xfrm>
            <a:off x="1855624" y="1309254"/>
            <a:ext cx="2289652" cy="736981"/>
          </a:xfrm>
          <a:prstGeom prst="rect">
            <a:avLst/>
          </a:prstGeom>
        </p:spPr>
      </p:pic>
      <p:pic>
        <p:nvPicPr>
          <p:cNvPr id="16" name="Picture 15" descr="societe_generale.png"/>
          <p:cNvPicPr>
            <a:picLocks noChangeAspect="1"/>
          </p:cNvPicPr>
          <p:nvPr/>
        </p:nvPicPr>
        <p:blipFill>
          <a:blip r:embed="rId3"/>
          <a:stretch>
            <a:fillRect/>
          </a:stretch>
        </p:blipFill>
        <p:spPr>
          <a:xfrm>
            <a:off x="7733188" y="1416581"/>
            <a:ext cx="2289652" cy="522326"/>
          </a:xfrm>
          <a:prstGeom prst="rect">
            <a:avLst/>
          </a:prstGeom>
        </p:spPr>
      </p:pic>
      <p:pic>
        <p:nvPicPr>
          <p:cNvPr id="17" name="Picture 16" descr="tdf.png"/>
          <p:cNvPicPr>
            <a:picLocks noChangeAspect="1"/>
          </p:cNvPicPr>
          <p:nvPr/>
        </p:nvPicPr>
        <p:blipFill>
          <a:blip r:embed="rId4"/>
          <a:stretch>
            <a:fillRect/>
          </a:stretch>
        </p:blipFill>
        <p:spPr>
          <a:xfrm>
            <a:off x="2636102" y="3987487"/>
            <a:ext cx="728696" cy="804569"/>
          </a:xfrm>
          <a:prstGeom prst="rect">
            <a:avLst/>
          </a:prstGeom>
        </p:spPr>
      </p:pic>
      <p:pic>
        <p:nvPicPr>
          <p:cNvPr id="18" name="Picture 17" descr="baloise.png"/>
          <p:cNvPicPr>
            <a:picLocks noChangeAspect="1"/>
          </p:cNvPicPr>
          <p:nvPr/>
        </p:nvPicPr>
        <p:blipFill>
          <a:blip r:embed="rId5"/>
          <a:stretch>
            <a:fillRect/>
          </a:stretch>
        </p:blipFill>
        <p:spPr>
          <a:xfrm>
            <a:off x="7733188" y="4065486"/>
            <a:ext cx="2289652" cy="64857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lgn="just" indent="0" marL="0">
              <a:lnSpc>
                <a:spcPct val="105000"/>
              </a:lnSpc>
            </a:pPr>
            <a:r>
              <a:rPr sz="950" b="0" i="0">
                <a:solidFill>
                  <a:srgbClr val="404041"/>
                </a:solidFill>
                <a:latin typeface="Verdana"/>
              </a:rPr>
              <a:t>Square Management est intervenu en tant qu'Experte Datascientist IA et NLP/ LLM auprès de BCA EXPERTISE (Institut Etudes Statistiques). Le rôle a consisté à mettre en place, en binôme, un LLM (Large Language Model) pour effectuer ce travail de traduction. L'objectif était de développer une solution d'intelligence artificielle performante pour automatiser et sécuriser cette étape.</a:t>
            </a:r>
          </a:p>
        </p:txBody>
      </p:sp>
      <p:sp>
        <p:nvSpPr>
          <p:cNvPr id="3" name="Text Placeholder 2"/>
          <p:cNvSpPr>
            <a:spLocks noGrp="1"/>
          </p:cNvSpPr>
          <p:nvPr>
            <p:ph type="body" idx="2"/>
          </p:nvPr>
        </p:nvSpPr>
        <p:spPr/>
        <p:txBody>
          <a:bodyPr wrap="square"/>
          <a:lstStyle/>
          <a:p>
            <a:pPr algn="ctr" indent="0" marL="0"/>
            <a:r>
              <a:rPr sz="1000" b="1" i="0">
                <a:solidFill>
                  <a:srgbClr val="1A1A1A"/>
                </a:solidFill>
                <a:latin typeface="Verdana"/>
              </a:rPr>
              <a:t>INSTITUT ETUDES STATISTIQUES, </a:t>
            </a:r>
            <a:r>
              <a:rPr sz="1000" b="0" i="1">
                <a:solidFill>
                  <a:srgbClr val="1A1A1A"/>
                </a:solidFill>
                <a:latin typeface="Verdana"/>
              </a:rPr>
              <a:t>EXPERTE DATASCIENTIST IA ET NLP/ LLM</a:t>
            </a:r>
          </a:p>
        </p:txBody>
      </p:sp>
      <p:sp>
        <p:nvSpPr>
          <p:cNvPr id="4" name="Text Placeholder 3"/>
          <p:cNvSpPr>
            <a:spLocks noGrp="1"/>
          </p:cNvSpPr>
          <p:nvPr>
            <p:ph type="body" idx="3"/>
          </p:nvPr>
        </p:nvSpPr>
        <p:spPr/>
        <p:txBody>
          <a:bodyPr wrap="square"/>
          <a:lstStyle/>
          <a:p>
            <a:pPr algn="just" indent="0" marL="0">
              <a:lnSpc>
                <a:spcPct val="105000"/>
              </a:lnSpc>
            </a:pPr>
            <a:r>
              <a:rPr sz="950" b="0" i="0">
                <a:solidFill>
                  <a:srgbClr val="404041"/>
                </a:solidFill>
                <a:latin typeface="Verdana"/>
              </a:rPr>
              <a:t>Square Management est intervenu en tant que Consultant en gestion de l'Innovation auprès du Pôle Innovation. Le contexte de la mission était le cadrage d'une nouvelle démarche d’exploration technologique visant à évaluer le potentiel de création de valeur de l’Intelligence Artificielle, notamment de l’IA générative.</a:t>
            </a:r>
          </a:p>
        </p:txBody>
      </p:sp>
      <p:sp>
        <p:nvSpPr>
          <p:cNvPr id="5" name="Text Placeholder 4"/>
          <p:cNvSpPr>
            <a:spLocks noGrp="1"/>
          </p:cNvSpPr>
          <p:nvPr>
            <p:ph type="body" idx="4"/>
          </p:nvPr>
        </p:nvSpPr>
        <p:spPr/>
        <p:txBody>
          <a:bodyPr wrap="square"/>
          <a:lstStyle/>
          <a:p>
            <a:pPr algn="ctr" indent="0" marL="0"/>
            <a:r>
              <a:rPr sz="1000" b="1" i="0">
                <a:solidFill>
                  <a:srgbClr val="1A1A1A"/>
                </a:solidFill>
                <a:latin typeface="Verdana"/>
              </a:rPr>
              <a:t>IT, PÔLE INNOVATION, </a:t>
            </a:r>
            <a:r>
              <a:rPr sz="1000" b="0" i="1">
                <a:solidFill>
                  <a:srgbClr val="1A1A1A"/>
                </a:solidFill>
                <a:latin typeface="Verdana"/>
              </a:rPr>
              <a:t>CONSULTANT EN GESTION DE L'INNOVATION</a:t>
            </a:r>
          </a:p>
        </p:txBody>
      </p:sp>
      <p:sp>
        <p:nvSpPr>
          <p:cNvPr id="6" name="Text Placeholder 5"/>
          <p:cNvSpPr>
            <a:spLocks noGrp="1"/>
          </p:cNvSpPr>
          <p:nvPr>
            <p:ph type="body" idx="5"/>
          </p:nvPr>
        </p:nvSpPr>
        <p:spPr/>
        <p:txBody>
          <a:bodyPr wrap="square"/>
          <a:lstStyle/>
          <a:p>
            <a:pPr algn="just" indent="0" marL="0">
              <a:lnSpc>
                <a:spcPct val="105000"/>
              </a:lnSpc>
            </a:pPr>
            <a:r>
              <a:rPr sz="950" b="0" i="0">
                <a:solidFill>
                  <a:srgbClr val="404041"/>
                </a:solidFill>
                <a:latin typeface="Verdana"/>
              </a:rPr>
              <a:t>Square Management est intervenu en tant qu'Experte IA - NLP - LLMs auprès de BCA EXPERTISE pour un projet visant à automatiser le matching des factures de réparation automobile avec un référentiel de pièces. Le contexte est l'amélioration de l'efficacité et de la précision d'un processus manuel, chronophage et sujet aux erreurs.</a:t>
            </a:r>
          </a:p>
        </p:txBody>
      </p:sp>
      <p:sp>
        <p:nvSpPr>
          <p:cNvPr id="7" name="Text Placeholder 6"/>
          <p:cNvSpPr>
            <a:spLocks noGrp="1"/>
          </p:cNvSpPr>
          <p:nvPr>
            <p:ph type="body" idx="6"/>
          </p:nvPr>
        </p:nvSpPr>
        <p:spPr/>
        <p:txBody>
          <a:bodyPr wrap="square"/>
          <a:lstStyle/>
          <a:p>
            <a:pPr algn="ctr" indent="0" marL="0"/>
            <a:r>
              <a:rPr sz="1000" b="1" i="0">
                <a:solidFill>
                  <a:srgbClr val="1A1A1A"/>
                </a:solidFill>
                <a:latin typeface="Verdana"/>
              </a:rPr>
              <a:t>INSTITUT ETUDES STATISTIQUES, </a:t>
            </a:r>
            <a:r>
              <a:rPr sz="1000" b="0" i="1">
                <a:solidFill>
                  <a:srgbClr val="1A1A1A"/>
                </a:solidFill>
                <a:latin typeface="Verdana"/>
              </a:rPr>
              <a:t>EXPERTE IA - NLP - LLMS</a:t>
            </a:r>
          </a:p>
        </p:txBody>
      </p:sp>
      <p:sp>
        <p:nvSpPr>
          <p:cNvPr id="8" name="Text Placeholder 7"/>
          <p:cNvSpPr>
            <a:spLocks noGrp="1"/>
          </p:cNvSpPr>
          <p:nvPr>
            <p:ph type="body" idx="7"/>
          </p:nvPr>
        </p:nvSpPr>
        <p:spPr/>
        <p:txBody>
          <a:bodyPr wrap="square"/>
          <a:lstStyle/>
          <a:p>
            <a:pPr algn="just" indent="0" marL="0">
              <a:lnSpc>
                <a:spcPct val="105000"/>
              </a:lnSpc>
            </a:pPr>
            <a:r>
              <a:rPr sz="950" b="0" i="0">
                <a:solidFill>
                  <a:srgbClr val="404041"/>
                </a:solidFill>
                <a:latin typeface="Verdana"/>
              </a:rPr>
              <a:t>Square Management est intervenu en tant qu'Expert. Le contexte était de cadrer une nouvelle démarche d'exploration technologique visant à identifier le potentiel de création de valeur de l'Intelligence Artificielle, notamment l'IA générative, dans une optique de "design-to-save" pour "Innover à l’IT pour gagner 20 %".</a:t>
            </a:r>
          </a:p>
        </p:txBody>
      </p:sp>
      <p:sp>
        <p:nvSpPr>
          <p:cNvPr id="9" name="Text Placeholder 8"/>
          <p:cNvSpPr>
            <a:spLocks noGrp="1"/>
          </p:cNvSpPr>
          <p:nvPr>
            <p:ph type="body" idx="8"/>
          </p:nvPr>
        </p:nvSpPr>
        <p:spPr/>
        <p:txBody>
          <a:bodyPr wrap="square"/>
          <a:lstStyle/>
          <a:p>
            <a:pPr algn="ctr" indent="0" marL="0"/>
            <a:r>
              <a:rPr sz="900" b="1" i="0">
                <a:solidFill>
                  <a:srgbClr val="1A1A1A"/>
                </a:solidFill>
                <a:latin typeface="Verdana"/>
              </a:rPr>
              <a:t>DIRECTEUR DU POLE INNOVATION IT, PÔLE INNOVATION IT, </a:t>
            </a:r>
            <a:r>
              <a:rPr sz="900" b="0" i="1">
                <a:solidFill>
                  <a:srgbClr val="1A1A1A"/>
                </a:solidFill>
                <a:latin typeface="Verdana"/>
              </a:rPr>
              <a:t>EXPERT EN GESTION DE L'INNOVATION</a:t>
            </a:r>
          </a:p>
        </p:txBody>
      </p:sp>
      <p:sp>
        <p:nvSpPr>
          <p:cNvPr id="10" name="Text Placeholder 9"/>
          <p:cNvSpPr>
            <a:spLocks noGrp="1"/>
          </p:cNvSpPr>
          <p:nvPr>
            <p:ph type="body" idx="9"/>
          </p:nvPr>
        </p:nvSpPr>
        <p:spPr/>
        <p:txBody>
          <a:bodyPr wrap="square" anchor="ctr"/>
          <a:lstStyle/>
          <a:p>
            <a:pPr algn="ctr" indent="0" marL="0"/>
            <a:r>
              <a:rPr sz="1400" b="1" i="0">
                <a:solidFill>
                  <a:srgbClr val="1A1A1A"/>
                </a:solidFill>
                <a:latin typeface="Verdana"/>
              </a:rPr>
              <a:t>BCA EXPERTISE</a:t>
            </a:r>
          </a:p>
        </p:txBody>
      </p:sp>
      <p:sp>
        <p:nvSpPr>
          <p:cNvPr id="12" name="Text Placeholder 11"/>
          <p:cNvSpPr>
            <a:spLocks noGrp="1"/>
          </p:cNvSpPr>
          <p:nvPr>
            <p:ph type="body" idx="14"/>
          </p:nvPr>
        </p:nvSpPr>
        <p:spPr/>
        <p:txBody>
          <a:bodyPr wrap="square" anchor="ctr"/>
          <a:lstStyle/>
          <a:p>
            <a:pPr algn="ctr" indent="0" marL="0"/>
            <a:r>
              <a:rPr sz="1400" b="1" i="0">
                <a:solidFill>
                  <a:srgbClr val="1A1A1A"/>
                </a:solidFill>
                <a:latin typeface="Verdana"/>
              </a:rPr>
              <a:t>BCA EXPERTISE</a:t>
            </a:r>
          </a:p>
        </p:txBody>
      </p:sp>
      <p:sp>
        <p:nvSpPr>
          <p:cNvPr id="14" name="Title 13"/>
          <p:cNvSpPr>
            <a:spLocks noGrp="1"/>
          </p:cNvSpPr>
          <p:nvPr>
            <p:ph type="title"/>
          </p:nvPr>
        </p:nvSpPr>
        <p:spPr/>
        <p:txBody>
          <a:bodyPr/>
          <a:lstStyle/>
          <a:p>
            <a:r>
              <a:t>Références IA : Stratégie IT (4/8)</a:t>
            </a:r>
          </a:p>
        </p:txBody>
      </p:sp>
      <p:pic>
        <p:nvPicPr>
          <p:cNvPr id="15" name="Picture 14" descr="bnp_paribas.png"/>
          <p:cNvPicPr>
            <a:picLocks noChangeAspect="1"/>
          </p:cNvPicPr>
          <p:nvPr/>
        </p:nvPicPr>
        <p:blipFill>
          <a:blip r:embed="rId2"/>
          <a:stretch>
            <a:fillRect/>
          </a:stretch>
        </p:blipFill>
        <p:spPr>
          <a:xfrm>
            <a:off x="1855624" y="4025683"/>
            <a:ext cx="2289652" cy="728176"/>
          </a:xfrm>
          <a:prstGeom prst="rect">
            <a:avLst/>
          </a:prstGeom>
        </p:spPr>
      </p:pic>
      <p:pic>
        <p:nvPicPr>
          <p:cNvPr id="16" name="Picture 15" descr="bnp_paribas.png"/>
          <p:cNvPicPr>
            <a:picLocks noChangeAspect="1"/>
          </p:cNvPicPr>
          <p:nvPr/>
        </p:nvPicPr>
        <p:blipFill>
          <a:blip r:embed="rId2"/>
          <a:stretch>
            <a:fillRect/>
          </a:stretch>
        </p:blipFill>
        <p:spPr>
          <a:xfrm>
            <a:off x="7733188" y="4025683"/>
            <a:ext cx="2289652" cy="72817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lgn="just" indent="0" marL="0">
              <a:lnSpc>
                <a:spcPct val="105000"/>
              </a:lnSpc>
            </a:pPr>
            <a:r>
              <a:rPr sz="950" b="0" i="0">
                <a:solidFill>
                  <a:srgbClr val="404041"/>
                </a:solidFill>
                <a:latin typeface="Verdana"/>
              </a:rPr>
              <a:t>Square Management est intervenu en tant que Data Scientist auprès de l'INSEP (Unité Développement et Innovation). La mission, intitulée "IA vision par ordinateur", visait à développer un système de détection automatique des coups de badminton (amorti, relance, smash) à partir de vidéos de matchs. Ce travail impliquait une coordination régulière avec les coachs pour ajuster le modèle.</a:t>
            </a:r>
          </a:p>
        </p:txBody>
      </p:sp>
      <p:sp>
        <p:nvSpPr>
          <p:cNvPr id="3" name="Text Placeholder 2"/>
          <p:cNvSpPr>
            <a:spLocks noGrp="1"/>
          </p:cNvSpPr>
          <p:nvPr>
            <p:ph type="body" idx="2"/>
          </p:nvPr>
        </p:nvSpPr>
        <p:spPr/>
        <p:txBody>
          <a:bodyPr wrap="square"/>
          <a:lstStyle/>
          <a:p>
            <a:pPr algn="ctr" indent="0" marL="0"/>
            <a:r>
              <a:rPr sz="1000" b="1" i="0">
                <a:solidFill>
                  <a:srgbClr val="1A1A1A"/>
                </a:solidFill>
                <a:latin typeface="Verdana"/>
              </a:rPr>
              <a:t>UNITÉ DÉVELOPPEMENT ET INNOVATION, </a:t>
            </a:r>
            <a:r>
              <a:rPr sz="1000" b="0" i="1">
                <a:solidFill>
                  <a:srgbClr val="1A1A1A"/>
                </a:solidFill>
                <a:latin typeface="Verdana"/>
              </a:rPr>
              <a:t>DATA SCIENTIST</a:t>
            </a:r>
          </a:p>
        </p:txBody>
      </p:sp>
      <p:sp>
        <p:nvSpPr>
          <p:cNvPr id="4" name="Text Placeholder 3"/>
          <p:cNvSpPr>
            <a:spLocks noGrp="1"/>
          </p:cNvSpPr>
          <p:nvPr>
            <p:ph type="body" idx="3"/>
          </p:nvPr>
        </p:nvSpPr>
        <p:spPr/>
        <p:txBody>
          <a:bodyPr wrap="square"/>
          <a:lstStyle/>
          <a:p>
            <a:pPr algn="just" indent="0" marL="0">
              <a:lnSpc>
                <a:spcPct val="105000"/>
              </a:lnSpc>
            </a:pPr>
            <a:r>
              <a:rPr sz="950" b="0" i="0">
                <a:solidFill>
                  <a:srgbClr val="404041"/>
                </a:solidFill>
                <a:latin typeface="Verdana"/>
              </a:rPr>
              <a:t>Square Management est intervenu en tant que Speaker IA &amp; Management de l'innovation auprès de la direction (PDG, COMEX, AG) du groupe MNCAP.</a:t>
            </a:r>
          </a:p>
        </p:txBody>
      </p:sp>
      <p:sp>
        <p:nvSpPr>
          <p:cNvPr id="5" name="Text Placeholder 4"/>
          <p:cNvSpPr>
            <a:spLocks noGrp="1"/>
          </p:cNvSpPr>
          <p:nvPr>
            <p:ph type="body" idx="4"/>
          </p:nvPr>
        </p:nvSpPr>
        <p:spPr/>
        <p:txBody>
          <a:bodyPr wrap="square"/>
          <a:lstStyle/>
          <a:p>
            <a:pPr algn="ctr" indent="0" marL="0"/>
            <a:r>
              <a:rPr sz="900" b="1" i="0">
                <a:solidFill>
                  <a:srgbClr val="1A1A1A"/>
                </a:solidFill>
                <a:latin typeface="Verdana"/>
              </a:rPr>
              <a:t>PDG, COMEX &amp; ASSEMBLÉE GÉNÉRALE DU GROUPE MNCAP, </a:t>
            </a:r>
            <a:r>
              <a:rPr sz="900" b="0" i="1">
                <a:solidFill>
                  <a:srgbClr val="1A1A1A"/>
                </a:solidFill>
                <a:latin typeface="Verdana"/>
              </a:rPr>
              <a:t>SPEAKER IA &amp; MANAGEMENT DE  L'INNOVATION</a:t>
            </a:r>
          </a:p>
        </p:txBody>
      </p:sp>
      <p:sp>
        <p:nvSpPr>
          <p:cNvPr id="6" name="Text Placeholder 5"/>
          <p:cNvSpPr>
            <a:spLocks noGrp="1"/>
          </p:cNvSpPr>
          <p:nvPr>
            <p:ph type="body" idx="5"/>
          </p:nvPr>
        </p:nvSpPr>
        <p:spPr/>
        <p:txBody>
          <a:bodyPr wrap="square"/>
          <a:lstStyle/>
          <a:p>
            <a:pPr algn="just" indent="0" marL="0">
              <a:lnSpc>
                <a:spcPct val="105000"/>
              </a:lnSpc>
            </a:pPr>
            <a:r>
              <a:rPr sz="950" b="0" i="0">
                <a:solidFill>
                  <a:srgbClr val="404041"/>
                </a:solidFill>
                <a:latin typeface="Verdana"/>
              </a:rPr>
              <a:t>Square Management est intervenu en tant que PMO Data &amp; acculturation à l'IA Gen au sein de la Direction DATA-IA de La Poste BGPN, qui lance son Train Agile pour développer des projets d'IA générative. Le rôle a consisté à développer le nouveau Train Agile, gérer le portefeuille projets Data-IA, et organiser l'acculturation des équipes à l'IA Générative (fonctionnement LLM, outils, enjeux, risques, réglementations).</a:t>
            </a:r>
          </a:p>
        </p:txBody>
      </p:sp>
      <p:sp>
        <p:nvSpPr>
          <p:cNvPr id="7" name="Text Placeholder 6"/>
          <p:cNvSpPr>
            <a:spLocks noGrp="1"/>
          </p:cNvSpPr>
          <p:nvPr>
            <p:ph type="body" idx="6"/>
          </p:nvPr>
        </p:nvSpPr>
        <p:spPr/>
        <p:txBody>
          <a:bodyPr wrap="square"/>
          <a:lstStyle/>
          <a:p>
            <a:pPr algn="ctr" indent="0" marL="0"/>
            <a:r>
              <a:rPr sz="1000" b="1" i="0">
                <a:solidFill>
                  <a:srgbClr val="1A1A1A"/>
                </a:solidFill>
                <a:latin typeface="Verdana"/>
              </a:rPr>
              <a:t>DIRECTION DATA-IA LA POSTE BGPN, </a:t>
            </a:r>
            <a:r>
              <a:rPr sz="1000" b="0" i="1">
                <a:solidFill>
                  <a:srgbClr val="1A1A1A"/>
                </a:solidFill>
                <a:latin typeface="Verdana"/>
              </a:rPr>
              <a:t>PMO DATA &amp; ACCULTURATION À L'IA GEN</a:t>
            </a:r>
          </a:p>
        </p:txBody>
      </p:sp>
      <p:sp>
        <p:nvSpPr>
          <p:cNvPr id="8" name="Text Placeholder 7"/>
          <p:cNvSpPr>
            <a:spLocks noGrp="1"/>
          </p:cNvSpPr>
          <p:nvPr>
            <p:ph type="body" idx="7"/>
          </p:nvPr>
        </p:nvSpPr>
        <p:spPr/>
        <p:txBody>
          <a:bodyPr wrap="square"/>
          <a:lstStyle/>
          <a:p>
            <a:pPr algn="just" indent="0" marL="0">
              <a:lnSpc>
                <a:spcPct val="105000"/>
              </a:lnSpc>
            </a:pPr>
            <a:r>
              <a:rPr sz="950" b="0" i="0">
                <a:solidFill>
                  <a:srgbClr val="404041"/>
                </a:solidFill>
                <a:latin typeface="Verdana"/>
              </a:rPr>
              <a:t>Square Management est intervenu en tant que Directeur de projet au sein de la Direction des programmes DATA de SOCIETE GENERALE BDDF, dans le cadre de la refonte du processus de gestion. La mission, qui impliquait la coordination et la planification de 31 chantiers, a culminé avec un chantier majeur de data science.</a:t>
            </a:r>
          </a:p>
        </p:txBody>
      </p:sp>
      <p:sp>
        <p:nvSpPr>
          <p:cNvPr id="9" name="Text Placeholder 8"/>
          <p:cNvSpPr>
            <a:spLocks noGrp="1"/>
          </p:cNvSpPr>
          <p:nvPr>
            <p:ph type="body" idx="8"/>
          </p:nvPr>
        </p:nvSpPr>
        <p:spPr/>
        <p:txBody>
          <a:bodyPr wrap="square"/>
          <a:lstStyle/>
          <a:p>
            <a:pPr algn="ctr" indent="0" marL="0"/>
            <a:r>
              <a:rPr sz="1100" b="1" i="0">
                <a:solidFill>
                  <a:srgbClr val="1A1A1A"/>
                </a:solidFill>
                <a:latin typeface="Verdana"/>
              </a:rPr>
              <a:t>DAT, </a:t>
            </a:r>
            <a:r>
              <a:rPr sz="1100" b="0" i="1">
                <a:solidFill>
                  <a:srgbClr val="1A1A1A"/>
                </a:solidFill>
                <a:latin typeface="Verdana"/>
              </a:rPr>
              <a:t>DIRECTEUR DE PROJET</a:t>
            </a:r>
          </a:p>
        </p:txBody>
      </p:sp>
      <p:sp>
        <p:nvSpPr>
          <p:cNvPr id="11" name="Text Placeholder 10"/>
          <p:cNvSpPr>
            <a:spLocks noGrp="1"/>
          </p:cNvSpPr>
          <p:nvPr>
            <p:ph type="body" idx="13"/>
          </p:nvPr>
        </p:nvSpPr>
        <p:spPr/>
        <p:txBody>
          <a:bodyPr wrap="square" anchor="ctr"/>
          <a:lstStyle/>
          <a:p>
            <a:pPr algn="ctr" indent="0" marL="0"/>
            <a:r>
              <a:rPr sz="1400" b="1" i="0">
                <a:solidFill>
                  <a:srgbClr val="1A1A1A"/>
                </a:solidFill>
                <a:latin typeface="Verdana"/>
              </a:rPr>
              <a:t>MNCAP</a:t>
            </a:r>
          </a:p>
        </p:txBody>
      </p:sp>
      <p:sp>
        <p:nvSpPr>
          <p:cNvPr id="14" name="Title 13"/>
          <p:cNvSpPr>
            <a:spLocks noGrp="1"/>
          </p:cNvSpPr>
          <p:nvPr>
            <p:ph type="title"/>
          </p:nvPr>
        </p:nvSpPr>
        <p:spPr/>
        <p:txBody>
          <a:bodyPr/>
          <a:lstStyle/>
          <a:p>
            <a:r>
              <a:t>Références IA : Stratégie IT (5/8)</a:t>
            </a:r>
          </a:p>
        </p:txBody>
      </p:sp>
      <p:pic>
        <p:nvPicPr>
          <p:cNvPr id="15" name="Picture 14" descr="insep.png"/>
          <p:cNvPicPr>
            <a:picLocks noChangeAspect="1"/>
          </p:cNvPicPr>
          <p:nvPr/>
        </p:nvPicPr>
        <p:blipFill>
          <a:blip r:embed="rId2"/>
          <a:stretch>
            <a:fillRect/>
          </a:stretch>
        </p:blipFill>
        <p:spPr>
          <a:xfrm>
            <a:off x="2155653" y="1275460"/>
            <a:ext cx="1689594" cy="804569"/>
          </a:xfrm>
          <a:prstGeom prst="rect">
            <a:avLst/>
          </a:prstGeom>
        </p:spPr>
      </p:pic>
      <p:pic>
        <p:nvPicPr>
          <p:cNvPr id="16" name="Picture 15" descr="la_poste.png"/>
          <p:cNvPicPr>
            <a:picLocks noChangeAspect="1"/>
          </p:cNvPicPr>
          <p:nvPr/>
        </p:nvPicPr>
        <p:blipFill>
          <a:blip r:embed="rId3"/>
          <a:stretch>
            <a:fillRect/>
          </a:stretch>
        </p:blipFill>
        <p:spPr>
          <a:xfrm>
            <a:off x="7733188" y="1507213"/>
            <a:ext cx="2289652" cy="341062"/>
          </a:xfrm>
          <a:prstGeom prst="rect">
            <a:avLst/>
          </a:prstGeom>
        </p:spPr>
      </p:pic>
      <p:pic>
        <p:nvPicPr>
          <p:cNvPr id="17" name="Picture 16" descr="societe_generale.png"/>
          <p:cNvPicPr>
            <a:picLocks noChangeAspect="1"/>
          </p:cNvPicPr>
          <p:nvPr/>
        </p:nvPicPr>
        <p:blipFill>
          <a:blip r:embed="rId4"/>
          <a:stretch>
            <a:fillRect/>
          </a:stretch>
        </p:blipFill>
        <p:spPr>
          <a:xfrm>
            <a:off x="7733188" y="4128608"/>
            <a:ext cx="2289652" cy="52232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lgn="just" indent="0" marL="0">
              <a:lnSpc>
                <a:spcPct val="105000"/>
              </a:lnSpc>
            </a:pPr>
            <a:r>
              <a:rPr sz="950" b="0" i="0">
                <a:solidFill>
                  <a:srgbClr val="404041"/>
                </a:solidFill>
                <a:latin typeface="Verdana"/>
              </a:rPr>
              <a:t>Square Management est intervenu en tant qu'Experte IA auprès de BPCE Digital &amp; payments. La mission portait sur l'exploitation des données textuelles complexes issues des transactions de cartes bancaires. Le rôle a consisté à concevoir et proposer une solution sur mesure de Traitement Automatique du Langage Naturel (NLP) pour transformer ces données en vecteurs (embeddings).</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BPCE DIGITAL &amp; PAYMENTS, </a:t>
            </a:r>
            <a:r>
              <a:rPr sz="1100" b="0" i="1">
                <a:solidFill>
                  <a:srgbClr val="1A1A1A"/>
                </a:solidFill>
                <a:latin typeface="Verdana"/>
              </a:rPr>
              <a:t>EXPERTE IA</a:t>
            </a:r>
          </a:p>
        </p:txBody>
      </p:sp>
      <p:sp>
        <p:nvSpPr>
          <p:cNvPr id="4" name="Text Placeholder 3"/>
          <p:cNvSpPr>
            <a:spLocks noGrp="1"/>
          </p:cNvSpPr>
          <p:nvPr>
            <p:ph type="body" idx="3"/>
          </p:nvPr>
        </p:nvSpPr>
        <p:spPr/>
        <p:txBody>
          <a:bodyPr wrap="square"/>
          <a:lstStyle/>
          <a:p>
            <a:pPr algn="just" indent="0" marL="0">
              <a:lnSpc>
                <a:spcPct val="105000"/>
              </a:lnSpc>
            </a:pPr>
            <a:r>
              <a:rPr sz="950" b="0" i="0">
                <a:solidFill>
                  <a:srgbClr val="404041"/>
                </a:solidFill>
                <a:latin typeface="Verdana"/>
              </a:rPr>
              <a:t>Square Management est intervenu en tant que Product Owner auprès de LA POSTE, au sein de la branche Grand Public Numérique (BGPN), pour le pilotage multi-projets IA/Data. Le contexte était le déploiement de la roadmap DATA/IA de la Chief Data Officer, visant à gérer les projets DATA/IA de bout en bout.</a:t>
            </a:r>
          </a:p>
        </p:txBody>
      </p:sp>
      <p:sp>
        <p:nvSpPr>
          <p:cNvPr id="5" name="Text Placeholder 4"/>
          <p:cNvSpPr>
            <a:spLocks noGrp="1"/>
          </p:cNvSpPr>
          <p:nvPr>
            <p:ph type="body" idx="4"/>
          </p:nvPr>
        </p:nvSpPr>
        <p:spPr/>
        <p:txBody>
          <a:bodyPr wrap="square"/>
          <a:lstStyle/>
          <a:p>
            <a:pPr algn="ctr" indent="0" marL="0"/>
            <a:r>
              <a:rPr sz="1000" b="1" i="0">
                <a:solidFill>
                  <a:srgbClr val="1A1A1A"/>
                </a:solidFill>
                <a:latin typeface="Verdana"/>
              </a:rPr>
              <a:t>DATA - BRANCHE GRAND PUBLIC NUMÉRIQUE, </a:t>
            </a:r>
            <a:r>
              <a:rPr sz="1000" b="0" i="1">
                <a:solidFill>
                  <a:srgbClr val="1A1A1A"/>
                </a:solidFill>
                <a:latin typeface="Verdana"/>
              </a:rPr>
              <a:t>PRODUCT OWNER</a:t>
            </a:r>
          </a:p>
        </p:txBody>
      </p:sp>
      <p:sp>
        <p:nvSpPr>
          <p:cNvPr id="6" name="Text Placeholder 5"/>
          <p:cNvSpPr>
            <a:spLocks noGrp="1"/>
          </p:cNvSpPr>
          <p:nvPr>
            <p:ph type="body" idx="5"/>
          </p:nvPr>
        </p:nvSpPr>
        <p:spPr/>
        <p:txBody>
          <a:bodyPr wrap="square"/>
          <a:lstStyle/>
          <a:p>
            <a:pPr algn="just" indent="0" marL="0">
              <a:lnSpc>
                <a:spcPct val="105000"/>
              </a:lnSpc>
            </a:pPr>
            <a:r>
              <a:rPr sz="950" b="0" i="0">
                <a:solidFill>
                  <a:srgbClr val="404041"/>
                </a:solidFill>
                <a:latin typeface="Verdana"/>
              </a:rPr>
              <a:t>Square Management est intervenu en tant que PMO Organisation &amp; Suivi d'activités Data Science auprès de BPCE SA (Pôle Data &amp; IA - Data Science). Le contexte de la mission était de formaliser l’organisation d’un Centre d’Expertise Data Scientists &amp; IA, pour mettre la DATA au service de cas d'usages variés (Business, Risques, Fraude, etc.).</a:t>
            </a:r>
          </a:p>
        </p:txBody>
      </p:sp>
      <p:sp>
        <p:nvSpPr>
          <p:cNvPr id="7" name="Text Placeholder 6"/>
          <p:cNvSpPr>
            <a:spLocks noGrp="1"/>
          </p:cNvSpPr>
          <p:nvPr>
            <p:ph type="body" idx="6"/>
          </p:nvPr>
        </p:nvSpPr>
        <p:spPr/>
        <p:txBody>
          <a:bodyPr wrap="square"/>
          <a:lstStyle/>
          <a:p>
            <a:pPr algn="ctr" indent="0" marL="0"/>
            <a:r>
              <a:rPr sz="900" b="1" i="0">
                <a:solidFill>
                  <a:srgbClr val="1A1A1A"/>
                </a:solidFill>
                <a:latin typeface="Verdana"/>
              </a:rPr>
              <a:t>PÔLE DATA &amp; IA - DATA SCIENCE, </a:t>
            </a:r>
            <a:r>
              <a:rPr sz="900" b="0" i="1">
                <a:solidFill>
                  <a:srgbClr val="1A1A1A"/>
                </a:solidFill>
                <a:latin typeface="Verdana"/>
              </a:rPr>
              <a:t>PMO ORGANISATION &amp; SUIVI D'ACTIVITÉS DATA SCIENCE</a:t>
            </a:r>
          </a:p>
        </p:txBody>
      </p:sp>
      <p:sp>
        <p:nvSpPr>
          <p:cNvPr id="8" name="Text Placeholder 7"/>
          <p:cNvSpPr>
            <a:spLocks noGrp="1"/>
          </p:cNvSpPr>
          <p:nvPr>
            <p:ph type="body" idx="7"/>
          </p:nvPr>
        </p:nvSpPr>
        <p:spPr/>
        <p:txBody>
          <a:bodyPr wrap="square"/>
          <a:lstStyle/>
          <a:p>
            <a:pPr algn="just" indent="0" marL="0">
              <a:lnSpc>
                <a:spcPct val="105000"/>
              </a:lnSpc>
            </a:pPr>
            <a:r>
              <a:rPr sz="950" b="0" i="0">
                <a:solidFill>
                  <a:srgbClr val="404041"/>
                </a:solidFill>
                <a:latin typeface="Verdana"/>
              </a:rPr>
              <a:t>Square Management est intervenu en tant que Product Owner Data &amp; IA pour LA POSTE (Branche Grand Public et Numérique - BGPN), au sein du nouveau pôle DATA/IA créé pour opérer sa transformation stratégique. La mission visait à porter les projets DATA/IA pour l'ensemble des métiers de la branche.</a:t>
            </a:r>
          </a:p>
        </p:txBody>
      </p:sp>
      <p:sp>
        <p:nvSpPr>
          <p:cNvPr id="9" name="Text Placeholder 8"/>
          <p:cNvSpPr>
            <a:spLocks noGrp="1"/>
          </p:cNvSpPr>
          <p:nvPr>
            <p:ph type="body" idx="8"/>
          </p:nvPr>
        </p:nvSpPr>
        <p:spPr/>
        <p:txBody>
          <a:bodyPr wrap="square"/>
          <a:lstStyle/>
          <a:p>
            <a:pPr algn="ctr" indent="0" marL="0"/>
            <a:r>
              <a:rPr sz="1000" b="1" i="0">
                <a:solidFill>
                  <a:srgbClr val="1A1A1A"/>
                </a:solidFill>
                <a:latin typeface="Verdana"/>
              </a:rPr>
              <a:t>BRANCHE GRAND PUBLIC ET NUMÉRIQUE, </a:t>
            </a:r>
            <a:r>
              <a:rPr sz="1000" b="0" i="1">
                <a:solidFill>
                  <a:srgbClr val="1A1A1A"/>
                </a:solidFill>
                <a:latin typeface="Verdana"/>
              </a:rPr>
              <a:t>PRODUCT OWNER DATA &amp; IA</a:t>
            </a:r>
          </a:p>
        </p:txBody>
      </p:sp>
      <p:sp>
        <p:nvSpPr>
          <p:cNvPr id="14" name="Title 13"/>
          <p:cNvSpPr>
            <a:spLocks noGrp="1"/>
          </p:cNvSpPr>
          <p:nvPr>
            <p:ph type="title"/>
          </p:nvPr>
        </p:nvSpPr>
        <p:spPr/>
        <p:txBody>
          <a:bodyPr/>
          <a:lstStyle/>
          <a:p>
            <a:r>
              <a:t>Références IA : Stratégie IT (6/8)</a:t>
            </a:r>
          </a:p>
        </p:txBody>
      </p:sp>
      <p:pic>
        <p:nvPicPr>
          <p:cNvPr id="15" name="Picture 14" descr="bpce.png"/>
          <p:cNvPicPr>
            <a:picLocks noChangeAspect="1"/>
          </p:cNvPicPr>
          <p:nvPr/>
        </p:nvPicPr>
        <p:blipFill>
          <a:blip r:embed="rId2"/>
          <a:stretch>
            <a:fillRect/>
          </a:stretch>
        </p:blipFill>
        <p:spPr>
          <a:xfrm>
            <a:off x="1901138" y="1275460"/>
            <a:ext cx="2198624" cy="804569"/>
          </a:xfrm>
          <a:prstGeom prst="rect">
            <a:avLst/>
          </a:prstGeom>
        </p:spPr>
      </p:pic>
      <p:pic>
        <p:nvPicPr>
          <p:cNvPr id="16" name="Picture 15" descr="bpce.png"/>
          <p:cNvPicPr>
            <a:picLocks noChangeAspect="1"/>
          </p:cNvPicPr>
          <p:nvPr/>
        </p:nvPicPr>
        <p:blipFill>
          <a:blip r:embed="rId2"/>
          <a:stretch>
            <a:fillRect/>
          </a:stretch>
        </p:blipFill>
        <p:spPr>
          <a:xfrm>
            <a:off x="7778702" y="1275460"/>
            <a:ext cx="2198624" cy="804569"/>
          </a:xfrm>
          <a:prstGeom prst="rect">
            <a:avLst/>
          </a:prstGeom>
        </p:spPr>
      </p:pic>
      <p:pic>
        <p:nvPicPr>
          <p:cNvPr id="17" name="Picture 16" descr="la_poste.png"/>
          <p:cNvPicPr>
            <a:picLocks noChangeAspect="1"/>
          </p:cNvPicPr>
          <p:nvPr/>
        </p:nvPicPr>
        <p:blipFill>
          <a:blip r:embed="rId3"/>
          <a:stretch>
            <a:fillRect/>
          </a:stretch>
        </p:blipFill>
        <p:spPr>
          <a:xfrm>
            <a:off x="1855624" y="4219240"/>
            <a:ext cx="2289652" cy="341062"/>
          </a:xfrm>
          <a:prstGeom prst="rect">
            <a:avLst/>
          </a:prstGeom>
        </p:spPr>
      </p:pic>
      <p:pic>
        <p:nvPicPr>
          <p:cNvPr id="18" name="Picture 17" descr="la_poste.png"/>
          <p:cNvPicPr>
            <a:picLocks noChangeAspect="1"/>
          </p:cNvPicPr>
          <p:nvPr/>
        </p:nvPicPr>
        <p:blipFill>
          <a:blip r:embed="rId3"/>
          <a:stretch>
            <a:fillRect/>
          </a:stretch>
        </p:blipFill>
        <p:spPr>
          <a:xfrm>
            <a:off x="7733188" y="4219240"/>
            <a:ext cx="2289652" cy="34106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lgn="just" indent="0" marL="0">
              <a:lnSpc>
                <a:spcPct val="105000"/>
              </a:lnSpc>
            </a:pPr>
            <a:r>
              <a:rPr sz="950" b="0" i="0">
                <a:solidFill>
                  <a:srgbClr val="404041"/>
                </a:solidFill>
                <a:latin typeface="Verdana"/>
              </a:rPr>
              <a:t>Square Management est intervenu en tant que IT Delivery Manager auprès de MOET HENNESSY (DSI), au sein de l'équipe IT Sales, Consumer &amp; Marketing. La mission porte sur le développement et l'optimisation des outils digitaux (CRM, Product &amp; Content) sur un scope international. Le rôle inclut spécifiquement la mise en place de projets innovants, notamment l'Intelligence Artificielle (IA).</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DSI, </a:t>
            </a:r>
            <a:r>
              <a:rPr sz="1100" b="0" i="1">
                <a:solidFill>
                  <a:srgbClr val="1A1A1A"/>
                </a:solidFill>
                <a:latin typeface="Verdana"/>
              </a:rPr>
              <a:t>IT DELIVERY MANAGER</a:t>
            </a:r>
          </a:p>
        </p:txBody>
      </p:sp>
      <p:sp>
        <p:nvSpPr>
          <p:cNvPr id="4" name="Text Placeholder 3"/>
          <p:cNvSpPr>
            <a:spLocks noGrp="1"/>
          </p:cNvSpPr>
          <p:nvPr>
            <p:ph type="body" idx="3"/>
          </p:nvPr>
        </p:nvSpPr>
        <p:spPr/>
        <p:txBody>
          <a:bodyPr wrap="square"/>
          <a:lstStyle/>
          <a:p>
            <a:pPr algn="just" indent="0" marL="0">
              <a:lnSpc>
                <a:spcPct val="105000"/>
              </a:lnSpc>
            </a:pPr>
            <a:r>
              <a:rPr sz="950" b="0" i="0">
                <a:solidFill>
                  <a:srgbClr val="404041"/>
                </a:solidFill>
                <a:latin typeface="Verdana"/>
              </a:rPr>
              <a:t>Square Management est intervenu en tant que PMO auprès de la DSI de TDF, supportant le directeur de transformation BUA. Le rôle du PMO a inclus le pilotage d'initiatives stratégiques, notamment le déploiement de solutions d'IA sur mesure.</a:t>
            </a:r>
          </a:p>
        </p:txBody>
      </p:sp>
      <p:sp>
        <p:nvSpPr>
          <p:cNvPr id="5" name="Text Placeholder 4"/>
          <p:cNvSpPr>
            <a:spLocks noGrp="1"/>
          </p:cNvSpPr>
          <p:nvPr>
            <p:ph type="body" idx="4"/>
          </p:nvPr>
        </p:nvSpPr>
        <p:spPr/>
        <p:txBody>
          <a:bodyPr wrap="square"/>
          <a:lstStyle/>
          <a:p>
            <a:pPr algn="ctr" indent="0" marL="0"/>
            <a:r>
              <a:rPr sz="1100" b="1" i="0">
                <a:solidFill>
                  <a:srgbClr val="1A1A1A"/>
                </a:solidFill>
                <a:latin typeface="Verdana"/>
              </a:rPr>
              <a:t>DSI, </a:t>
            </a:r>
            <a:r>
              <a:rPr sz="1100" b="0" i="1">
                <a:solidFill>
                  <a:srgbClr val="1A1A1A"/>
                </a:solidFill>
                <a:latin typeface="Verdana"/>
              </a:rPr>
              <a:t>PMO</a:t>
            </a:r>
          </a:p>
        </p:txBody>
      </p:sp>
      <p:sp>
        <p:nvSpPr>
          <p:cNvPr id="6" name="Text Placeholder 5"/>
          <p:cNvSpPr>
            <a:spLocks noGrp="1"/>
          </p:cNvSpPr>
          <p:nvPr>
            <p:ph type="body" idx="5"/>
          </p:nvPr>
        </p:nvSpPr>
        <p:spPr/>
        <p:txBody>
          <a:bodyPr wrap="square"/>
          <a:lstStyle/>
          <a:p>
            <a:pPr algn="just" indent="0" marL="0">
              <a:lnSpc>
                <a:spcPct val="105000"/>
              </a:lnSpc>
            </a:pPr>
            <a:r>
              <a:rPr sz="950" b="0" i="0">
                <a:solidFill>
                  <a:srgbClr val="404041"/>
                </a:solidFill>
                <a:latin typeface="Verdana"/>
              </a:rPr>
              <a:t>Square Management est intervenu en tant que Responsable Solutions Data auprès de SOCIETE GENERALE (BDDF/DIR/DAT) suite à la fusion avec le Crédit du Nord, dans le contexte de la gestion des doublons de clients et de. Square Management a également réalisé l'évaluation des performances du modèle de classification (précision/rappel) et l'optimisation du traitement des triplons par des méthodes de théorie des graphes.</a:t>
            </a:r>
          </a:p>
        </p:txBody>
      </p:sp>
      <p:sp>
        <p:nvSpPr>
          <p:cNvPr id="7" name="Text Placeholder 6"/>
          <p:cNvSpPr>
            <a:spLocks noGrp="1"/>
          </p:cNvSpPr>
          <p:nvPr>
            <p:ph type="body" idx="6"/>
          </p:nvPr>
        </p:nvSpPr>
        <p:spPr/>
        <p:txBody>
          <a:bodyPr wrap="square"/>
          <a:lstStyle/>
          <a:p>
            <a:pPr algn="ctr" indent="0" marL="0"/>
            <a:r>
              <a:rPr sz="1100" b="1" i="0">
                <a:solidFill>
                  <a:srgbClr val="1A1A1A"/>
                </a:solidFill>
                <a:latin typeface="Verdana"/>
              </a:rPr>
              <a:t>BDDF/DIR/DAT, </a:t>
            </a:r>
            <a:r>
              <a:rPr sz="1100" b="0" i="1">
                <a:solidFill>
                  <a:srgbClr val="1A1A1A"/>
                </a:solidFill>
                <a:latin typeface="Verdana"/>
              </a:rPr>
              <a:t>RESPONSABLE SOLUTIONS DATA</a:t>
            </a:r>
          </a:p>
        </p:txBody>
      </p:sp>
      <p:sp>
        <p:nvSpPr>
          <p:cNvPr id="8" name="Text Placeholder 7"/>
          <p:cNvSpPr>
            <a:spLocks noGrp="1"/>
          </p:cNvSpPr>
          <p:nvPr>
            <p:ph type="body" idx="7"/>
          </p:nvPr>
        </p:nvSpPr>
        <p:spPr/>
        <p:txBody>
          <a:bodyPr wrap="square"/>
          <a:lstStyle/>
          <a:p>
            <a:pPr algn="just" indent="0" marL="0">
              <a:lnSpc>
                <a:spcPct val="105000"/>
              </a:lnSpc>
            </a:pPr>
            <a:r>
              <a:rPr sz="950" b="0" i="0">
                <a:solidFill>
                  <a:srgbClr val="404041"/>
                </a:solidFill>
                <a:latin typeface="Verdana"/>
              </a:rPr>
              <a:t>Square Management est intervenu en tant que Chercheur Post-doctoral au sein de la Chaire d’IA et neurosciences de l’Université de Bonn – Allemagne. Le livrable principal était un article scientifique sur l’optimisation de planification contrainte.</a:t>
            </a:r>
          </a:p>
        </p:txBody>
      </p:sp>
      <p:sp>
        <p:nvSpPr>
          <p:cNvPr id="9" name="Text Placeholder 8"/>
          <p:cNvSpPr>
            <a:spLocks noGrp="1"/>
          </p:cNvSpPr>
          <p:nvPr>
            <p:ph type="body" idx="8"/>
          </p:nvPr>
        </p:nvSpPr>
        <p:spPr/>
        <p:txBody>
          <a:bodyPr wrap="square"/>
          <a:lstStyle/>
          <a:p>
            <a:pPr algn="ctr" indent="0" marL="0"/>
            <a:r>
              <a:rPr sz="1000" b="1" i="0">
                <a:solidFill>
                  <a:srgbClr val="1A1A1A"/>
                </a:solidFill>
                <a:latin typeface="Verdana"/>
              </a:rPr>
              <a:t>CHAIRE D’IA ET NEUROSCIENCES, </a:t>
            </a:r>
            <a:r>
              <a:rPr sz="1000" b="0" i="1">
                <a:solidFill>
                  <a:srgbClr val="1A1A1A"/>
                </a:solidFill>
                <a:latin typeface="Verdana"/>
              </a:rPr>
              <a:t>CHERCHEUR POST-DOCTORAL</a:t>
            </a:r>
          </a:p>
        </p:txBody>
      </p:sp>
      <p:sp>
        <p:nvSpPr>
          <p:cNvPr id="14" name="Title 13"/>
          <p:cNvSpPr>
            <a:spLocks noGrp="1"/>
          </p:cNvSpPr>
          <p:nvPr>
            <p:ph type="title"/>
          </p:nvPr>
        </p:nvSpPr>
        <p:spPr/>
        <p:txBody>
          <a:bodyPr/>
          <a:lstStyle/>
          <a:p>
            <a:r>
              <a:t>Références IA : Stratégie IT (7/8)</a:t>
            </a:r>
          </a:p>
        </p:txBody>
      </p:sp>
      <p:pic>
        <p:nvPicPr>
          <p:cNvPr id="15" name="Picture 14" descr="moet_hennessy.png"/>
          <p:cNvPicPr>
            <a:picLocks noChangeAspect="1"/>
          </p:cNvPicPr>
          <p:nvPr/>
        </p:nvPicPr>
        <p:blipFill>
          <a:blip r:embed="rId2"/>
          <a:stretch>
            <a:fillRect/>
          </a:stretch>
        </p:blipFill>
        <p:spPr>
          <a:xfrm>
            <a:off x="1855624" y="1485787"/>
            <a:ext cx="2289652" cy="383915"/>
          </a:xfrm>
          <a:prstGeom prst="rect">
            <a:avLst/>
          </a:prstGeom>
        </p:spPr>
      </p:pic>
      <p:pic>
        <p:nvPicPr>
          <p:cNvPr id="16" name="Picture 15" descr="societe_generale.png"/>
          <p:cNvPicPr>
            <a:picLocks noChangeAspect="1"/>
          </p:cNvPicPr>
          <p:nvPr/>
        </p:nvPicPr>
        <p:blipFill>
          <a:blip r:embed="rId3"/>
          <a:stretch>
            <a:fillRect/>
          </a:stretch>
        </p:blipFill>
        <p:spPr>
          <a:xfrm>
            <a:off x="7733188" y="1416581"/>
            <a:ext cx="2289652" cy="522326"/>
          </a:xfrm>
          <a:prstGeom prst="rect">
            <a:avLst/>
          </a:prstGeom>
        </p:spPr>
      </p:pic>
      <p:pic>
        <p:nvPicPr>
          <p:cNvPr id="17" name="Picture 16" descr="tdf.png"/>
          <p:cNvPicPr>
            <a:picLocks noChangeAspect="1"/>
          </p:cNvPicPr>
          <p:nvPr/>
        </p:nvPicPr>
        <p:blipFill>
          <a:blip r:embed="rId4"/>
          <a:stretch>
            <a:fillRect/>
          </a:stretch>
        </p:blipFill>
        <p:spPr>
          <a:xfrm>
            <a:off x="2636102" y="3987487"/>
            <a:ext cx="728696" cy="804569"/>
          </a:xfrm>
          <a:prstGeom prst="rect">
            <a:avLst/>
          </a:prstGeom>
        </p:spPr>
      </p:pic>
      <p:pic>
        <p:nvPicPr>
          <p:cNvPr id="18" name="Picture 17" descr="bonn.png"/>
          <p:cNvPicPr>
            <a:picLocks noChangeAspect="1"/>
          </p:cNvPicPr>
          <p:nvPr/>
        </p:nvPicPr>
        <p:blipFill>
          <a:blip r:embed="rId5"/>
          <a:stretch>
            <a:fillRect/>
          </a:stretch>
        </p:blipFill>
        <p:spPr>
          <a:xfrm>
            <a:off x="7839860" y="3987487"/>
            <a:ext cx="2076307" cy="804569"/>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lgn="just" indent="0" marL="0">
              <a:lnSpc>
                <a:spcPct val="105000"/>
              </a:lnSpc>
            </a:pPr>
            <a:r>
              <a:rPr sz="950" b="0" i="0">
                <a:solidFill>
                  <a:srgbClr val="404041"/>
                </a:solidFill>
                <a:latin typeface="Verdana"/>
              </a:rPr>
              <a:t>Square Management est intervenu en tant que Consultant data/Conseil en communication auprès de la Direction Marketing et Communication de FERRERO, dans le cadre d'un projet d’optimisation des campagnes de communication internes et externes. Le rôle a consisté à exploiter des outils d'Intelligence Artificielle développés en interne pour la collecte et l'analyse de données sémantiques.</a:t>
            </a:r>
          </a:p>
        </p:txBody>
      </p:sp>
      <p:sp>
        <p:nvSpPr>
          <p:cNvPr id="3" name="Text Placeholder 2"/>
          <p:cNvSpPr>
            <a:spLocks noGrp="1"/>
          </p:cNvSpPr>
          <p:nvPr>
            <p:ph type="body" idx="2"/>
          </p:nvPr>
        </p:nvSpPr>
        <p:spPr/>
        <p:txBody>
          <a:bodyPr wrap="square"/>
          <a:lstStyle/>
          <a:p>
            <a:pPr algn="ctr" indent="0" marL="0"/>
            <a:r>
              <a:rPr sz="1000" b="1" i="0">
                <a:solidFill>
                  <a:srgbClr val="1A1A1A"/>
                </a:solidFill>
                <a:latin typeface="Verdana"/>
              </a:rPr>
              <a:t>DIRECTION MARKETING ET COMMUNICATION, </a:t>
            </a:r>
            <a:r>
              <a:rPr sz="1000" b="0" i="1">
                <a:solidFill>
                  <a:srgbClr val="1A1A1A"/>
                </a:solidFill>
                <a:latin typeface="Verdana"/>
              </a:rPr>
              <a:t>CONSULTANT DATA</a:t>
            </a:r>
          </a:p>
        </p:txBody>
      </p:sp>
      <p:sp>
        <p:nvSpPr>
          <p:cNvPr id="6" name="Text Placeholder 5"/>
          <p:cNvSpPr>
            <a:spLocks noGrp="1"/>
          </p:cNvSpPr>
          <p:nvPr>
            <p:ph type="body" idx="5"/>
          </p:nvPr>
        </p:nvSpPr>
        <p:spPr/>
        <p:txBody>
          <a:bodyPr wrap="square"/>
          <a:lstStyle/>
          <a:p>
            <a:pPr algn="just" indent="0" marL="0">
              <a:lnSpc>
                <a:spcPct val="105000"/>
              </a:lnSpc>
            </a:pPr>
            <a:r>
              <a:rPr sz="950" b="0" i="0">
                <a:solidFill>
                  <a:srgbClr val="404041"/>
                </a:solidFill>
                <a:latin typeface="Verdana"/>
              </a:rPr>
              <a:t>Square Management est intervenu en tant que PMO Data et IA au sein de BPCE, dans le cadre du programme d’accélération de la data et IA du groupe. Le consultant a joué le rôle de RTE (Release Train Engineer), a piloté le programme, suivi le delivery, et coordonné une équipe de PO Data et Datascientist.</a:t>
            </a:r>
          </a:p>
        </p:txBody>
      </p:sp>
      <p:sp>
        <p:nvSpPr>
          <p:cNvPr id="7" name="Text Placeholder 6"/>
          <p:cNvSpPr>
            <a:spLocks noGrp="1"/>
          </p:cNvSpPr>
          <p:nvPr>
            <p:ph type="body" idx="6"/>
          </p:nvPr>
        </p:nvSpPr>
        <p:spPr/>
        <p:txBody>
          <a:bodyPr wrap="square"/>
          <a:lstStyle/>
          <a:p>
            <a:pPr algn="ctr" indent="0" marL="0"/>
            <a:r>
              <a:rPr sz="1100" b="1" i="0">
                <a:solidFill>
                  <a:srgbClr val="1A1A1A"/>
                </a:solidFill>
                <a:latin typeface="Verdana"/>
              </a:rPr>
              <a:t>DATA ET IA, </a:t>
            </a:r>
            <a:r>
              <a:rPr sz="1100" b="0" i="1">
                <a:solidFill>
                  <a:srgbClr val="1A1A1A"/>
                </a:solidFill>
                <a:latin typeface="Verdana"/>
              </a:rPr>
              <a:t>PMO DATA ET IA</a:t>
            </a:r>
          </a:p>
        </p:txBody>
      </p:sp>
      <p:sp>
        <p:nvSpPr>
          <p:cNvPr id="14" name="Title 13"/>
          <p:cNvSpPr>
            <a:spLocks noGrp="1"/>
          </p:cNvSpPr>
          <p:nvPr>
            <p:ph type="title"/>
          </p:nvPr>
        </p:nvSpPr>
        <p:spPr/>
        <p:txBody>
          <a:bodyPr/>
          <a:lstStyle/>
          <a:p>
            <a:r>
              <a:t>Références IA : Stratégie IT (8/8)</a:t>
            </a:r>
          </a:p>
        </p:txBody>
      </p:sp>
      <p:pic>
        <p:nvPicPr>
          <p:cNvPr id="15" name="Picture 14" descr="ferrero.png"/>
          <p:cNvPicPr>
            <a:picLocks noChangeAspect="1"/>
          </p:cNvPicPr>
          <p:nvPr/>
        </p:nvPicPr>
        <p:blipFill>
          <a:blip r:embed="rId2"/>
          <a:stretch>
            <a:fillRect/>
          </a:stretch>
        </p:blipFill>
        <p:spPr>
          <a:xfrm>
            <a:off x="1855624" y="1533449"/>
            <a:ext cx="2289652" cy="288591"/>
          </a:xfrm>
          <a:prstGeom prst="rect">
            <a:avLst/>
          </a:prstGeom>
        </p:spPr>
      </p:pic>
      <p:pic>
        <p:nvPicPr>
          <p:cNvPr id="16" name="Picture 15" descr="bpce.png"/>
          <p:cNvPicPr>
            <a:picLocks noChangeAspect="1"/>
          </p:cNvPicPr>
          <p:nvPr/>
        </p:nvPicPr>
        <p:blipFill>
          <a:blip r:embed="rId3"/>
          <a:stretch>
            <a:fillRect/>
          </a:stretch>
        </p:blipFill>
        <p:spPr>
          <a:xfrm>
            <a:off x="7778702" y="1275460"/>
            <a:ext cx="2198624" cy="804569"/>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lgn="just" indent="0" marL="0">
              <a:lnSpc>
                <a:spcPct val="105000"/>
              </a:lnSpc>
            </a:pPr>
            <a:r>
              <a:rPr sz="950" b="0" i="0">
                <a:solidFill>
                  <a:srgbClr val="404041"/>
                </a:solidFill>
                <a:latin typeface="Verdana"/>
              </a:rPr>
              <a:t>Square Management est intervenu en tant que Lead expert sur le projet "LeadAI" d'Abilicor, visant à piloter la transformation digitale des organisations en combinant l'Intelligence Artificielle et l'expertise humaine, avec une approche centrée sur l'Agentic AI.</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TRANSFORMATION OFFICE, </a:t>
            </a:r>
            <a:r>
              <a:rPr sz="1100" b="0" i="1">
                <a:solidFill>
                  <a:srgbClr val="1A1A1A"/>
                </a:solidFill>
                <a:latin typeface="Verdana"/>
              </a:rPr>
              <a:t>LEAD EXPERT</a:t>
            </a:r>
          </a:p>
        </p:txBody>
      </p:sp>
      <p:sp>
        <p:nvSpPr>
          <p:cNvPr id="4" name="Text Placeholder 3"/>
          <p:cNvSpPr>
            <a:spLocks noGrp="1"/>
          </p:cNvSpPr>
          <p:nvPr>
            <p:ph type="body" idx="3"/>
          </p:nvPr>
        </p:nvSpPr>
        <p:spPr/>
        <p:txBody>
          <a:bodyPr wrap="square"/>
          <a:lstStyle/>
          <a:p>
            <a:pPr algn="just" indent="0" marL="0">
              <a:lnSpc>
                <a:spcPct val="105000"/>
              </a:lnSpc>
            </a:pPr>
            <a:r>
              <a:rPr sz="950" b="0" i="0">
                <a:solidFill>
                  <a:srgbClr val="404041"/>
                </a:solidFill>
                <a:latin typeface="Verdana"/>
              </a:rPr>
              <a:t>Square Management est intervenu en tant que Project Manager auprès de CREDIT AGRICOLE CONSUMER FINANCE (Direction de l'innovation) pour structurer le programme transverse "AI Connect", socle d'orchestration et d'industrialisation des initiatives d'IA générative du groupe.</a:t>
            </a:r>
          </a:p>
        </p:txBody>
      </p:sp>
      <p:sp>
        <p:nvSpPr>
          <p:cNvPr id="5" name="Text Placeholder 4"/>
          <p:cNvSpPr>
            <a:spLocks noGrp="1"/>
          </p:cNvSpPr>
          <p:nvPr>
            <p:ph type="body" idx="4"/>
          </p:nvPr>
        </p:nvSpPr>
        <p:spPr/>
        <p:txBody>
          <a:bodyPr wrap="square"/>
          <a:lstStyle/>
          <a:p>
            <a:pPr algn="ctr" indent="0" marL="0"/>
            <a:r>
              <a:rPr sz="1100" b="1" i="0">
                <a:solidFill>
                  <a:srgbClr val="1A1A1A"/>
                </a:solidFill>
                <a:latin typeface="Verdana"/>
              </a:rPr>
              <a:t>DIRECTION DE L'INNOVATION, </a:t>
            </a:r>
            <a:r>
              <a:rPr sz="1100" b="0" i="1">
                <a:solidFill>
                  <a:srgbClr val="1A1A1A"/>
                </a:solidFill>
                <a:latin typeface="Verdana"/>
              </a:rPr>
              <a:t>PROJECT MANAGER</a:t>
            </a:r>
          </a:p>
        </p:txBody>
      </p:sp>
      <p:sp>
        <p:nvSpPr>
          <p:cNvPr id="6" name="Text Placeholder 5"/>
          <p:cNvSpPr>
            <a:spLocks noGrp="1"/>
          </p:cNvSpPr>
          <p:nvPr>
            <p:ph type="body" idx="5"/>
          </p:nvPr>
        </p:nvSpPr>
        <p:spPr/>
        <p:txBody>
          <a:bodyPr wrap="square"/>
          <a:lstStyle/>
          <a:p>
            <a:pPr algn="just" indent="0" marL="0">
              <a:lnSpc>
                <a:spcPct val="105000"/>
              </a:lnSpc>
            </a:pPr>
            <a:r>
              <a:rPr sz="950" b="0" i="0">
                <a:solidFill>
                  <a:srgbClr val="404041"/>
                </a:solidFill>
                <a:latin typeface="Verdana"/>
              </a:rPr>
              <a:t>Square Management est intervenu en tant que Chef de projet transverse sur le "Programme E-Facture" de CAL&amp;F, visant la mise en conformité réglementaire avec la directive européenne VIDA (facturation électronique). Le rôle a inclus l'analyse de l'intégration des usages de l'Intelligence Artificielle (IA) dans les processus cibles et l'optimisation du processus Crédit-Bail via l'IA.</a:t>
            </a:r>
          </a:p>
        </p:txBody>
      </p:sp>
      <p:sp>
        <p:nvSpPr>
          <p:cNvPr id="7" name="Text Placeholder 6"/>
          <p:cNvSpPr>
            <a:spLocks noGrp="1"/>
          </p:cNvSpPr>
          <p:nvPr>
            <p:ph type="body" idx="6"/>
          </p:nvPr>
        </p:nvSpPr>
        <p:spPr/>
        <p:txBody>
          <a:bodyPr wrap="square"/>
          <a:lstStyle/>
          <a:p>
            <a:pPr algn="ctr" indent="0" marL="0"/>
            <a:r>
              <a:rPr sz="900" b="1" i="0">
                <a:solidFill>
                  <a:srgbClr val="1A1A1A"/>
                </a:solidFill>
                <a:latin typeface="Verdana"/>
              </a:rPr>
              <a:t>DIRECTION DE LA TRANSFORMATION, </a:t>
            </a:r>
            <a:r>
              <a:rPr sz="900" b="0" i="1">
                <a:solidFill>
                  <a:srgbClr val="1A1A1A"/>
                </a:solidFill>
                <a:latin typeface="Verdana"/>
              </a:rPr>
              <a:t>CHEF DE PROJET TRANSVERSE, TRANSFORMATION RÉGLEMENTAIRE ET ORGANISATIONNELLE</a:t>
            </a:r>
          </a:p>
        </p:txBody>
      </p:sp>
      <p:sp>
        <p:nvSpPr>
          <p:cNvPr id="8" name="Text Placeholder 7"/>
          <p:cNvSpPr>
            <a:spLocks noGrp="1"/>
          </p:cNvSpPr>
          <p:nvPr>
            <p:ph type="body" idx="7"/>
          </p:nvPr>
        </p:nvSpPr>
        <p:spPr/>
        <p:txBody>
          <a:bodyPr wrap="square"/>
          <a:lstStyle/>
          <a:p>
            <a:pPr algn="just" indent="0" marL="0">
              <a:lnSpc>
                <a:spcPct val="105000"/>
              </a:lnSpc>
            </a:pPr>
            <a:r>
              <a:rPr sz="950" b="0" i="0">
                <a:solidFill>
                  <a:srgbClr val="404041"/>
                </a:solidFill>
                <a:latin typeface="Verdana"/>
              </a:rPr>
              <a:t>Square Management est intervenu en tant qu'Expert IA et conformité réglementaire chez CREDIT AGRICOLE LEASING AND FACTORING (CAL&amp;F) pour animer un atelier d'acculturation à l'Intelligence Artificielle et à l'IA Générative, dans le cadre de la stratégie de transformation numérique du client.</a:t>
            </a:r>
          </a:p>
        </p:txBody>
      </p:sp>
      <p:sp>
        <p:nvSpPr>
          <p:cNvPr id="9" name="Text Placeholder 8"/>
          <p:cNvSpPr>
            <a:spLocks noGrp="1"/>
          </p:cNvSpPr>
          <p:nvPr>
            <p:ph type="body" idx="8"/>
          </p:nvPr>
        </p:nvSpPr>
        <p:spPr/>
        <p:txBody>
          <a:bodyPr wrap="square"/>
          <a:lstStyle/>
          <a:p>
            <a:pPr algn="ctr" indent="0" marL="0"/>
            <a:r>
              <a:rPr sz="900" b="1" i="0">
                <a:solidFill>
                  <a:srgbClr val="1A1A1A"/>
                </a:solidFill>
                <a:latin typeface="Verdana"/>
              </a:rPr>
              <a:t>DIRECTION TRANSFORMATION ET DATA PERFORMANCE, </a:t>
            </a:r>
            <a:r>
              <a:rPr sz="900" b="0" i="1">
                <a:solidFill>
                  <a:srgbClr val="1A1A1A"/>
                </a:solidFill>
                <a:latin typeface="Verdana"/>
              </a:rPr>
              <a:t>EXPERT IA ET CONFORMITÉ RÉGLEMENTAIRE</a:t>
            </a:r>
          </a:p>
        </p:txBody>
      </p:sp>
      <p:sp>
        <p:nvSpPr>
          <p:cNvPr id="10" name="Text Placeholder 9"/>
          <p:cNvSpPr>
            <a:spLocks noGrp="1"/>
          </p:cNvSpPr>
          <p:nvPr>
            <p:ph type="body" idx="9"/>
          </p:nvPr>
        </p:nvSpPr>
        <p:spPr/>
        <p:txBody>
          <a:bodyPr wrap="square" anchor="ctr"/>
          <a:lstStyle/>
          <a:p>
            <a:pPr algn="ctr" indent="0" marL="0"/>
            <a:r>
              <a:rPr sz="1400" b="1" i="0">
                <a:solidFill>
                  <a:srgbClr val="1A1A1A"/>
                </a:solidFill>
                <a:latin typeface="Verdana"/>
              </a:rPr>
              <a:t>Abilicor</a:t>
            </a:r>
          </a:p>
        </p:txBody>
      </p:sp>
      <p:sp>
        <p:nvSpPr>
          <p:cNvPr id="14" name="Title 13"/>
          <p:cNvSpPr>
            <a:spLocks noGrp="1"/>
          </p:cNvSpPr>
          <p:nvPr>
            <p:ph type="title"/>
          </p:nvPr>
        </p:nvSpPr>
        <p:spPr/>
        <p:txBody>
          <a:bodyPr/>
          <a:lstStyle/>
          <a:p>
            <a:r>
              <a:t>Références IA : People &amp; Change (1/4)</a:t>
            </a:r>
          </a:p>
        </p:txBody>
      </p:sp>
      <p:pic>
        <p:nvPicPr>
          <p:cNvPr id="15" name="Picture 14" descr="credit_agricole.png"/>
          <p:cNvPicPr>
            <a:picLocks noChangeAspect="1"/>
          </p:cNvPicPr>
          <p:nvPr/>
        </p:nvPicPr>
        <p:blipFill>
          <a:blip r:embed="rId2"/>
          <a:stretch>
            <a:fillRect/>
          </a:stretch>
        </p:blipFill>
        <p:spPr>
          <a:xfrm>
            <a:off x="8300154" y="1275460"/>
            <a:ext cx="1155720" cy="804569"/>
          </a:xfrm>
          <a:prstGeom prst="rect">
            <a:avLst/>
          </a:prstGeom>
        </p:spPr>
      </p:pic>
      <p:pic>
        <p:nvPicPr>
          <p:cNvPr id="16" name="Picture 15" descr="credit_agricole.png"/>
          <p:cNvPicPr>
            <a:picLocks noChangeAspect="1"/>
          </p:cNvPicPr>
          <p:nvPr/>
        </p:nvPicPr>
        <p:blipFill>
          <a:blip r:embed="rId2"/>
          <a:stretch>
            <a:fillRect/>
          </a:stretch>
        </p:blipFill>
        <p:spPr>
          <a:xfrm>
            <a:off x="2422590" y="3987487"/>
            <a:ext cx="1155720" cy="804569"/>
          </a:xfrm>
          <a:prstGeom prst="rect">
            <a:avLst/>
          </a:prstGeom>
        </p:spPr>
      </p:pic>
      <p:pic>
        <p:nvPicPr>
          <p:cNvPr id="17" name="Picture 16" descr="credit_agricole.png"/>
          <p:cNvPicPr>
            <a:picLocks noChangeAspect="1"/>
          </p:cNvPicPr>
          <p:nvPr/>
        </p:nvPicPr>
        <p:blipFill>
          <a:blip r:embed="rId2"/>
          <a:stretch>
            <a:fillRect/>
          </a:stretch>
        </p:blipFill>
        <p:spPr>
          <a:xfrm>
            <a:off x="8300154" y="3987487"/>
            <a:ext cx="1155720" cy="804569"/>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lgn="just" indent="0" marL="0">
              <a:lnSpc>
                <a:spcPct val="105000"/>
              </a:lnSpc>
            </a:pPr>
            <a:r>
              <a:rPr sz="950" b="0" i="0">
                <a:solidFill>
                  <a:srgbClr val="404041"/>
                </a:solidFill>
                <a:latin typeface="Verdana"/>
              </a:rPr>
              <a:t>Square Management est intervenu en tant que PMO au sein de la R&amp;I de L'OREAL pour soutenir activement la transformation digitale via le programme "Augmented Researchers". La mission consistait à piloter l'exécution de projets liés à la Data et à l'IA, notamment au sein du Stream E-Formulation. Le rôle a couvert le cadrage, la planification, la gestion des risques et le suivi de la performance des projets innovants.</a:t>
            </a:r>
          </a:p>
        </p:txBody>
      </p:sp>
      <p:sp>
        <p:nvSpPr>
          <p:cNvPr id="3" name="Text Placeholder 2"/>
          <p:cNvSpPr>
            <a:spLocks noGrp="1"/>
          </p:cNvSpPr>
          <p:nvPr>
            <p:ph type="body" idx="2"/>
          </p:nvPr>
        </p:nvSpPr>
        <p:spPr/>
        <p:txBody>
          <a:bodyPr wrap="square"/>
          <a:lstStyle/>
          <a:p>
            <a:pPr algn="ctr" indent="0" marL="0"/>
            <a:r>
              <a:rPr sz="1100" b="1" i="0">
                <a:solidFill>
                  <a:srgbClr val="1A1A1A"/>
                </a:solidFill>
                <a:latin typeface="Verdana"/>
              </a:rPr>
              <a:t>R&amp;I, </a:t>
            </a:r>
            <a:r>
              <a:rPr sz="1100" b="0" i="1">
                <a:solidFill>
                  <a:srgbClr val="1A1A1A"/>
                </a:solidFill>
                <a:latin typeface="Verdana"/>
              </a:rPr>
              <a:t>PMO</a:t>
            </a:r>
          </a:p>
        </p:txBody>
      </p:sp>
      <p:sp>
        <p:nvSpPr>
          <p:cNvPr id="4" name="Text Placeholder 3"/>
          <p:cNvSpPr>
            <a:spLocks noGrp="1"/>
          </p:cNvSpPr>
          <p:nvPr>
            <p:ph type="body" idx="3"/>
          </p:nvPr>
        </p:nvSpPr>
        <p:spPr/>
        <p:txBody>
          <a:bodyPr wrap="square"/>
          <a:lstStyle/>
          <a:p>
            <a:pPr algn="just" indent="0" marL="0">
              <a:lnSpc>
                <a:spcPct val="105000"/>
              </a:lnSpc>
            </a:pPr>
            <a:r>
              <a:rPr sz="950" b="0" i="0">
                <a:solidFill>
                  <a:srgbClr val="404041"/>
                </a:solidFill>
                <a:latin typeface="Verdana"/>
              </a:rPr>
              <a:t>Square Management est intervenu en tant que Chef de la recherche IA auprès d'Ailancy AI pour le développement de leur offre IA, dans un contexte de création de la filiale IA du cabinet.</a:t>
            </a:r>
          </a:p>
        </p:txBody>
      </p:sp>
      <p:sp>
        <p:nvSpPr>
          <p:cNvPr id="5" name="Text Placeholder 4"/>
          <p:cNvSpPr>
            <a:spLocks noGrp="1"/>
          </p:cNvSpPr>
          <p:nvPr>
            <p:ph type="body" idx="4"/>
          </p:nvPr>
        </p:nvSpPr>
        <p:spPr/>
        <p:txBody>
          <a:bodyPr wrap="square"/>
          <a:lstStyle/>
          <a:p>
            <a:pPr algn="ctr" indent="0" marL="0"/>
            <a:r>
              <a:rPr sz="1000" b="1" i="0">
                <a:solidFill>
                  <a:srgbClr val="1A1A1A"/>
                </a:solidFill>
                <a:latin typeface="Verdana"/>
              </a:rPr>
              <a:t>SUIVI DE L’ADOPTION IA &amp; ML, </a:t>
            </a:r>
            <a:r>
              <a:rPr sz="1000" b="0" i="1">
                <a:solidFill>
                  <a:srgbClr val="1A1A1A"/>
                </a:solidFill>
                <a:latin typeface="Verdana"/>
              </a:rPr>
              <a:t>CHEF DE LA RECHERCHE IA</a:t>
            </a:r>
          </a:p>
        </p:txBody>
      </p:sp>
      <p:sp>
        <p:nvSpPr>
          <p:cNvPr id="6" name="Text Placeholder 5"/>
          <p:cNvSpPr>
            <a:spLocks noGrp="1"/>
          </p:cNvSpPr>
          <p:nvPr>
            <p:ph type="body" idx="5"/>
          </p:nvPr>
        </p:nvSpPr>
        <p:spPr/>
        <p:txBody>
          <a:bodyPr wrap="square"/>
          <a:lstStyle/>
          <a:p>
            <a:pPr algn="just" indent="0" marL="0">
              <a:lnSpc>
                <a:spcPct val="105000"/>
              </a:lnSpc>
            </a:pPr>
            <a:r>
              <a:rPr sz="950" b="0" i="0">
                <a:solidFill>
                  <a:srgbClr val="404041"/>
                </a:solidFill>
                <a:latin typeface="Verdana"/>
              </a:rPr>
              <a:t>Square Management est intervenu en tant que Chef de projet au sein de la Direction de la Transformation de NATIXIS IM OS, une entité nouvellement constituée réorganisant le suivi de son portefeuille de projets. La mission visait, entre autres, à reprendre la gouvernance des initiatives d'Intelligence Artificielle (IA) sur le périmètre AWM (Asset &amp; Wealth Management).</a:t>
            </a:r>
          </a:p>
        </p:txBody>
      </p:sp>
      <p:sp>
        <p:nvSpPr>
          <p:cNvPr id="7" name="Text Placeholder 6"/>
          <p:cNvSpPr>
            <a:spLocks noGrp="1"/>
          </p:cNvSpPr>
          <p:nvPr>
            <p:ph type="body" idx="6"/>
          </p:nvPr>
        </p:nvSpPr>
        <p:spPr/>
        <p:txBody>
          <a:bodyPr wrap="square"/>
          <a:lstStyle/>
          <a:p>
            <a:pPr algn="ctr" indent="0" marL="0"/>
            <a:r>
              <a:rPr sz="1100" b="1" i="0">
                <a:solidFill>
                  <a:srgbClr val="1A1A1A"/>
                </a:solidFill>
                <a:latin typeface="Verdana"/>
              </a:rPr>
              <a:t>DIRECTION TRANSFORMATION, </a:t>
            </a:r>
            <a:r>
              <a:rPr sz="1100" b="0" i="1">
                <a:solidFill>
                  <a:srgbClr val="1A1A1A"/>
                </a:solidFill>
                <a:latin typeface="Verdana"/>
              </a:rPr>
              <a:t>CHEF DE PROJET</a:t>
            </a:r>
          </a:p>
        </p:txBody>
      </p:sp>
      <p:sp>
        <p:nvSpPr>
          <p:cNvPr id="8" name="Text Placeholder 7"/>
          <p:cNvSpPr>
            <a:spLocks noGrp="1"/>
          </p:cNvSpPr>
          <p:nvPr>
            <p:ph type="body" idx="7"/>
          </p:nvPr>
        </p:nvSpPr>
        <p:spPr/>
        <p:txBody>
          <a:bodyPr wrap="square"/>
          <a:lstStyle/>
          <a:p>
            <a:pPr algn="just" indent="0" marL="0">
              <a:lnSpc>
                <a:spcPct val="105000"/>
              </a:lnSpc>
            </a:pPr>
            <a:r>
              <a:rPr sz="950" b="0" i="0">
                <a:solidFill>
                  <a:srgbClr val="404041"/>
                </a:solidFill>
                <a:latin typeface="Verdana"/>
              </a:rPr>
              <a:t>Square Management est intervenu en tant que Chef de la recherche IA &amp; Animateur au sein de la nouvelle filiale IA d'Ailancy AI, dont la stratégie est axée sur la maîtrise technique des outils IA et le développement des compétences internes chez le client.</a:t>
            </a:r>
          </a:p>
        </p:txBody>
      </p:sp>
      <p:sp>
        <p:nvSpPr>
          <p:cNvPr id="9" name="Text Placeholder 8"/>
          <p:cNvSpPr>
            <a:spLocks noGrp="1"/>
          </p:cNvSpPr>
          <p:nvPr>
            <p:ph type="body" idx="8"/>
          </p:nvPr>
        </p:nvSpPr>
        <p:spPr/>
        <p:txBody>
          <a:bodyPr wrap="square"/>
          <a:lstStyle/>
          <a:p>
            <a:pPr algn="ctr" indent="0" marL="0"/>
            <a:r>
              <a:rPr sz="1000" b="1" i="0">
                <a:solidFill>
                  <a:srgbClr val="1A1A1A"/>
                </a:solidFill>
                <a:latin typeface="Verdana"/>
              </a:rPr>
              <a:t>FORMATION IA &amp; ML, </a:t>
            </a:r>
            <a:r>
              <a:rPr sz="1000" b="0" i="1">
                <a:solidFill>
                  <a:srgbClr val="1A1A1A"/>
                </a:solidFill>
                <a:latin typeface="Verdana"/>
              </a:rPr>
              <a:t>CHEF DE LA RECHERCHE IA &amp; ANIMATEUR</a:t>
            </a:r>
          </a:p>
        </p:txBody>
      </p:sp>
      <p:sp>
        <p:nvSpPr>
          <p:cNvPr id="11" name="Text Placeholder 10"/>
          <p:cNvSpPr>
            <a:spLocks noGrp="1"/>
          </p:cNvSpPr>
          <p:nvPr>
            <p:ph type="body" idx="13"/>
          </p:nvPr>
        </p:nvSpPr>
        <p:spPr/>
        <p:txBody>
          <a:bodyPr wrap="square" anchor="ctr"/>
          <a:lstStyle/>
          <a:p>
            <a:pPr algn="ctr" indent="0" marL="0"/>
            <a:r>
              <a:rPr sz="1400" b="1" i="0">
                <a:solidFill>
                  <a:srgbClr val="1A1A1A"/>
                </a:solidFill>
                <a:latin typeface="Verdana"/>
              </a:rPr>
              <a:t>Ailancy AI</a:t>
            </a:r>
          </a:p>
        </p:txBody>
      </p:sp>
      <p:sp>
        <p:nvSpPr>
          <p:cNvPr id="13" name="Text Placeholder 12"/>
          <p:cNvSpPr>
            <a:spLocks noGrp="1"/>
          </p:cNvSpPr>
          <p:nvPr>
            <p:ph type="body" idx="15"/>
          </p:nvPr>
        </p:nvSpPr>
        <p:spPr/>
        <p:txBody>
          <a:bodyPr wrap="square" anchor="ctr"/>
          <a:lstStyle/>
          <a:p>
            <a:pPr algn="ctr" indent="0" marL="0"/>
            <a:r>
              <a:rPr sz="1400" b="1" i="0">
                <a:solidFill>
                  <a:srgbClr val="1A1A1A"/>
                </a:solidFill>
                <a:latin typeface="Verdana"/>
              </a:rPr>
              <a:t>Ailancy AI</a:t>
            </a:r>
          </a:p>
        </p:txBody>
      </p:sp>
      <p:sp>
        <p:nvSpPr>
          <p:cNvPr id="14" name="Title 13"/>
          <p:cNvSpPr>
            <a:spLocks noGrp="1"/>
          </p:cNvSpPr>
          <p:nvPr>
            <p:ph type="title"/>
          </p:nvPr>
        </p:nvSpPr>
        <p:spPr/>
        <p:txBody>
          <a:bodyPr/>
          <a:lstStyle/>
          <a:p>
            <a:r>
              <a:t>Références IA : People &amp; Change (2/4)</a:t>
            </a:r>
          </a:p>
        </p:txBody>
      </p:sp>
      <p:pic>
        <p:nvPicPr>
          <p:cNvPr id="15" name="Picture 14" descr="loreal.png"/>
          <p:cNvPicPr>
            <a:picLocks noChangeAspect="1"/>
          </p:cNvPicPr>
          <p:nvPr/>
        </p:nvPicPr>
        <p:blipFill>
          <a:blip r:embed="rId2"/>
          <a:stretch>
            <a:fillRect/>
          </a:stretch>
        </p:blipFill>
        <p:spPr>
          <a:xfrm>
            <a:off x="1855624" y="1470245"/>
            <a:ext cx="2289652" cy="414999"/>
          </a:xfrm>
          <a:prstGeom prst="rect">
            <a:avLst/>
          </a:prstGeom>
        </p:spPr>
      </p:pic>
      <p:pic>
        <p:nvPicPr>
          <p:cNvPr id="16" name="Picture 15" descr="natixis.png"/>
          <p:cNvPicPr>
            <a:picLocks noChangeAspect="1"/>
          </p:cNvPicPr>
          <p:nvPr/>
        </p:nvPicPr>
        <p:blipFill>
          <a:blip r:embed="rId3"/>
          <a:stretch>
            <a:fillRect/>
          </a:stretch>
        </p:blipFill>
        <p:spPr>
          <a:xfrm>
            <a:off x="7733188" y="1376274"/>
            <a:ext cx="2289652" cy="602941"/>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lgn="just" indent="0" marL="0">
              <a:lnSpc>
                <a:spcPct val="105000"/>
              </a:lnSpc>
            </a:pPr>
            <a:r>
              <a:rPr sz="950" b="0" i="0">
                <a:solidFill>
                  <a:srgbClr val="404041"/>
                </a:solidFill>
                <a:latin typeface="Verdana"/>
              </a:rPr>
              <a:t>Square Management est intervenu en tant que Speaker IA &amp; Management de l'innovation auprès de BPCE (RH GROUPE). La mission était une conférence et acculturation sur l'apport des LLM et de l'IA Générative pour les responsables RH du groupe. Le rôle de Square Management a consisté à présenter l'IA générative en RH, en illustrant les cas d'usage, les limites, l'éthique et la réglementation (IA ACT).</a:t>
            </a:r>
          </a:p>
        </p:txBody>
      </p:sp>
      <p:sp>
        <p:nvSpPr>
          <p:cNvPr id="3" name="Text Placeholder 2"/>
          <p:cNvSpPr>
            <a:spLocks noGrp="1"/>
          </p:cNvSpPr>
          <p:nvPr>
            <p:ph type="body" idx="2"/>
          </p:nvPr>
        </p:nvSpPr>
        <p:spPr/>
        <p:txBody>
          <a:bodyPr wrap="square"/>
          <a:lstStyle/>
          <a:p>
            <a:pPr algn="ctr" indent="0" marL="0"/>
            <a:r>
              <a:rPr sz="1000" b="1" i="0">
                <a:solidFill>
                  <a:srgbClr val="1A1A1A"/>
                </a:solidFill>
                <a:latin typeface="Verdana"/>
              </a:rPr>
              <a:t>RH GROUPE, </a:t>
            </a:r>
            <a:r>
              <a:rPr sz="1000" b="0" i="1">
                <a:solidFill>
                  <a:srgbClr val="1A1A1A"/>
                </a:solidFill>
                <a:latin typeface="Verdana"/>
              </a:rPr>
              <a:t>SPEAKER IA &amp; MANAGEMENT DE  L'INNOVATION</a:t>
            </a:r>
          </a:p>
        </p:txBody>
      </p:sp>
      <p:sp>
        <p:nvSpPr>
          <p:cNvPr id="4" name="Text Placeholder 3"/>
          <p:cNvSpPr>
            <a:spLocks noGrp="1"/>
          </p:cNvSpPr>
          <p:nvPr>
            <p:ph type="body" idx="3"/>
          </p:nvPr>
        </p:nvSpPr>
        <p:spPr/>
        <p:txBody>
          <a:bodyPr wrap="square"/>
          <a:lstStyle/>
          <a:p>
            <a:pPr algn="just" indent="0" marL="0">
              <a:lnSpc>
                <a:spcPct val="105000"/>
              </a:lnSpc>
            </a:pPr>
            <a:r>
              <a:rPr sz="950" b="0" i="0">
                <a:solidFill>
                  <a:srgbClr val="404041"/>
                </a:solidFill>
                <a:latin typeface="Verdana"/>
              </a:rPr>
              <a:t>Square Management est intervenu en tant que PMO / Programme Manager au sein de la division SRCM de L'Oréal - R&amp;I. L'accent a été mis sur l'intégration de l'IA, notamment par l'accompagnement de l'équipe Data sur les couches d'ontologie et le pilotage d'expérimentations en IA générative avec des partenaires externes.</a:t>
            </a:r>
          </a:p>
        </p:txBody>
      </p:sp>
      <p:sp>
        <p:nvSpPr>
          <p:cNvPr id="5" name="Text Placeholder 4"/>
          <p:cNvSpPr>
            <a:spLocks noGrp="1"/>
          </p:cNvSpPr>
          <p:nvPr>
            <p:ph type="body" idx="4"/>
          </p:nvPr>
        </p:nvSpPr>
        <p:spPr/>
        <p:txBody>
          <a:bodyPr wrap="square"/>
          <a:lstStyle/>
          <a:p>
            <a:pPr algn="ctr" indent="0" marL="0"/>
            <a:r>
              <a:rPr sz="900" b="1" i="0">
                <a:solidFill>
                  <a:srgbClr val="1A1A1A"/>
                </a:solidFill>
                <a:latin typeface="Verdana"/>
              </a:rPr>
              <a:t>GLOBAL SRCM -  SAFETY, REGULATORY &amp; CLAIMS AFFAIRS AND MICROBIOLOGY, </a:t>
            </a:r>
            <a:r>
              <a:rPr sz="900" b="0" i="1">
                <a:solidFill>
                  <a:srgbClr val="1A1A1A"/>
                </a:solidFill>
                <a:latin typeface="Verdana"/>
              </a:rPr>
              <a:t>PMO / PROGRAMME MANAGER</a:t>
            </a:r>
          </a:p>
        </p:txBody>
      </p:sp>
      <p:sp>
        <p:nvSpPr>
          <p:cNvPr id="6" name="Text Placeholder 5"/>
          <p:cNvSpPr>
            <a:spLocks noGrp="1"/>
          </p:cNvSpPr>
          <p:nvPr>
            <p:ph type="body" idx="5"/>
          </p:nvPr>
        </p:nvSpPr>
        <p:spPr/>
        <p:txBody>
          <a:bodyPr wrap="square"/>
          <a:lstStyle/>
          <a:p>
            <a:pPr algn="just" indent="0" marL="0">
              <a:lnSpc>
                <a:spcPct val="105000"/>
              </a:lnSpc>
            </a:pPr>
            <a:r>
              <a:rPr sz="950" b="0" i="0">
                <a:solidFill>
                  <a:srgbClr val="404041"/>
                </a:solidFill>
                <a:latin typeface="Verdana"/>
              </a:rPr>
              <a:t>Square Management est intervenu en tant que Directrice Conduite du Changement auprès de CREDIT AGRICOLE LEASING AND FACTORING (CAL&amp;F) dans le cadre du programme "Performance 2030". Le contexte est l'évolution technologique (IA/digitalisation) et les besoins d'automatisation, nécessitant un contrôle des charges pour investir dans des projets de croissance.</a:t>
            </a:r>
          </a:p>
        </p:txBody>
      </p:sp>
      <p:sp>
        <p:nvSpPr>
          <p:cNvPr id="7" name="Text Placeholder 6"/>
          <p:cNvSpPr>
            <a:spLocks noGrp="1"/>
          </p:cNvSpPr>
          <p:nvPr>
            <p:ph type="body" idx="6"/>
          </p:nvPr>
        </p:nvSpPr>
        <p:spPr/>
        <p:txBody>
          <a:bodyPr wrap="square"/>
          <a:lstStyle/>
          <a:p>
            <a:pPr algn="ctr" indent="0" marL="0"/>
            <a:r>
              <a:rPr sz="1000" b="1" i="0">
                <a:solidFill>
                  <a:srgbClr val="1A1A1A"/>
                </a:solidFill>
                <a:latin typeface="Verdana"/>
              </a:rPr>
              <a:t>DIRECTION DE LA TRANSFORMATION, </a:t>
            </a:r>
            <a:r>
              <a:rPr sz="1000" b="0" i="1">
                <a:solidFill>
                  <a:srgbClr val="1A1A1A"/>
                </a:solidFill>
                <a:latin typeface="Verdana"/>
              </a:rPr>
              <a:t>DIRECTRICE CONDUITE DU CHANGEMENT</a:t>
            </a:r>
          </a:p>
        </p:txBody>
      </p:sp>
      <p:sp>
        <p:nvSpPr>
          <p:cNvPr id="8" name="Text Placeholder 7"/>
          <p:cNvSpPr>
            <a:spLocks noGrp="1"/>
          </p:cNvSpPr>
          <p:nvPr>
            <p:ph type="body" idx="7"/>
          </p:nvPr>
        </p:nvSpPr>
        <p:spPr/>
        <p:txBody>
          <a:bodyPr wrap="square"/>
          <a:lstStyle/>
          <a:p>
            <a:pPr algn="just" indent="0" marL="0">
              <a:lnSpc>
                <a:spcPct val="105000"/>
              </a:lnSpc>
            </a:pPr>
            <a:r>
              <a:rPr sz="950" b="0" i="0">
                <a:solidFill>
                  <a:srgbClr val="404041"/>
                </a:solidFill>
                <a:latin typeface="Verdana"/>
              </a:rPr>
              <a:t>Square Management est intervenu en tant que Conseil en Innovation &amp; IA au sein du Secrétariat Général de Société Générale (SG/SEGL), pour structurer l'IA Office. La mission a consisté à établir un cadre de gouvernance et un processus d'expérimentation pour l'industrialisation des projets IA.</a:t>
            </a:r>
          </a:p>
        </p:txBody>
      </p:sp>
      <p:sp>
        <p:nvSpPr>
          <p:cNvPr id="9" name="Text Placeholder 8"/>
          <p:cNvSpPr>
            <a:spLocks noGrp="1"/>
          </p:cNvSpPr>
          <p:nvPr>
            <p:ph type="body" idx="8"/>
          </p:nvPr>
        </p:nvSpPr>
        <p:spPr/>
        <p:txBody>
          <a:bodyPr wrap="square"/>
          <a:lstStyle/>
          <a:p>
            <a:pPr algn="ctr" indent="0" marL="0"/>
            <a:r>
              <a:rPr sz="1100" b="1" i="0">
                <a:solidFill>
                  <a:srgbClr val="1A1A1A"/>
                </a:solidFill>
                <a:latin typeface="Verdana"/>
              </a:rPr>
              <a:t>SEGL, </a:t>
            </a:r>
            <a:r>
              <a:rPr sz="1100" b="0" i="1">
                <a:solidFill>
                  <a:srgbClr val="1A1A1A"/>
                </a:solidFill>
                <a:latin typeface="Verdana"/>
              </a:rPr>
              <a:t>CONSEIL EN INNOVATION &amp; IA</a:t>
            </a:r>
          </a:p>
        </p:txBody>
      </p:sp>
      <p:sp>
        <p:nvSpPr>
          <p:cNvPr id="14" name="Title 13"/>
          <p:cNvSpPr>
            <a:spLocks noGrp="1"/>
          </p:cNvSpPr>
          <p:nvPr>
            <p:ph type="title"/>
          </p:nvPr>
        </p:nvSpPr>
        <p:spPr/>
        <p:txBody>
          <a:bodyPr/>
          <a:lstStyle/>
          <a:p>
            <a:r>
              <a:t>Références IA : People &amp; Change (3/4)</a:t>
            </a:r>
          </a:p>
        </p:txBody>
      </p:sp>
      <p:pic>
        <p:nvPicPr>
          <p:cNvPr id="15" name="Picture 14" descr="bpce.png"/>
          <p:cNvPicPr>
            <a:picLocks noChangeAspect="1"/>
          </p:cNvPicPr>
          <p:nvPr/>
        </p:nvPicPr>
        <p:blipFill>
          <a:blip r:embed="rId2"/>
          <a:stretch>
            <a:fillRect/>
          </a:stretch>
        </p:blipFill>
        <p:spPr>
          <a:xfrm>
            <a:off x="1901138" y="1275460"/>
            <a:ext cx="2198624" cy="804569"/>
          </a:xfrm>
          <a:prstGeom prst="rect">
            <a:avLst/>
          </a:prstGeom>
        </p:spPr>
      </p:pic>
      <p:pic>
        <p:nvPicPr>
          <p:cNvPr id="16" name="Picture 15" descr="credit_agricole.png"/>
          <p:cNvPicPr>
            <a:picLocks noChangeAspect="1"/>
          </p:cNvPicPr>
          <p:nvPr/>
        </p:nvPicPr>
        <p:blipFill>
          <a:blip r:embed="rId3"/>
          <a:stretch>
            <a:fillRect/>
          </a:stretch>
        </p:blipFill>
        <p:spPr>
          <a:xfrm>
            <a:off x="8300154" y="1275460"/>
            <a:ext cx="1155720" cy="804569"/>
          </a:xfrm>
          <a:prstGeom prst="rect">
            <a:avLst/>
          </a:prstGeom>
        </p:spPr>
      </p:pic>
      <p:pic>
        <p:nvPicPr>
          <p:cNvPr id="17" name="Picture 16" descr="loreal.png"/>
          <p:cNvPicPr>
            <a:picLocks noChangeAspect="1"/>
          </p:cNvPicPr>
          <p:nvPr/>
        </p:nvPicPr>
        <p:blipFill>
          <a:blip r:embed="rId4"/>
          <a:stretch>
            <a:fillRect/>
          </a:stretch>
        </p:blipFill>
        <p:spPr>
          <a:xfrm>
            <a:off x="1855624" y="4182272"/>
            <a:ext cx="2289652" cy="414999"/>
          </a:xfrm>
          <a:prstGeom prst="rect">
            <a:avLst/>
          </a:prstGeom>
        </p:spPr>
      </p:pic>
      <p:pic>
        <p:nvPicPr>
          <p:cNvPr id="18" name="Picture 17" descr="societe_generale.png"/>
          <p:cNvPicPr>
            <a:picLocks noChangeAspect="1"/>
          </p:cNvPicPr>
          <p:nvPr/>
        </p:nvPicPr>
        <p:blipFill>
          <a:blip r:embed="rId5"/>
          <a:stretch>
            <a:fillRect/>
          </a:stretch>
        </p:blipFill>
        <p:spPr>
          <a:xfrm>
            <a:off x="7733188" y="4128608"/>
            <a:ext cx="2289652" cy="52232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lgn="just" indent="0" marL="0">
              <a:lnSpc>
                <a:spcPct val="105000"/>
              </a:lnSpc>
            </a:pPr>
            <a:r>
              <a:rPr sz="950" b="0" i="0">
                <a:solidFill>
                  <a:srgbClr val="404041"/>
                </a:solidFill>
                <a:latin typeface="Verdana"/>
              </a:rPr>
              <a:t>Square Management est intervenu en tant que Speaker IA &amp; Management de l'innovation auprès de RH GROUPE de BPCE pour animer une conférence d'acculturation sur les LLM et l’IA générative destinée à l’ensemble des responsables RH du groupe. La mission a consisté à présenter l'apport de l'IA générative et des LLM dans le métier des Ressources Humaines.</a:t>
            </a:r>
          </a:p>
        </p:txBody>
      </p:sp>
      <p:sp>
        <p:nvSpPr>
          <p:cNvPr id="3" name="Text Placeholder 2"/>
          <p:cNvSpPr>
            <a:spLocks noGrp="1"/>
          </p:cNvSpPr>
          <p:nvPr>
            <p:ph type="body" idx="2"/>
          </p:nvPr>
        </p:nvSpPr>
        <p:spPr/>
        <p:txBody>
          <a:bodyPr wrap="square"/>
          <a:lstStyle/>
          <a:p>
            <a:pPr algn="ctr" indent="0" marL="0"/>
            <a:r>
              <a:rPr sz="1000" b="1" i="0">
                <a:solidFill>
                  <a:srgbClr val="1A1A1A"/>
                </a:solidFill>
                <a:latin typeface="Verdana"/>
              </a:rPr>
              <a:t>RH GROUPE, </a:t>
            </a:r>
            <a:r>
              <a:rPr sz="1000" b="0" i="1">
                <a:solidFill>
                  <a:srgbClr val="1A1A1A"/>
                </a:solidFill>
                <a:latin typeface="Verdana"/>
              </a:rPr>
              <a:t>SPEAKER IA &amp; MANAGEMENT DE  L'INNOVATION</a:t>
            </a:r>
          </a:p>
        </p:txBody>
      </p:sp>
      <p:sp>
        <p:nvSpPr>
          <p:cNvPr id="4" name="Text Placeholder 3"/>
          <p:cNvSpPr>
            <a:spLocks noGrp="1"/>
          </p:cNvSpPr>
          <p:nvPr>
            <p:ph type="body" idx="3"/>
          </p:nvPr>
        </p:nvSpPr>
        <p:spPr/>
        <p:txBody>
          <a:bodyPr wrap="square"/>
          <a:lstStyle/>
          <a:p>
            <a:pPr algn="just" indent="0" marL="0">
              <a:lnSpc>
                <a:spcPct val="105000"/>
              </a:lnSpc>
            </a:pPr>
            <a:r>
              <a:rPr sz="950" b="0" i="0">
                <a:solidFill>
                  <a:srgbClr val="404041"/>
                </a:solidFill>
                <a:latin typeface="Verdana"/>
              </a:rPr>
              <a:t>Square Management est intervenu en tant que Consultante auprès de CREDIT AGRICOLE SA (Direction. Concernant l'IA, la mission comprenait la conduite d'ateliers d'idéation sur les thématiques prospectives, notamment la DATA/IA, afin d'élaborer des recommandations stratégiques pour accélérer la transformation digitale.</a:t>
            </a:r>
          </a:p>
        </p:txBody>
      </p:sp>
      <p:sp>
        <p:nvSpPr>
          <p:cNvPr id="5" name="Text Placeholder 4"/>
          <p:cNvSpPr>
            <a:spLocks noGrp="1"/>
          </p:cNvSpPr>
          <p:nvPr>
            <p:ph type="body" idx="4"/>
          </p:nvPr>
        </p:nvSpPr>
        <p:spPr/>
        <p:txBody>
          <a:bodyPr wrap="square"/>
          <a:lstStyle/>
          <a:p>
            <a:pPr algn="ctr" indent="0" marL="0"/>
            <a:r>
              <a:rPr sz="900" b="1" i="0">
                <a:solidFill>
                  <a:srgbClr val="1A1A1A"/>
                </a:solidFill>
                <a:latin typeface="Verdana"/>
              </a:rPr>
              <a:t>DIRECTION DE LA TRANSFORMATION DIGITALE ET DE L'INNOVATION, </a:t>
            </a:r>
            <a:r>
              <a:rPr sz="900" b="0" i="1">
                <a:solidFill>
                  <a:srgbClr val="1A1A1A"/>
                </a:solidFill>
                <a:latin typeface="Verdana"/>
              </a:rPr>
              <a:t>CONSULTANTE</a:t>
            </a:r>
          </a:p>
        </p:txBody>
      </p:sp>
      <p:sp>
        <p:nvSpPr>
          <p:cNvPr id="6" name="Text Placeholder 5"/>
          <p:cNvSpPr>
            <a:spLocks noGrp="1"/>
          </p:cNvSpPr>
          <p:nvPr>
            <p:ph type="body" idx="5"/>
          </p:nvPr>
        </p:nvSpPr>
        <p:spPr/>
        <p:txBody>
          <a:bodyPr wrap="square"/>
          <a:lstStyle/>
          <a:p>
            <a:pPr algn="just" indent="0" marL="0">
              <a:lnSpc>
                <a:spcPct val="105000"/>
              </a:lnSpc>
            </a:pPr>
            <a:r>
              <a:rPr sz="950" b="0" i="0">
                <a:solidFill>
                  <a:srgbClr val="404041"/>
                </a:solidFill>
                <a:latin typeface="Verdana"/>
              </a:rPr>
              <a:t>Square Management est intervenu en tant que PPO chez ALLIANZ, au sein de la Direction Indemnisation, pour l'implémentation française du projet international ITMP FNOL MOTOR. Le rôle de Square Management était de piloter l'intégration de fonctionnalités clés utilisant l'Intelligence Artificielle.</a:t>
            </a:r>
          </a:p>
        </p:txBody>
      </p:sp>
      <p:sp>
        <p:nvSpPr>
          <p:cNvPr id="7" name="Text Placeholder 6"/>
          <p:cNvSpPr>
            <a:spLocks noGrp="1"/>
          </p:cNvSpPr>
          <p:nvPr>
            <p:ph type="body" idx="6"/>
          </p:nvPr>
        </p:nvSpPr>
        <p:spPr/>
        <p:txBody>
          <a:bodyPr wrap="square"/>
          <a:lstStyle/>
          <a:p>
            <a:pPr algn="ctr" indent="0" marL="0"/>
            <a:r>
              <a:rPr sz="900" b="1" i="0">
                <a:solidFill>
                  <a:srgbClr val="1A1A1A"/>
                </a:solidFill>
                <a:latin typeface="Verdana"/>
              </a:rPr>
              <a:t>DIRECTION INDEMNISATION SERVICE CLIENT /TRANSFORMATION OPÉRATIONNELLE, </a:t>
            </a:r>
            <a:r>
              <a:rPr sz="900" b="0" i="1">
                <a:solidFill>
                  <a:srgbClr val="1A1A1A"/>
                </a:solidFill>
                <a:latin typeface="Verdana"/>
              </a:rPr>
              <a:t>PPO</a:t>
            </a:r>
          </a:p>
        </p:txBody>
      </p:sp>
      <p:sp>
        <p:nvSpPr>
          <p:cNvPr id="8" name="Text Placeholder 7"/>
          <p:cNvSpPr>
            <a:spLocks noGrp="1"/>
          </p:cNvSpPr>
          <p:nvPr>
            <p:ph type="body" idx="7"/>
          </p:nvPr>
        </p:nvSpPr>
        <p:spPr/>
        <p:txBody>
          <a:bodyPr wrap="square"/>
          <a:lstStyle/>
          <a:p>
            <a:pPr algn="just" indent="0" marL="0">
              <a:lnSpc>
                <a:spcPct val="105000"/>
              </a:lnSpc>
            </a:pPr>
            <a:r>
              <a:rPr sz="950" b="0" i="0">
                <a:solidFill>
                  <a:srgbClr val="404041"/>
                </a:solidFill>
                <a:latin typeface="Verdana"/>
              </a:rPr>
              <a:t>Square Management est intervenu en tant qu'Animateur et enseignant auprès de Partenaires multiples (RH/centre de formation/ministères/events). Le consultant a eu à cœur de rendre ses expertises en IA, data et neurosciences intelligibles et abordables pour tous les profils.</a:t>
            </a:r>
          </a:p>
        </p:txBody>
      </p:sp>
      <p:sp>
        <p:nvSpPr>
          <p:cNvPr id="9" name="Text Placeholder 8"/>
          <p:cNvSpPr>
            <a:spLocks noGrp="1"/>
          </p:cNvSpPr>
          <p:nvPr>
            <p:ph type="body" idx="8"/>
          </p:nvPr>
        </p:nvSpPr>
        <p:spPr/>
        <p:txBody>
          <a:bodyPr wrap="square"/>
          <a:lstStyle/>
          <a:p>
            <a:pPr algn="ctr" indent="0" marL="0"/>
            <a:r>
              <a:rPr sz="1000" b="1" i="0">
                <a:solidFill>
                  <a:srgbClr val="1A1A1A"/>
                </a:solidFill>
                <a:latin typeface="Verdana"/>
              </a:rPr>
              <a:t>RH/CENTRE DE FORMATION/MINISTÈRES/EVENTS, </a:t>
            </a:r>
            <a:r>
              <a:rPr sz="1000" b="0" i="1">
                <a:solidFill>
                  <a:srgbClr val="1A1A1A"/>
                </a:solidFill>
                <a:latin typeface="Verdana"/>
              </a:rPr>
              <a:t>ANIMATEUR ET ENSEIGNANT</a:t>
            </a:r>
          </a:p>
        </p:txBody>
      </p:sp>
      <p:sp>
        <p:nvSpPr>
          <p:cNvPr id="13" name="Text Placeholder 12"/>
          <p:cNvSpPr>
            <a:spLocks noGrp="1"/>
          </p:cNvSpPr>
          <p:nvPr>
            <p:ph type="body" idx="15"/>
          </p:nvPr>
        </p:nvSpPr>
        <p:spPr/>
        <p:txBody>
          <a:bodyPr wrap="square" anchor="ctr"/>
          <a:lstStyle/>
          <a:p>
            <a:pPr algn="ctr" indent="0" marL="0"/>
            <a:r>
              <a:rPr sz="1400" b="1" i="0">
                <a:solidFill>
                  <a:srgbClr val="1A1A1A"/>
                </a:solidFill>
                <a:latin typeface="Verdana"/>
              </a:rPr>
              <a:t>Partenaires multiples</a:t>
            </a:r>
          </a:p>
        </p:txBody>
      </p:sp>
      <p:sp>
        <p:nvSpPr>
          <p:cNvPr id="14" name="Title 13"/>
          <p:cNvSpPr>
            <a:spLocks noGrp="1"/>
          </p:cNvSpPr>
          <p:nvPr>
            <p:ph type="title"/>
          </p:nvPr>
        </p:nvSpPr>
        <p:spPr/>
        <p:txBody>
          <a:bodyPr/>
          <a:lstStyle/>
          <a:p>
            <a:r>
              <a:t>Références IA : People &amp; Change (4/4)</a:t>
            </a:r>
          </a:p>
        </p:txBody>
      </p:sp>
      <p:pic>
        <p:nvPicPr>
          <p:cNvPr id="15" name="Picture 14" descr="bpce.png"/>
          <p:cNvPicPr>
            <a:picLocks noChangeAspect="1"/>
          </p:cNvPicPr>
          <p:nvPr/>
        </p:nvPicPr>
        <p:blipFill>
          <a:blip r:embed="rId2"/>
          <a:stretch>
            <a:fillRect/>
          </a:stretch>
        </p:blipFill>
        <p:spPr>
          <a:xfrm>
            <a:off x="1901138" y="1275460"/>
            <a:ext cx="2198624" cy="804569"/>
          </a:xfrm>
          <a:prstGeom prst="rect">
            <a:avLst/>
          </a:prstGeom>
        </p:spPr>
      </p:pic>
      <p:pic>
        <p:nvPicPr>
          <p:cNvPr id="16" name="Picture 15" descr="allianz.png"/>
          <p:cNvPicPr>
            <a:picLocks noChangeAspect="1"/>
          </p:cNvPicPr>
          <p:nvPr/>
        </p:nvPicPr>
        <p:blipFill>
          <a:blip r:embed="rId3"/>
          <a:stretch>
            <a:fillRect/>
          </a:stretch>
        </p:blipFill>
        <p:spPr>
          <a:xfrm>
            <a:off x="7733188" y="1392731"/>
            <a:ext cx="2289652" cy="570027"/>
          </a:xfrm>
          <a:prstGeom prst="rect">
            <a:avLst/>
          </a:prstGeom>
        </p:spPr>
      </p:pic>
      <p:pic>
        <p:nvPicPr>
          <p:cNvPr id="17" name="Picture 16" descr="credit_agricole.png"/>
          <p:cNvPicPr>
            <a:picLocks noChangeAspect="1"/>
          </p:cNvPicPr>
          <p:nvPr/>
        </p:nvPicPr>
        <p:blipFill>
          <a:blip r:embed="rId4"/>
          <a:stretch>
            <a:fillRect/>
          </a:stretch>
        </p:blipFill>
        <p:spPr>
          <a:xfrm>
            <a:off x="2422590" y="3987487"/>
            <a:ext cx="1155720" cy="804569"/>
          </a:xfrm>
          <a:prstGeom prst="rect">
            <a:avLst/>
          </a:prstGeom>
        </p:spPr>
      </p:pic>
    </p:spTree>
  </p:cSld>
  <p:clrMapOvr>
    <a:masterClrMapping/>
  </p:clrMapOvr>
</p:sld>
</file>

<file path=ppt/theme/theme1.xml><?xml version="1.0" encoding="utf-8"?>
<a:theme xmlns:a="http://schemas.openxmlformats.org/drawingml/2006/main" name="Thème Square_23">
  <a:themeElements>
    <a:clrScheme name="Square T2 _ 2020">
      <a:dk1>
        <a:srgbClr val="000000"/>
      </a:dk1>
      <a:lt1>
        <a:srgbClr val="FFFFFF"/>
      </a:lt1>
      <a:dk2>
        <a:srgbClr val="000000"/>
      </a:dk2>
      <a:lt2>
        <a:srgbClr val="BD8E42"/>
      </a:lt2>
      <a:accent1>
        <a:srgbClr val="404041"/>
      </a:accent1>
      <a:accent2>
        <a:srgbClr val="876B3A"/>
      </a:accent2>
      <a:accent3>
        <a:srgbClr val="807F7E"/>
      </a:accent3>
      <a:accent4>
        <a:srgbClr val="B58F4F"/>
      </a:accent4>
      <a:accent5>
        <a:srgbClr val="BEBFBF"/>
      </a:accent5>
      <a:accent6>
        <a:srgbClr val="D2BC93"/>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1498</Words>
  <Application>Microsoft Office PowerPoint</Application>
  <PresentationFormat>Grand écran</PresentationFormat>
  <Paragraphs>63</Paragraphs>
  <Slides>6</Slides>
  <Notes>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6</vt:i4>
      </vt:variant>
    </vt:vector>
  </HeadingPairs>
  <TitlesOfParts>
    <vt:vector size="12" baseType="lpstr">
      <vt:lpstr>Arial</vt:lpstr>
      <vt:lpstr>Calibri</vt:lpstr>
      <vt:lpstr>Merriweather Sans</vt:lpstr>
      <vt:lpstr>Noto Sans Symbols</vt:lpstr>
      <vt:lpstr>Verdana</vt:lpstr>
      <vt:lpstr>Thème Square_23</vt:lpstr>
      <vt:lpstr>05</vt:lpstr>
      <vt:lpstr>Nos références MGEN</vt:lpstr>
      <vt:lpstr>Nos références Groupe VYV</vt:lpstr>
      <vt:lpstr>Autres références missions AMOA Change (1/3)</vt:lpstr>
      <vt:lpstr>Autres références missions AMOA Change (2/3)</vt:lpstr>
      <vt:lpstr>Autres références missions AMOA Change (3/3)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PRESTATION D’ASSISTANCE TECHNIQUE  ACCOMPAGNEMENT AU CHANGEMENT</dc:title>
  <dc:creator>pauline.goujard@square-management.com</dc:creator>
  <cp:lastModifiedBy>Mathilde Guillous</cp:lastModifiedBy>
  <cp:revision>31</cp:revision>
  <dcterms:created xsi:type="dcterms:W3CDTF">2023-04-12T10:08:46Z</dcterms:created>
  <dcterms:modified xsi:type="dcterms:W3CDTF">2026-06-30T09:02:56Z</dcterms:modified>
</cp:coreProperties>
</file>