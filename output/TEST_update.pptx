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giWhtLmM72IUdJ/Ib2n5V8STAQ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70" Type="http://customschemas.google.com/relationships/presentationmetadata" Target="metadata"/><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Intercalaire Square" type="secHead">
  <p:cSld name="SECTION_HEADER">
    <p:bg>
      <p:bgPr>
        <a:solidFill>
          <a:schemeClr val="lt1"/>
        </a:solidFill>
        <a:effectLst/>
      </p:bgPr>
    </p:bg>
    <p:spTree>
      <p:nvGrpSpPr>
        <p:cNvPr id="1" name="Shape 46"/>
        <p:cNvGrpSpPr/>
        <p:nvPr/>
      </p:nvGrpSpPr>
      <p:grpSpPr>
        <a:xfrm>
          <a:off x="0" y="0"/>
          <a:ext cx="0" cy="0"/>
          <a:chOff x="0" y="0"/>
          <a:chExt cx="0" cy="0"/>
        </a:xfrm>
      </p:grpSpPr>
      <p:sp>
        <p:nvSpPr>
          <p:cNvPr id="47" name="Google Shape;47;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48" name="Google Shape;48;p63"/>
          <p:cNvSpPr txBox="1">
            <a:spLocks noGrp="1"/>
          </p:cNvSpPr>
          <p:nvPr>
            <p:ph type="title"/>
          </p:nvPr>
        </p:nvSpPr>
        <p:spPr>
          <a:xfrm>
            <a:off x="808520" y="2870476"/>
            <a:ext cx="6778687" cy="1548000"/>
          </a:xfrm>
          <a:prstGeom prst="rect">
            <a:avLst/>
          </a:prstGeom>
          <a:noFill/>
          <a:ln>
            <a:noFill/>
          </a:ln>
        </p:spPr>
        <p:txBody>
          <a:bodyPr spcFirstLastPara="1" wrap="square" lIns="0" tIns="45700" rIns="0" bIns="45700" anchor="ctr" anchorCtr="0">
            <a:noAutofit/>
          </a:bodyPr>
          <a:lstStyle>
            <a:lvl1pPr marR="0" lvl="0" algn="l" rtl="0">
              <a:lnSpc>
                <a:spcPct val="100000"/>
              </a:lnSpc>
              <a:spcBef>
                <a:spcPts val="0"/>
              </a:spcBef>
              <a:spcAft>
                <a:spcPts val="0"/>
              </a:spcAft>
              <a:buClr>
                <a:schemeClr val="lt1"/>
              </a:buClr>
              <a:buSzPts val="13500"/>
              <a:buFont typeface="Verdana"/>
              <a:buNone/>
              <a:defRPr sz="13500" b="0"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9" name="Google Shape;49;p63"/>
          <p:cNvSpPr txBox="1">
            <a:spLocks noGrp="1"/>
          </p:cNvSpPr>
          <p:nvPr>
            <p:ph type="body" idx="1"/>
          </p:nvPr>
        </p:nvSpPr>
        <p:spPr>
          <a:xfrm>
            <a:off x="808520" y="4418476"/>
            <a:ext cx="6778687" cy="15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Noto Sans Symbols"/>
              <a:buNone/>
              <a:defRPr sz="3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rgbClr val="888888"/>
              </a:buClr>
              <a:buSzPts val="2000"/>
              <a:buFont typeface="Noto Sans Symbols"/>
              <a:buNone/>
              <a:defRPr sz="2000" b="0" i="0" u="none" strike="noStrike" cap="none">
                <a:solidFill>
                  <a:srgbClr val="888888"/>
                </a:solidFill>
                <a:latin typeface="Verdana"/>
                <a:ea typeface="Verdana"/>
                <a:cs typeface="Verdana"/>
                <a:sym typeface="Verdana"/>
              </a:defRPr>
            </a:lvl2pPr>
            <a:lvl3pPr marL="1371600" marR="0" lvl="2" indent="-228600" algn="just" rtl="0">
              <a:lnSpc>
                <a:spcPct val="100000"/>
              </a:lnSpc>
              <a:spcBef>
                <a:spcPts val="800"/>
              </a:spcBef>
              <a:spcAft>
                <a:spcPts val="0"/>
              </a:spcAft>
              <a:buClr>
                <a:srgbClr val="888888"/>
              </a:buClr>
              <a:buSzPts val="1800"/>
              <a:buFont typeface="Noto Sans Symbols"/>
              <a:buNone/>
              <a:defRPr sz="1800" b="0" i="0" u="none" strike="noStrike" cap="none">
                <a:solidFill>
                  <a:srgbClr val="888888"/>
                </a:solidFill>
                <a:latin typeface="Verdana"/>
                <a:ea typeface="Verdana"/>
                <a:cs typeface="Verdana"/>
                <a:sym typeface="Verdana"/>
              </a:defRPr>
            </a:lvl3pPr>
            <a:lvl4pPr marL="1828800" marR="0" lvl="3" indent="-228600" algn="just" rtl="0">
              <a:lnSpc>
                <a:spcPct val="100000"/>
              </a:lnSpc>
              <a:spcBef>
                <a:spcPts val="500"/>
              </a:spcBef>
              <a:spcAft>
                <a:spcPts val="0"/>
              </a:spcAft>
              <a:buClr>
                <a:srgbClr val="888888"/>
              </a:buClr>
              <a:buSzPts val="1600"/>
              <a:buFont typeface="Merriweather Sans"/>
              <a:buNone/>
              <a:defRPr sz="1600" b="0" i="0" u="none" strike="noStrike" cap="none">
                <a:solidFill>
                  <a:srgbClr val="888888"/>
                </a:solidFill>
                <a:latin typeface="Verdana"/>
                <a:ea typeface="Verdana"/>
                <a:cs typeface="Verdana"/>
                <a:sym typeface="Verdana"/>
              </a:defRPr>
            </a:lvl4pPr>
            <a:lvl5pPr marL="2286000" marR="0" lvl="4" indent="-228600" algn="just" rtl="0">
              <a:lnSpc>
                <a:spcPct val="10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6pPr>
            <a:lvl7pPr marL="3200400" marR="0" lvl="6"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9pPr>
          </a:lstStyle>
          <a:p>
            <a:endParaRPr/>
          </a:p>
        </p:txBody>
      </p:sp>
      <p:pic>
        <p:nvPicPr>
          <p:cNvPr id="50" name="Google Shape;50;p63"/>
          <p:cNvPicPr preferRelativeResize="0"/>
          <p:nvPr/>
        </p:nvPicPr>
        <p:blipFill rotWithShape="1">
          <a:blip r:embed="rId2">
            <a:alphaModFix/>
          </a:blip>
          <a:srcRect/>
          <a:stretch/>
        </p:blipFill>
        <p:spPr>
          <a:xfrm>
            <a:off x="626267" y="6218301"/>
            <a:ext cx="344564" cy="344564"/>
          </a:xfrm>
          <a:prstGeom prst="rect">
            <a:avLst/>
          </a:prstGeom>
          <a:noFill/>
          <a:ln>
            <a:noFill/>
          </a:ln>
        </p:spPr>
      </p:pic>
      <p:sp>
        <p:nvSpPr>
          <p:cNvPr id="51" name="Google Shape;51;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52" name="Google Shape;52;p63"/>
          <p:cNvPicPr preferRelativeResize="0"/>
          <p:nvPr/>
        </p:nvPicPr>
        <p:blipFill rotWithShape="1">
          <a:blip r:embed="rId2">
            <a:alphaModFix/>
          </a:blip>
          <a:srcRect/>
          <a:stretch/>
        </p:blipFill>
        <p:spPr>
          <a:xfrm>
            <a:off x="626267" y="6218301"/>
            <a:ext cx="344564" cy="34456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Références">
  <p:cSld name="1_Références">
    <p:spTree>
      <p:nvGrpSpPr>
        <p:cNvPr id="1" name="Shape 63"/>
        <p:cNvGrpSpPr/>
        <p:nvPr/>
      </p:nvGrpSpPr>
      <p:grpSpPr>
        <a:xfrm>
          <a:off x="0" y="0"/>
          <a:ext cx="0" cy="0"/>
          <a:chOff x="0" y="0"/>
          <a:chExt cx="0" cy="0"/>
        </a:xfrm>
      </p:grpSpPr>
      <p:sp>
        <p:nvSpPr>
          <p:cNvPr id="64" name="Google Shape;64;p138"/>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5" name="Google Shape;65;p138"/>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cxnSp>
        <p:nvCxnSpPr>
          <p:cNvPr id="66" name="Google Shape;66;p138"/>
          <p:cNvCxnSpPr/>
          <p:nvPr/>
        </p:nvCxnSpPr>
        <p:spPr>
          <a:xfrm>
            <a:off x="6096000" y="1349423"/>
            <a:ext cx="0" cy="4735920"/>
          </a:xfrm>
          <a:prstGeom prst="straightConnector1">
            <a:avLst/>
          </a:prstGeom>
          <a:noFill/>
          <a:ln w="25400" cap="flat" cmpd="sng">
            <a:solidFill>
              <a:srgbClr val="D8D8D8"/>
            </a:solidFill>
            <a:prstDash val="solid"/>
            <a:round/>
            <a:headEnd type="none" w="sm" len="sm"/>
            <a:tailEnd type="none" w="sm" len="sm"/>
          </a:ln>
        </p:spPr>
      </p:cxnSp>
      <p:cxnSp>
        <p:nvCxnSpPr>
          <p:cNvPr id="67" name="Google Shape;67;p138"/>
          <p:cNvCxnSpPr/>
          <p:nvPr/>
        </p:nvCxnSpPr>
        <p:spPr>
          <a:xfrm rot="10800000" flipH="1">
            <a:off x="626265" y="3595333"/>
            <a:ext cx="5064927" cy="21821"/>
          </a:xfrm>
          <a:prstGeom prst="straightConnector1">
            <a:avLst/>
          </a:prstGeom>
          <a:noFill/>
          <a:ln w="25400" cap="flat" cmpd="sng">
            <a:solidFill>
              <a:srgbClr val="D8D8D8"/>
            </a:solidFill>
            <a:prstDash val="solid"/>
            <a:round/>
            <a:headEnd type="none" w="sm" len="sm"/>
            <a:tailEnd type="none" w="sm" len="sm"/>
          </a:ln>
        </p:spPr>
      </p:cxnSp>
      <p:cxnSp>
        <p:nvCxnSpPr>
          <p:cNvPr id="68" name="Google Shape;68;p138"/>
          <p:cNvCxnSpPr/>
          <p:nvPr/>
        </p:nvCxnSpPr>
        <p:spPr>
          <a:xfrm rot="10800000" flipH="1">
            <a:off x="6519065" y="3595333"/>
            <a:ext cx="5064927" cy="21821"/>
          </a:xfrm>
          <a:prstGeom prst="straightConnector1">
            <a:avLst/>
          </a:prstGeom>
          <a:noFill/>
          <a:ln w="25400" cap="flat" cmpd="sng">
            <a:solidFill>
              <a:srgbClr val="D8D8D8"/>
            </a:solidFill>
            <a:prstDash val="solid"/>
            <a:round/>
            <a:headEnd type="none" w="sm" len="sm"/>
            <a:tailEnd type="none" w="sm" len="sm"/>
          </a:ln>
        </p:spPr>
      </p:cxnSp>
      <p:sp>
        <p:nvSpPr>
          <p:cNvPr id="69" name="Google Shape;69;p138"/>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0" name="Google Shape;70;p138"/>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1" name="Google Shape;71;p138"/>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2" name="Google Shape;72;p138"/>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3" name="Google Shape;73;p138"/>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4" name="Google Shape;74;p138"/>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5" name="Google Shape;75;p138"/>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p138"/>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p138"/>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8" name="Google Shape;78;p138"/>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9" name="Google Shape;79;p138"/>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mmaire 1_ avec image">
  <p:cSld name="Sommaire 1_ avec image">
    <p:spTree>
      <p:nvGrpSpPr>
        <p:cNvPr id="1" name="Shape 115"/>
        <p:cNvGrpSpPr/>
        <p:nvPr/>
      </p:nvGrpSpPr>
      <p:grpSpPr>
        <a:xfrm>
          <a:off x="0" y="0"/>
          <a:ext cx="0" cy="0"/>
          <a:chOff x="0" y="0"/>
          <a:chExt cx="0" cy="0"/>
        </a:xfrm>
      </p:grpSpPr>
      <p:sp>
        <p:nvSpPr>
          <p:cNvPr id="116" name="Google Shape;116;p77"/>
          <p:cNvSpPr txBox="1">
            <a:spLocks noGrp="1"/>
          </p:cNvSpPr>
          <p:nvPr>
            <p:ph type="body" idx="1"/>
          </p:nvPr>
        </p:nvSpPr>
        <p:spPr>
          <a:xfrm>
            <a:off x="630238" y="1767149"/>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7" name="Google Shape;117;p77"/>
          <p:cNvSpPr txBox="1">
            <a:spLocks noGrp="1"/>
          </p:cNvSpPr>
          <p:nvPr>
            <p:ph type="body" idx="2"/>
          </p:nvPr>
        </p:nvSpPr>
        <p:spPr>
          <a:xfrm>
            <a:off x="1495424" y="1767150"/>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18" name="Google Shape;118;p77"/>
          <p:cNvSpPr txBox="1">
            <a:spLocks noGrp="1"/>
          </p:cNvSpPr>
          <p:nvPr>
            <p:ph type="body" idx="3"/>
          </p:nvPr>
        </p:nvSpPr>
        <p:spPr>
          <a:xfrm>
            <a:off x="630238" y="2415325"/>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9" name="Google Shape;119;p77"/>
          <p:cNvSpPr txBox="1">
            <a:spLocks noGrp="1"/>
          </p:cNvSpPr>
          <p:nvPr>
            <p:ph type="body" idx="4"/>
          </p:nvPr>
        </p:nvSpPr>
        <p:spPr>
          <a:xfrm>
            <a:off x="1495424" y="2415326"/>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0" name="Google Shape;120;p77"/>
          <p:cNvSpPr txBox="1">
            <a:spLocks noGrp="1"/>
          </p:cNvSpPr>
          <p:nvPr>
            <p:ph type="body" idx="5"/>
          </p:nvPr>
        </p:nvSpPr>
        <p:spPr>
          <a:xfrm>
            <a:off x="630238" y="3063501"/>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1" name="Google Shape;121;p77"/>
          <p:cNvSpPr txBox="1">
            <a:spLocks noGrp="1"/>
          </p:cNvSpPr>
          <p:nvPr>
            <p:ph type="body" idx="6"/>
          </p:nvPr>
        </p:nvSpPr>
        <p:spPr>
          <a:xfrm>
            <a:off x="1495424" y="3063502"/>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2" name="Google Shape;122;p77"/>
          <p:cNvSpPr txBox="1">
            <a:spLocks noGrp="1"/>
          </p:cNvSpPr>
          <p:nvPr>
            <p:ph type="body" idx="7"/>
          </p:nvPr>
        </p:nvSpPr>
        <p:spPr>
          <a:xfrm>
            <a:off x="630238" y="3711677"/>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3" name="Google Shape;123;p77"/>
          <p:cNvSpPr txBox="1">
            <a:spLocks noGrp="1"/>
          </p:cNvSpPr>
          <p:nvPr>
            <p:ph type="body" idx="8"/>
          </p:nvPr>
        </p:nvSpPr>
        <p:spPr>
          <a:xfrm>
            <a:off x="1495424" y="3711678"/>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4" name="Google Shape;124;p77"/>
          <p:cNvSpPr txBox="1">
            <a:spLocks noGrp="1"/>
          </p:cNvSpPr>
          <p:nvPr>
            <p:ph type="body" idx="9"/>
          </p:nvPr>
        </p:nvSpPr>
        <p:spPr>
          <a:xfrm>
            <a:off x="630238" y="4359853"/>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5" name="Google Shape;125;p77"/>
          <p:cNvSpPr txBox="1">
            <a:spLocks noGrp="1"/>
          </p:cNvSpPr>
          <p:nvPr>
            <p:ph type="body" idx="13"/>
          </p:nvPr>
        </p:nvSpPr>
        <p:spPr>
          <a:xfrm>
            <a:off x="1495424" y="4359854"/>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6" name="Google Shape;126;p77"/>
          <p:cNvSpPr txBox="1">
            <a:spLocks noGrp="1"/>
          </p:cNvSpPr>
          <p:nvPr>
            <p:ph type="body" idx="14"/>
          </p:nvPr>
        </p:nvSpPr>
        <p:spPr>
          <a:xfrm>
            <a:off x="630238" y="5008029"/>
            <a:ext cx="865188" cy="56704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7" name="Google Shape;127;p77"/>
          <p:cNvSpPr txBox="1">
            <a:spLocks noGrp="1"/>
          </p:cNvSpPr>
          <p:nvPr>
            <p:ph type="body" idx="15"/>
          </p:nvPr>
        </p:nvSpPr>
        <p:spPr>
          <a:xfrm>
            <a:off x="1495424" y="5008031"/>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8" name="Google Shape;128;p77"/>
          <p:cNvSpPr txBox="1">
            <a:spLocks noGrp="1"/>
          </p:cNvSpPr>
          <p:nvPr>
            <p:ph type="body" idx="16"/>
          </p:nvPr>
        </p:nvSpPr>
        <p:spPr>
          <a:xfrm>
            <a:off x="5659395" y="1767150"/>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9" name="Google Shape;129;p77"/>
          <p:cNvSpPr txBox="1">
            <a:spLocks noGrp="1"/>
          </p:cNvSpPr>
          <p:nvPr>
            <p:ph type="body" idx="17"/>
          </p:nvPr>
        </p:nvSpPr>
        <p:spPr>
          <a:xfrm>
            <a:off x="5659395" y="2415326"/>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0" name="Google Shape;130;p77"/>
          <p:cNvSpPr txBox="1">
            <a:spLocks noGrp="1"/>
          </p:cNvSpPr>
          <p:nvPr>
            <p:ph type="body" idx="18"/>
          </p:nvPr>
        </p:nvSpPr>
        <p:spPr>
          <a:xfrm>
            <a:off x="5659395" y="3063502"/>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1" name="Google Shape;131;p77"/>
          <p:cNvSpPr txBox="1">
            <a:spLocks noGrp="1"/>
          </p:cNvSpPr>
          <p:nvPr>
            <p:ph type="body" idx="19"/>
          </p:nvPr>
        </p:nvSpPr>
        <p:spPr>
          <a:xfrm>
            <a:off x="5659395" y="3711678"/>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2" name="Google Shape;132;p77"/>
          <p:cNvSpPr txBox="1">
            <a:spLocks noGrp="1"/>
          </p:cNvSpPr>
          <p:nvPr>
            <p:ph type="body" idx="20"/>
          </p:nvPr>
        </p:nvSpPr>
        <p:spPr>
          <a:xfrm>
            <a:off x="5659395" y="4359854"/>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3" name="Google Shape;133;p77"/>
          <p:cNvSpPr txBox="1">
            <a:spLocks noGrp="1"/>
          </p:cNvSpPr>
          <p:nvPr>
            <p:ph type="body" idx="21"/>
          </p:nvPr>
        </p:nvSpPr>
        <p:spPr>
          <a:xfrm>
            <a:off x="5659395" y="5008031"/>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4" name="Google Shape;134;p77"/>
          <p:cNvSpPr txBox="1">
            <a:spLocks noGrp="1"/>
          </p:cNvSpPr>
          <p:nvPr>
            <p:ph type="body" idx="22"/>
          </p:nvPr>
        </p:nvSpPr>
        <p:spPr>
          <a:xfrm>
            <a:off x="6524581" y="1737057"/>
            <a:ext cx="5081686" cy="3838012"/>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5" name="Google Shape;135;p77"/>
          <p:cNvSpPr txBox="1">
            <a:spLocks noGrp="1"/>
          </p:cNvSpPr>
          <p:nvPr>
            <p:ph type="title"/>
          </p:nvPr>
        </p:nvSpPr>
        <p:spPr>
          <a:xfrm>
            <a:off x="626267" y="563868"/>
            <a:ext cx="10980000" cy="53803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re 2 lignes - Sous titre - Contenu 2 colonnes">
  <p:cSld name="2_Titre 2 lignes - Sous titre - Contenu 2 colonnes">
    <p:spTree>
      <p:nvGrpSpPr>
        <p:cNvPr id="1" name="Shape 136"/>
        <p:cNvGrpSpPr/>
        <p:nvPr/>
      </p:nvGrpSpPr>
      <p:grpSpPr>
        <a:xfrm>
          <a:off x="0" y="0"/>
          <a:ext cx="0" cy="0"/>
          <a:chOff x="0" y="0"/>
          <a:chExt cx="0" cy="0"/>
        </a:xfrm>
      </p:grpSpPr>
      <p:sp>
        <p:nvSpPr>
          <p:cNvPr id="137" name="Google Shape;137;p78"/>
          <p:cNvSpPr txBox="1">
            <a:spLocks noGrp="1"/>
          </p:cNvSpPr>
          <p:nvPr>
            <p:ph type="body" idx="1"/>
          </p:nvPr>
        </p:nvSpPr>
        <p:spPr>
          <a:xfrm>
            <a:off x="626269"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8" name="Google Shape;138;p78"/>
          <p:cNvSpPr txBox="1">
            <a:spLocks noGrp="1"/>
          </p:cNvSpPr>
          <p:nvPr>
            <p:ph type="body" idx="2"/>
          </p:nvPr>
        </p:nvSpPr>
        <p:spPr>
          <a:xfrm>
            <a:off x="626266" y="1461305"/>
            <a:ext cx="10980000" cy="360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lt2"/>
              </a:buClr>
              <a:buSzPts val="1600"/>
              <a:buFont typeface="Noto Sans Symbols"/>
              <a:buNone/>
              <a:defRPr sz="1600" b="0" i="0" u="none" strike="noStrike" cap="none">
                <a:solidFill>
                  <a:schemeClr val="lt2"/>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39" name="Google Shape;139;p78"/>
          <p:cNvSpPr txBox="1">
            <a:spLocks noGrp="1"/>
          </p:cNvSpPr>
          <p:nvPr>
            <p:ph type="body" idx="3"/>
          </p:nvPr>
        </p:nvSpPr>
        <p:spPr>
          <a:xfrm>
            <a:off x="6206266"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0" name="Google Shape;140;p78"/>
          <p:cNvSpPr txBox="1">
            <a:spLocks noGrp="1"/>
          </p:cNvSpPr>
          <p:nvPr>
            <p:ph type="title"/>
          </p:nvPr>
        </p:nvSpPr>
        <p:spPr>
          <a:xfrm>
            <a:off x="626267" y="561305"/>
            <a:ext cx="10980000" cy="9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éférences">
  <p:cSld name="Références">
    <p:spTree>
      <p:nvGrpSpPr>
        <p:cNvPr id="1" name="Shape 141"/>
        <p:cNvGrpSpPr/>
        <p:nvPr/>
      </p:nvGrpSpPr>
      <p:grpSpPr>
        <a:xfrm>
          <a:off x="0" y="0"/>
          <a:ext cx="0" cy="0"/>
          <a:chOff x="0" y="0"/>
          <a:chExt cx="0" cy="0"/>
        </a:xfrm>
      </p:grpSpPr>
      <p:sp>
        <p:nvSpPr>
          <p:cNvPr id="142" name="Google Shape;142;p79"/>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3" name="Google Shape;143;p79"/>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144" name="Google Shape;144;p79"/>
          <p:cNvCxnSpPr/>
          <p:nvPr/>
        </p:nvCxnSpPr>
        <p:spPr>
          <a:xfrm>
            <a:off x="6096000" y="1349423"/>
            <a:ext cx="0" cy="4735920"/>
          </a:xfrm>
          <a:prstGeom prst="straightConnector1">
            <a:avLst/>
          </a:prstGeom>
          <a:noFill/>
          <a:ln w="25400" cap="flat" cmpd="sng">
            <a:solidFill>
              <a:srgbClr val="D8D8D8"/>
            </a:solidFill>
            <a:prstDash val="solid"/>
            <a:miter lim="800000"/>
            <a:headEnd type="none" w="sm" len="sm"/>
            <a:tailEnd type="none" w="sm" len="sm"/>
          </a:ln>
        </p:spPr>
      </p:cxnSp>
      <p:cxnSp>
        <p:nvCxnSpPr>
          <p:cNvPr id="145" name="Google Shape;145;p79"/>
          <p:cNvCxnSpPr/>
          <p:nvPr/>
        </p:nvCxnSpPr>
        <p:spPr>
          <a:xfrm rot="10800000" flipH="1">
            <a:off x="626265" y="3595333"/>
            <a:ext cx="5064927" cy="21821"/>
          </a:xfrm>
          <a:prstGeom prst="straightConnector1">
            <a:avLst/>
          </a:prstGeom>
          <a:noFill/>
          <a:ln w="25400" cap="flat" cmpd="sng">
            <a:solidFill>
              <a:srgbClr val="D8D8D8"/>
            </a:solidFill>
            <a:prstDash val="solid"/>
            <a:miter lim="800000"/>
            <a:headEnd type="none" w="sm" len="sm"/>
            <a:tailEnd type="none" w="sm" len="sm"/>
          </a:ln>
        </p:spPr>
      </p:cxnSp>
      <p:cxnSp>
        <p:nvCxnSpPr>
          <p:cNvPr id="146" name="Google Shape;146;p79"/>
          <p:cNvCxnSpPr/>
          <p:nvPr/>
        </p:nvCxnSpPr>
        <p:spPr>
          <a:xfrm rot="10800000" flipH="1">
            <a:off x="6519065" y="3595333"/>
            <a:ext cx="5064927" cy="21821"/>
          </a:xfrm>
          <a:prstGeom prst="straightConnector1">
            <a:avLst/>
          </a:prstGeom>
          <a:noFill/>
          <a:ln w="25400" cap="flat" cmpd="sng">
            <a:solidFill>
              <a:srgbClr val="D8D8D8"/>
            </a:solidFill>
            <a:prstDash val="solid"/>
            <a:miter lim="800000"/>
            <a:headEnd type="none" w="sm" len="sm"/>
            <a:tailEnd type="none" w="sm" len="sm"/>
          </a:ln>
        </p:spPr>
      </p:cxnSp>
      <p:sp>
        <p:nvSpPr>
          <p:cNvPr id="147" name="Google Shape;147;p79"/>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8" name="Google Shape;148;p79"/>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49" name="Google Shape;149;p79"/>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0" name="Google Shape;150;p79"/>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1" name="Google Shape;151;p79"/>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2" name="Google Shape;152;p79"/>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3" name="Google Shape;153;p79"/>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4" name="Google Shape;154;p79"/>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5" name="Google Shape;155;p79"/>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6" name="Google Shape;156;p79"/>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7" name="Google Shape;157;p79"/>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DC Square_p.1">
  <p:cSld name="1_DC Square_p.1">
    <p:spTree>
      <p:nvGrpSpPr>
        <p:cNvPr id="1" name="Shape 158"/>
        <p:cNvGrpSpPr/>
        <p:nvPr/>
      </p:nvGrpSpPr>
      <p:grpSpPr>
        <a:xfrm>
          <a:off x="0" y="0"/>
          <a:ext cx="0" cy="0"/>
          <a:chOff x="0" y="0"/>
          <a:chExt cx="0" cy="0"/>
        </a:xfrm>
      </p:grpSpPr>
      <p:sp>
        <p:nvSpPr>
          <p:cNvPr id="159" name="Google Shape;159;p80"/>
          <p:cNvSpPr/>
          <p:nvPr/>
        </p:nvSpPr>
        <p:spPr>
          <a:xfrm>
            <a:off x="0"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160" name="Google Shape;160;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61" name="Google Shape;161;p80"/>
          <p:cNvSpPr/>
          <p:nvPr/>
        </p:nvSpPr>
        <p:spPr>
          <a:xfrm>
            <a:off x="6080045" y="5605048"/>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PUBLICATIONS</a:t>
            </a:r>
            <a:endParaRPr sz="1400" b="0" i="0" u="none" strike="noStrike" cap="none">
              <a:solidFill>
                <a:srgbClr val="000000"/>
              </a:solidFill>
              <a:latin typeface="Arial"/>
              <a:ea typeface="Arial"/>
              <a:cs typeface="Arial"/>
              <a:sym typeface="Arial"/>
            </a:endParaRPr>
          </a:p>
        </p:txBody>
      </p:sp>
      <p:cxnSp>
        <p:nvCxnSpPr>
          <p:cNvPr id="162" name="Google Shape;162;p80"/>
          <p:cNvCxnSpPr/>
          <p:nvPr/>
        </p:nvCxnSpPr>
        <p:spPr>
          <a:xfrm>
            <a:off x="8796474" y="2539134"/>
            <a:ext cx="0" cy="2931533"/>
          </a:xfrm>
          <a:prstGeom prst="straightConnector1">
            <a:avLst/>
          </a:prstGeom>
          <a:noFill/>
          <a:ln w="25400" cap="flat" cmpd="sng">
            <a:solidFill>
              <a:srgbClr val="D8D8D8"/>
            </a:solidFill>
            <a:prstDash val="solid"/>
            <a:miter lim="800000"/>
            <a:headEnd type="none" w="sm" len="sm"/>
            <a:tailEnd type="none" w="sm" len="sm"/>
          </a:ln>
        </p:spPr>
      </p:cxnSp>
      <p:cxnSp>
        <p:nvCxnSpPr>
          <p:cNvPr id="163" name="Google Shape;163;p80"/>
          <p:cNvCxnSpPr/>
          <p:nvPr/>
        </p:nvCxnSpPr>
        <p:spPr>
          <a:xfrm>
            <a:off x="5942544" y="2539134"/>
            <a:ext cx="0" cy="4248081"/>
          </a:xfrm>
          <a:prstGeom prst="straightConnector1">
            <a:avLst/>
          </a:prstGeom>
          <a:noFill/>
          <a:ln w="25400" cap="flat" cmpd="sng">
            <a:solidFill>
              <a:srgbClr val="D8D8D8"/>
            </a:solidFill>
            <a:prstDash val="solid"/>
            <a:miter lim="800000"/>
            <a:headEnd type="none" w="sm" len="sm"/>
            <a:tailEnd type="none" w="sm" len="sm"/>
          </a:ln>
        </p:spPr>
      </p:cxnSp>
      <p:cxnSp>
        <p:nvCxnSpPr>
          <p:cNvPr id="164" name="Google Shape;164;p80"/>
          <p:cNvCxnSpPr/>
          <p:nvPr/>
        </p:nvCxnSpPr>
        <p:spPr>
          <a:xfrm>
            <a:off x="3246090" y="2342207"/>
            <a:ext cx="8412502" cy="0"/>
          </a:xfrm>
          <a:prstGeom prst="straightConnector1">
            <a:avLst/>
          </a:prstGeom>
          <a:noFill/>
          <a:ln w="25400" cap="flat" cmpd="sng">
            <a:solidFill>
              <a:srgbClr val="D8D8D8"/>
            </a:solidFill>
            <a:prstDash val="solid"/>
            <a:miter lim="800000"/>
            <a:headEnd type="none" w="sm" len="sm"/>
            <a:tailEnd type="none" w="sm" len="sm"/>
          </a:ln>
        </p:spPr>
      </p:cxnSp>
      <p:sp>
        <p:nvSpPr>
          <p:cNvPr id="165" name="Google Shape;165;p80"/>
          <p:cNvSpPr txBox="1">
            <a:spLocks noGrp="1"/>
          </p:cNvSpPr>
          <p:nvPr>
            <p:ph type="body" idx="1"/>
          </p:nvPr>
        </p:nvSpPr>
        <p:spPr>
          <a:xfrm>
            <a:off x="6080046" y="5905365"/>
            <a:ext cx="5578546" cy="775520"/>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6" name="Google Shape;166;p80"/>
          <p:cNvCxnSpPr/>
          <p:nvPr/>
        </p:nvCxnSpPr>
        <p:spPr>
          <a:xfrm>
            <a:off x="6197613" y="5828029"/>
            <a:ext cx="1352673" cy="0"/>
          </a:xfrm>
          <a:prstGeom prst="straightConnector1">
            <a:avLst/>
          </a:prstGeom>
          <a:noFill/>
          <a:ln w="25400" cap="flat" cmpd="sng">
            <a:solidFill>
              <a:schemeClr val="lt2"/>
            </a:solidFill>
            <a:prstDash val="solid"/>
            <a:miter lim="800000"/>
            <a:headEnd type="none" w="sm" len="sm"/>
            <a:tailEnd type="none" w="sm" len="sm"/>
          </a:ln>
        </p:spPr>
      </p:cxnSp>
      <p:sp>
        <p:nvSpPr>
          <p:cNvPr id="167" name="Google Shape;167;p80"/>
          <p:cNvSpPr txBox="1">
            <a:spLocks noGrp="1"/>
          </p:cNvSpPr>
          <p:nvPr>
            <p:ph type="body" idx="2"/>
          </p:nvPr>
        </p:nvSpPr>
        <p:spPr>
          <a:xfrm>
            <a:off x="8997555" y="4747901"/>
            <a:ext cx="2661037" cy="722766"/>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8" name="Google Shape;168;p80"/>
          <p:cNvCxnSpPr/>
          <p:nvPr/>
        </p:nvCxnSpPr>
        <p:spPr>
          <a:xfrm>
            <a:off x="9090429" y="4656013"/>
            <a:ext cx="825731" cy="0"/>
          </a:xfrm>
          <a:prstGeom prst="straightConnector1">
            <a:avLst/>
          </a:prstGeom>
          <a:noFill/>
          <a:ln w="25400" cap="flat" cmpd="sng">
            <a:solidFill>
              <a:schemeClr val="lt2"/>
            </a:solidFill>
            <a:prstDash val="solid"/>
            <a:miter lim="800000"/>
            <a:headEnd type="none" w="sm" len="sm"/>
            <a:tailEnd type="none" w="sm" len="sm"/>
          </a:ln>
        </p:spPr>
      </p:cxnSp>
      <p:sp>
        <p:nvSpPr>
          <p:cNvPr id="169" name="Google Shape;169;p80"/>
          <p:cNvSpPr/>
          <p:nvPr/>
        </p:nvSpPr>
        <p:spPr>
          <a:xfrm>
            <a:off x="8992053" y="4437492"/>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LANGUES</a:t>
            </a:r>
            <a:endParaRPr sz="1400" b="0" i="0" u="none" strike="noStrike" cap="none">
              <a:solidFill>
                <a:srgbClr val="000000"/>
              </a:solidFill>
              <a:latin typeface="Arial"/>
              <a:ea typeface="Arial"/>
              <a:cs typeface="Arial"/>
              <a:sym typeface="Arial"/>
            </a:endParaRPr>
          </a:p>
        </p:txBody>
      </p:sp>
      <p:sp>
        <p:nvSpPr>
          <p:cNvPr id="170" name="Google Shape;170;p80"/>
          <p:cNvSpPr txBox="1">
            <a:spLocks noGrp="1"/>
          </p:cNvSpPr>
          <p:nvPr>
            <p:ph type="body" idx="3"/>
          </p:nvPr>
        </p:nvSpPr>
        <p:spPr>
          <a:xfrm>
            <a:off x="8997555" y="2868150"/>
            <a:ext cx="2661037" cy="1028313"/>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1" name="Google Shape;171;p80"/>
          <p:cNvCxnSpPr/>
          <p:nvPr/>
        </p:nvCxnSpPr>
        <p:spPr>
          <a:xfrm>
            <a:off x="9090429" y="2761173"/>
            <a:ext cx="663171" cy="0"/>
          </a:xfrm>
          <a:prstGeom prst="straightConnector1">
            <a:avLst/>
          </a:prstGeom>
          <a:noFill/>
          <a:ln w="25400" cap="flat" cmpd="sng">
            <a:solidFill>
              <a:schemeClr val="lt2"/>
            </a:solidFill>
            <a:prstDash val="solid"/>
            <a:miter lim="800000"/>
            <a:headEnd type="none" w="sm" len="sm"/>
            <a:tailEnd type="none" w="sm" len="sm"/>
          </a:ln>
        </p:spPr>
      </p:cxnSp>
      <p:sp>
        <p:nvSpPr>
          <p:cNvPr id="172" name="Google Shape;172;p80"/>
          <p:cNvSpPr/>
          <p:nvPr/>
        </p:nvSpPr>
        <p:spPr>
          <a:xfrm>
            <a:off x="8992053"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OUTILS</a:t>
            </a:r>
            <a:endParaRPr sz="1400" b="0" i="0" u="none" strike="noStrike" cap="none">
              <a:solidFill>
                <a:srgbClr val="000000"/>
              </a:solidFill>
              <a:latin typeface="Arial"/>
              <a:ea typeface="Arial"/>
              <a:cs typeface="Arial"/>
              <a:sym typeface="Arial"/>
            </a:endParaRPr>
          </a:p>
        </p:txBody>
      </p:sp>
      <p:sp>
        <p:nvSpPr>
          <p:cNvPr id="173" name="Google Shape;173;p80"/>
          <p:cNvSpPr txBox="1">
            <a:spLocks noGrp="1"/>
          </p:cNvSpPr>
          <p:nvPr>
            <p:ph type="body" idx="4"/>
          </p:nvPr>
        </p:nvSpPr>
        <p:spPr>
          <a:xfrm>
            <a:off x="6075387" y="2863670"/>
            <a:ext cx="2541455" cy="2606997"/>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4" name="Google Shape;174;p80"/>
          <p:cNvCxnSpPr/>
          <p:nvPr/>
        </p:nvCxnSpPr>
        <p:spPr>
          <a:xfrm>
            <a:off x="6175781" y="2761173"/>
            <a:ext cx="1962379" cy="0"/>
          </a:xfrm>
          <a:prstGeom prst="straightConnector1">
            <a:avLst/>
          </a:prstGeom>
          <a:noFill/>
          <a:ln w="25400" cap="flat" cmpd="sng">
            <a:solidFill>
              <a:schemeClr val="lt2"/>
            </a:solidFill>
            <a:prstDash val="solid"/>
            <a:miter lim="800000"/>
            <a:headEnd type="none" w="sm" len="sm"/>
            <a:tailEnd type="none" w="sm" len="sm"/>
          </a:ln>
        </p:spPr>
      </p:cxnSp>
      <p:sp>
        <p:nvSpPr>
          <p:cNvPr id="175" name="Google Shape;175;p80"/>
          <p:cNvSpPr/>
          <p:nvPr/>
        </p:nvSpPr>
        <p:spPr>
          <a:xfrm>
            <a:off x="6075388"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SECTEURS / CLIENTS</a:t>
            </a:r>
            <a:endParaRPr sz="1400" b="0" i="0" u="none" strike="noStrike" cap="none">
              <a:solidFill>
                <a:srgbClr val="000000"/>
              </a:solidFill>
              <a:latin typeface="Arial"/>
              <a:ea typeface="Arial"/>
              <a:cs typeface="Arial"/>
              <a:sym typeface="Arial"/>
            </a:endParaRPr>
          </a:p>
        </p:txBody>
      </p:sp>
      <p:sp>
        <p:nvSpPr>
          <p:cNvPr id="176" name="Google Shape;176;p80"/>
          <p:cNvSpPr txBox="1">
            <a:spLocks noGrp="1"/>
          </p:cNvSpPr>
          <p:nvPr>
            <p:ph type="body" idx="5"/>
          </p:nvPr>
        </p:nvSpPr>
        <p:spPr>
          <a:xfrm>
            <a:off x="3128522" y="4717234"/>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7" name="Google Shape;177;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78" name="Google Shape;178;p80"/>
          <p:cNvSpPr txBox="1">
            <a:spLocks noGrp="1"/>
          </p:cNvSpPr>
          <p:nvPr>
            <p:ph type="body" idx="6"/>
          </p:nvPr>
        </p:nvSpPr>
        <p:spPr>
          <a:xfrm>
            <a:off x="3128522" y="3099398"/>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9" name="Google Shape;179;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cxnSp>
        <p:nvCxnSpPr>
          <p:cNvPr id="180" name="Google Shape;180;p80"/>
          <p:cNvCxnSpPr/>
          <p:nvPr/>
        </p:nvCxnSpPr>
        <p:spPr>
          <a:xfrm>
            <a:off x="3246090" y="2761173"/>
            <a:ext cx="1122710" cy="0"/>
          </a:xfrm>
          <a:prstGeom prst="straightConnector1">
            <a:avLst/>
          </a:prstGeom>
          <a:noFill/>
          <a:ln w="25400" cap="flat" cmpd="sng">
            <a:solidFill>
              <a:schemeClr val="lt2"/>
            </a:solidFill>
            <a:prstDash val="solid"/>
            <a:miter lim="800000"/>
            <a:headEnd type="none" w="sm" len="sm"/>
            <a:tailEnd type="none" w="sm" len="sm"/>
          </a:ln>
        </p:spPr>
      </p:cxnSp>
      <p:sp>
        <p:nvSpPr>
          <p:cNvPr id="181" name="Google Shape;181;p80"/>
          <p:cNvSpPr/>
          <p:nvPr/>
        </p:nvSpPr>
        <p:spPr>
          <a:xfrm>
            <a:off x="3128522"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EXPERTISES</a:t>
            </a:r>
            <a:endParaRPr sz="1400" b="0" i="0" u="none" strike="noStrike" cap="none">
              <a:solidFill>
                <a:srgbClr val="000000"/>
              </a:solidFill>
              <a:latin typeface="Arial"/>
              <a:ea typeface="Arial"/>
              <a:cs typeface="Arial"/>
              <a:sym typeface="Arial"/>
            </a:endParaRPr>
          </a:p>
        </p:txBody>
      </p:sp>
      <p:sp>
        <p:nvSpPr>
          <p:cNvPr id="182" name="Google Shape;182;p80"/>
          <p:cNvSpPr txBox="1">
            <a:spLocks noGrp="1"/>
          </p:cNvSpPr>
          <p:nvPr>
            <p:ph type="body" idx="7"/>
          </p:nvPr>
        </p:nvSpPr>
        <p:spPr>
          <a:xfrm>
            <a:off x="3128522" y="324013"/>
            <a:ext cx="8508610" cy="1734642"/>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3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83" name="Google Shape;183;p80"/>
          <p:cNvSpPr txBox="1">
            <a:spLocks noGrp="1"/>
          </p:cNvSpPr>
          <p:nvPr>
            <p:ph type="body" idx="8"/>
          </p:nvPr>
        </p:nvSpPr>
        <p:spPr>
          <a:xfrm>
            <a:off x="151339" y="4814550"/>
            <a:ext cx="2685771" cy="1166918"/>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84" name="Google Shape;184;p80"/>
          <p:cNvCxnSpPr/>
          <p:nvPr/>
        </p:nvCxnSpPr>
        <p:spPr>
          <a:xfrm>
            <a:off x="233228" y="4657802"/>
            <a:ext cx="1270589" cy="0"/>
          </a:xfrm>
          <a:prstGeom prst="straightConnector1">
            <a:avLst/>
          </a:prstGeom>
          <a:noFill/>
          <a:ln w="25400" cap="flat" cmpd="sng">
            <a:solidFill>
              <a:schemeClr val="lt2"/>
            </a:solidFill>
            <a:prstDash val="solid"/>
            <a:miter lim="800000"/>
            <a:headEnd type="none" w="sm" len="sm"/>
            <a:tailEnd type="none" w="sm" len="sm"/>
          </a:ln>
        </p:spPr>
      </p:cxnSp>
      <p:sp>
        <p:nvSpPr>
          <p:cNvPr id="185" name="Google Shape;185;p80"/>
          <p:cNvSpPr/>
          <p:nvPr/>
        </p:nvSpPr>
        <p:spPr>
          <a:xfrm>
            <a:off x="151340" y="4426646"/>
            <a:ext cx="2094546"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FORMATIONS</a:t>
            </a:r>
            <a:endParaRPr sz="1400" b="0" i="0" u="none" strike="noStrike" cap="none">
              <a:solidFill>
                <a:srgbClr val="000000"/>
              </a:solidFill>
              <a:latin typeface="Arial"/>
              <a:ea typeface="Arial"/>
              <a:cs typeface="Arial"/>
              <a:sym typeface="Arial"/>
            </a:endParaRPr>
          </a:p>
        </p:txBody>
      </p:sp>
      <p:sp>
        <p:nvSpPr>
          <p:cNvPr id="186" name="Google Shape;186;p80"/>
          <p:cNvSpPr txBox="1">
            <a:spLocks noGrp="1"/>
          </p:cNvSpPr>
          <p:nvPr>
            <p:ph type="body" idx="9"/>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7" name="Google Shape;187;p80"/>
          <p:cNvSpPr txBox="1">
            <a:spLocks noGrp="1"/>
          </p:cNvSpPr>
          <p:nvPr>
            <p:ph type="body" idx="13"/>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8" name="Google Shape;188;p80"/>
          <p:cNvSpPr txBox="1">
            <a:spLocks noGrp="1"/>
          </p:cNvSpPr>
          <p:nvPr>
            <p:ph type="body" idx="14"/>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9" name="Google Shape;189;p80"/>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0" name="Google Shape;190;p80"/>
          <p:cNvSpPr>
            <a:spLocks noGrp="1"/>
          </p:cNvSpPr>
          <p:nvPr>
            <p:ph type="pic" idx="15"/>
          </p:nvPr>
        </p:nvSpPr>
        <p:spPr>
          <a:xfrm>
            <a:off x="151340" y="798071"/>
            <a:ext cx="936000" cy="1224000"/>
          </a:xfrm>
          <a:prstGeom prst="rect">
            <a:avLst/>
          </a:prstGeom>
          <a:solidFill>
            <a:srgbClr val="F2F2F2"/>
          </a:solidFill>
          <a:ln>
            <a:noFill/>
          </a:ln>
        </p:spPr>
        <p:txBody>
          <a:bodyPr/>
          <a:p/>
        </p:txBody>
      </p:sp>
      <p:pic>
        <p:nvPicPr>
          <p:cNvPr id="191" name="Google Shape;191;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92" name="Google Shape;192;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93" name="Google Shape;193;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4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C Square_p.2">
  <p:cSld name="1_DC Square_p.2">
    <p:spTree>
      <p:nvGrpSpPr>
        <p:cNvPr id="1" name="Shape 194"/>
        <p:cNvGrpSpPr/>
        <p:nvPr/>
      </p:nvGrpSpPr>
      <p:grpSpPr>
        <a:xfrm>
          <a:off x="0" y="0"/>
          <a:ext cx="0" cy="0"/>
          <a:chOff x="0" y="0"/>
          <a:chExt cx="0" cy="0"/>
        </a:xfrm>
      </p:grpSpPr>
      <p:sp>
        <p:nvSpPr>
          <p:cNvPr id="195" name="Google Shape;195;p81"/>
          <p:cNvSpPr/>
          <p:nvPr/>
        </p:nvSpPr>
        <p:spPr>
          <a:xfrm>
            <a:off x="-6492"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6" name="Google Shape;196;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7" name="Google Shape;197;p81"/>
          <p:cNvSpPr txBox="1">
            <a:spLocks noGrp="1"/>
          </p:cNvSpPr>
          <p:nvPr>
            <p:ph type="body" idx="1"/>
          </p:nvPr>
        </p:nvSpPr>
        <p:spPr>
          <a:xfrm>
            <a:off x="10138745" y="690949"/>
            <a:ext cx="1579042"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8" name="Google Shape;198;p81"/>
          <p:cNvSpPr txBox="1">
            <a:spLocks noGrp="1"/>
          </p:cNvSpPr>
          <p:nvPr>
            <p:ph type="body" idx="2"/>
          </p:nvPr>
        </p:nvSpPr>
        <p:spPr>
          <a:xfrm>
            <a:off x="6417699" y="699466"/>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9" name="Google Shape;199;p81"/>
          <p:cNvSpPr txBox="1">
            <a:spLocks noGrp="1"/>
          </p:cNvSpPr>
          <p:nvPr>
            <p:ph type="body" idx="3"/>
          </p:nvPr>
        </p:nvSpPr>
        <p:spPr>
          <a:xfrm>
            <a:off x="6417699" y="471983"/>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200" name="Google Shape;20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01" name="Google Shape;201;p81"/>
          <p:cNvSpPr txBox="1">
            <a:spLocks noGrp="1"/>
          </p:cNvSpPr>
          <p:nvPr>
            <p:ph type="body" idx="4"/>
          </p:nvPr>
        </p:nvSpPr>
        <p:spPr>
          <a:xfrm>
            <a:off x="3445972" y="690949"/>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2" name="Google Shape;202;p81"/>
          <p:cNvSpPr txBox="1">
            <a:spLocks noGrp="1"/>
          </p:cNvSpPr>
          <p:nvPr>
            <p:ph type="body" idx="5"/>
          </p:nvPr>
        </p:nvSpPr>
        <p:spPr>
          <a:xfrm>
            <a:off x="3445972" y="471983"/>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3" name="Google Shape;203;p81"/>
          <p:cNvSpPr txBox="1">
            <a:spLocks noGrp="1"/>
          </p:cNvSpPr>
          <p:nvPr>
            <p:ph type="body" idx="6"/>
          </p:nvPr>
        </p:nvSpPr>
        <p:spPr>
          <a:xfrm>
            <a:off x="3246090" y="2870078"/>
            <a:ext cx="8471697" cy="3777212"/>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204" name="Google Shape;204;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05" name="Google Shape;205;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sp>
        <p:nvSpPr>
          <p:cNvPr id="206" name="Google Shape;206;p81"/>
          <p:cNvSpPr/>
          <p:nvPr/>
        </p:nvSpPr>
        <p:spPr>
          <a:xfrm>
            <a:off x="3324425" y="2542226"/>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MISSION</a:t>
            </a:r>
            <a:endParaRPr sz="1400" b="0" i="0" u="none" strike="noStrike" cap="none">
              <a:solidFill>
                <a:srgbClr val="000000"/>
              </a:solidFill>
              <a:latin typeface="Arial"/>
              <a:ea typeface="Arial"/>
              <a:cs typeface="Arial"/>
              <a:sym typeface="Arial"/>
            </a:endParaRPr>
          </a:p>
        </p:txBody>
      </p:sp>
      <p:sp>
        <p:nvSpPr>
          <p:cNvPr id="207" name="Google Shape;207;p81"/>
          <p:cNvSpPr txBox="1">
            <a:spLocks noGrp="1"/>
          </p:cNvSpPr>
          <p:nvPr>
            <p:ph type="body" idx="7"/>
          </p:nvPr>
        </p:nvSpPr>
        <p:spPr>
          <a:xfrm>
            <a:off x="3246089" y="1462552"/>
            <a:ext cx="8471697" cy="775520"/>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208" name="Google Shape;208;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09" name="Google Shape;209;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210" name="Google Shape;210;p81"/>
          <p:cNvSpPr/>
          <p:nvPr/>
        </p:nvSpPr>
        <p:spPr>
          <a:xfrm>
            <a:off x="3324426" y="1122578"/>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CONTEXTE</a:t>
            </a:r>
            <a:endParaRPr sz="1400" b="0" i="0" u="none" strike="noStrike" cap="none">
              <a:solidFill>
                <a:srgbClr val="000000"/>
              </a:solidFill>
              <a:latin typeface="Arial"/>
              <a:ea typeface="Arial"/>
              <a:cs typeface="Arial"/>
              <a:sym typeface="Arial"/>
            </a:endParaRPr>
          </a:p>
        </p:txBody>
      </p:sp>
      <p:sp>
        <p:nvSpPr>
          <p:cNvPr id="211" name="Google Shape;211;p81"/>
          <p:cNvSpPr>
            <a:spLocks noGrp="1"/>
          </p:cNvSpPr>
          <p:nvPr>
            <p:ph type="pic" idx="8"/>
          </p:nvPr>
        </p:nvSpPr>
        <p:spPr>
          <a:xfrm>
            <a:off x="345714" y="4869976"/>
            <a:ext cx="1415440" cy="901827"/>
          </a:xfrm>
          <a:prstGeom prst="rect">
            <a:avLst/>
          </a:prstGeom>
          <a:solidFill>
            <a:srgbClr val="F2F2F2"/>
          </a:solidFill>
          <a:ln>
            <a:noFill/>
          </a:ln>
        </p:spPr>
        <p:txBody>
          <a:bodyPr/>
          <a:p/>
        </p:txBody>
      </p:sp>
      <p:sp>
        <p:nvSpPr>
          <p:cNvPr id="212" name="Google Shape;212;p81"/>
          <p:cNvSpPr txBox="1">
            <a:spLocks noGrp="1"/>
          </p:cNvSpPr>
          <p:nvPr>
            <p:ph type="body" idx="9"/>
          </p:nvPr>
        </p:nvSpPr>
        <p:spPr>
          <a:xfrm>
            <a:off x="159127" y="4573858"/>
            <a:ext cx="1839794" cy="2001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000"/>
              <a:buFont typeface="Noto Sans Symbols"/>
              <a:buNone/>
              <a:defRPr sz="10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3" name="Google Shape;213;p81"/>
          <p:cNvSpPr txBox="1">
            <a:spLocks noGrp="1"/>
          </p:cNvSpPr>
          <p:nvPr>
            <p:ph type="body" idx="13"/>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4" name="Google Shape;214;p81"/>
          <p:cNvSpPr txBox="1">
            <a:spLocks noGrp="1"/>
          </p:cNvSpPr>
          <p:nvPr>
            <p:ph type="body" idx="14"/>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5" name="Google Shape;215;p81"/>
          <p:cNvSpPr txBox="1">
            <a:spLocks noGrp="1"/>
          </p:cNvSpPr>
          <p:nvPr>
            <p:ph type="body" idx="15"/>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6" name="Google Shape;216;p81"/>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7" name="Google Shape;217;p81"/>
          <p:cNvSpPr>
            <a:spLocks noGrp="1"/>
          </p:cNvSpPr>
          <p:nvPr>
            <p:ph type="pic" idx="16"/>
          </p:nvPr>
        </p:nvSpPr>
        <p:spPr>
          <a:xfrm>
            <a:off x="151340" y="798071"/>
            <a:ext cx="936000" cy="1224000"/>
          </a:xfrm>
          <a:prstGeom prst="rect">
            <a:avLst/>
          </a:prstGeom>
          <a:solidFill>
            <a:srgbClr val="F2F2F2"/>
          </a:solidFill>
          <a:ln>
            <a:noFill/>
          </a:ln>
        </p:spPr>
        <p:txBody>
          <a:bodyPr/>
          <a:p/>
        </p:txBody>
      </p:sp>
      <p:pic>
        <p:nvPicPr>
          <p:cNvPr id="218" name="Google Shape;218;p81"/>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219" name="Google Shape;219;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cxnSp>
        <p:nvCxnSpPr>
          <p:cNvPr id="220" name="Google Shape;22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21" name="Google Shape;221;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22" name="Google Shape;222;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cxnSp>
        <p:nvCxnSpPr>
          <p:cNvPr id="223" name="Google Shape;223;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24" name="Google Shape;224;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pic>
        <p:nvPicPr>
          <p:cNvPr id="225" name="Google Shape;225;p81"/>
          <p:cNvPicPr preferRelativeResize="0"/>
          <p:nvPr/>
        </p:nvPicPr>
        <p:blipFill rotWithShape="1">
          <a:blip r:embed="rId2">
            <a:alphaModFix/>
          </a:blip>
          <a:srcRect/>
          <a:stretch/>
        </p:blipFill>
        <p:spPr>
          <a:xfrm>
            <a:off x="230621" y="259470"/>
            <a:ext cx="1347030" cy="49740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1" name="Google Shape;11;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a:solidFill>
                  <a:schemeClr val="dk1"/>
                </a:solidFill>
                <a:latin typeface="Verdana"/>
                <a:ea typeface="Verdana"/>
                <a:cs typeface="Verdana"/>
                <a:sym typeface="Verdana"/>
              </a:rPr>
              <a:t>08/07/2026</a:t>
            </a:r>
            <a:endParaRPr sz="600" b="0" i="0" u="none" strike="noStrike" cap="none">
              <a:solidFill>
                <a:schemeClr val="dk1"/>
              </a:solidFill>
              <a:latin typeface="Verdana"/>
              <a:ea typeface="Verdana"/>
              <a:cs typeface="Verdana"/>
              <a:sym typeface="Verdana"/>
            </a:endParaRPr>
          </a:p>
        </p:txBody>
      </p:sp>
      <p:sp>
        <p:nvSpPr>
          <p:cNvPr id="12" name="Google Shape;12;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pic>
        <p:nvPicPr>
          <p:cNvPr id="13" name="Google Shape;13;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4" name="Google Shape;14;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dirty="0">
                <a:solidFill>
                  <a:schemeClr val="dk1"/>
                </a:solidFill>
                <a:latin typeface="Verdana"/>
                <a:ea typeface="Verdana"/>
                <a:cs typeface="Verdana"/>
                <a:sym typeface="Verdana"/>
              </a:rPr>
              <a:t>08/07/2026</a:t>
            </a:r>
            <a:endParaRPr sz="600" b="0" i="0" u="none" strike="noStrike" cap="none" dirty="0">
              <a:solidFill>
                <a:schemeClr val="dk1"/>
              </a:solidFill>
              <a:latin typeface="Verdana"/>
              <a:ea typeface="Verdana"/>
              <a:cs typeface="Verdana"/>
              <a:sym typeface="Verdana"/>
            </a:endParaRPr>
          </a:p>
        </p:txBody>
      </p:sp>
      <p:sp>
        <p:nvSpPr>
          <p:cNvPr id="15" name="Google Shape;15;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spTree>
  </p:cSld>
  <p:clrMap bg1="lt1" tx1="dk1" bg2="dk2" tx2="lt2" accent1="accent1" accent2="accent2" accent3="accent3" accent4="accent4" accent5="accent5" accent6="accent6" hlink="hlink" folHlink="folHlink"/>
  <p:sldLayoutIdLst>
    <p:sldLayoutId id="2147483651" r:id="rId1"/>
    <p:sldLayoutId id="2147483655" r:id="rId2"/>
    <p:sldLayoutId id="2147483659" r:id="rId3"/>
    <p:sldLayoutId id="2147483660" r:id="rId4"/>
    <p:sldLayoutId id="2147483661" r:id="rId5"/>
    <p:sldLayoutId id="2147483662" r:id="rId6"/>
    <p:sldLayoutId id="214748366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9.png"/><Relationship Id="rId4" Type="http://schemas.openxmlformats.org/officeDocument/2006/relationships/image" Target="../media/image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6.png"/><Relationship Id="rId4" Type="http://schemas.openxmlformats.org/officeDocument/2006/relationships/image" Target="../media/image39.png"/><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17.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png"/><Relationship Id="rId5"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34.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49.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52.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28.png"/><Relationship Id="rId5"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5.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8.png"/><Relationship Id="rId4"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Pilote Programme Stratégique - Paiements 2030 auprès de BNP PARIBAS, au sein de Cards &amp; Innovative Payments [CIP]. Le rôle de Square Management incluait l'analyse de services à valeur ajoutée, comme l'IA, pour augmenter l'attractivité des paiements Wero et sécuriser le Produit Net Bancaire (PNB).</a:t>
            </a:r>
          </a:p>
        </p:txBody>
      </p:sp>
      <p:sp>
        <p:nvSpPr>
          <p:cNvPr id="3" name="Text Placeholder 2"/>
          <p:cNvSpPr>
            <a:spLocks noGrp="1"/>
          </p:cNvSpPr>
          <p:nvPr>
            <p:ph type="body" idx="2"/>
          </p:nvPr>
        </p:nvSpPr>
        <p:spPr/>
        <p:txBody>
          <a:bodyPr wrap="square"/>
          <a:lstStyle/>
          <a:p>
            <a:pPr algn="ctr" indent="0" marL="0"/>
            <a:r>
              <a:rPr sz="900" b="1" i="0">
                <a:solidFill>
                  <a:srgbClr val="1A1A1A"/>
                </a:solidFill>
                <a:latin typeface="Verdana"/>
              </a:rPr>
              <a:t>CARDS &amp; INNOVATIVE PAYMENTS [CIP], </a:t>
            </a:r>
            <a:r>
              <a:rPr sz="900" b="0" i="1">
                <a:solidFill>
                  <a:srgbClr val="1A1A1A"/>
                </a:solidFill>
                <a:latin typeface="Verdana"/>
              </a:rPr>
              <a:t>PILOTE PROGRAMME STRATÉGIQUE - PAIEMENTS 2030</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digital. Dans le cadre de cette mission, le consultant a également encadré le chantier d'introduction de l'Intelligence Artificielle pour le service clients, en phase avec la stratégie de personnalisation de l'offre pour le public local.</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DIRECTION EUROPÉENNE ET DU DÉVELOPPEMENT INTERNATIONAL, </a:t>
            </a:r>
            <a:r>
              <a:rPr sz="900" b="0" i="1">
                <a:solidFill>
                  <a:srgbClr val="1A1A1A"/>
                </a:solidFill>
                <a:latin typeface="Verdana"/>
              </a:rPr>
              <a:t>CHEF DE PROJET DIGITAL</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Senior Advisor chez BNPP BCEF (Card &amp; Innovative Payments) pour une étude stratégique sur le positionnement des moyens de paiement à horizon 2030, notamment avec le lancement de Wero (EPI). Le rôle comprenait l'analyse de la structure PNB et l'élaboration de modèles de simulation pour divers scénarios de paiement.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CARD &amp; INNOVATIVE PAYMENTS, </a:t>
            </a:r>
            <a:r>
              <a:rPr sz="1100" b="0" i="1">
                <a:solidFill>
                  <a:srgbClr val="1A1A1A"/>
                </a:solidFill>
                <a:latin typeface="Verdana"/>
              </a:rPr>
              <a:t>SENIOR ADVISOR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Proxi Product Owner au sein de la Direction du Digital de SOCIETE GENERALE. Le rôle comprenait la collecte des besoins métiers, la traduction en fonctionnalités, et la coordination des équipes pour superviser les phases de déploiement de cet outil d'IA.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DU DIGITAL, </a:t>
            </a:r>
            <a:r>
              <a:rPr sz="1100" b="0" i="1">
                <a:solidFill>
                  <a:srgbClr val="1A1A1A"/>
                </a:solidFill>
                <a:latin typeface="Verdana"/>
              </a:rPr>
              <a:t>PROXI PRODUCT OWNER</a:t>
            </a:r>
          </a:p>
        </p:txBody>
      </p:sp>
      <p:sp>
        <p:nvSpPr>
          <p:cNvPr id="14" name="Title 13"/>
          <p:cNvSpPr>
            <a:spLocks noGrp="1"/>
          </p:cNvSpPr>
          <p:nvPr>
            <p:ph type="title"/>
          </p:nvPr>
        </p:nvSpPr>
        <p:spPr/>
        <p:txBody>
          <a:bodyPr/>
          <a:lstStyle/>
          <a:p>
            <a:r>
              <a:t>Références IA : Front Office (1/4)</a:t>
            </a:r>
          </a:p>
        </p:txBody>
      </p:sp>
      <p:pic>
        <p:nvPicPr>
          <p:cNvPr id="15" name="Picture 14" descr="bnp_paribas.png"/>
          <p:cNvPicPr>
            <a:picLocks noChangeAspect="1"/>
          </p:cNvPicPr>
          <p:nvPr/>
        </p:nvPicPr>
        <p:blipFill>
          <a:blip r:embed="rId2"/>
          <a:stretch>
            <a:fillRect/>
          </a:stretch>
        </p:blipFill>
        <p:spPr>
          <a:xfrm>
            <a:off x="1855624" y="1432425"/>
            <a:ext cx="2289652" cy="490639"/>
          </a:xfrm>
          <a:prstGeom prst="rect">
            <a:avLst/>
          </a:prstGeom>
        </p:spPr>
      </p:pic>
      <p:pic>
        <p:nvPicPr>
          <p:cNvPr id="16" name="Picture 15" descr="bnp_paribas.png"/>
          <p:cNvPicPr>
            <a:picLocks noChangeAspect="1"/>
          </p:cNvPicPr>
          <p:nvPr/>
        </p:nvPicPr>
        <p:blipFill>
          <a:blip r:embed="rId2"/>
          <a:stretch>
            <a:fillRect/>
          </a:stretch>
        </p:blipFill>
        <p:spPr>
          <a:xfrm>
            <a:off x="7733188" y="1432425"/>
            <a:ext cx="2289652" cy="490639"/>
          </a:xfrm>
          <a:prstGeom prst="rect">
            <a:avLst/>
          </a:prstGeom>
        </p:spPr>
      </p:pic>
      <p:pic>
        <p:nvPicPr>
          <p:cNvPr id="17" name="Picture 16" descr="sncf.png"/>
          <p:cNvPicPr>
            <a:picLocks noChangeAspect="1"/>
          </p:cNvPicPr>
          <p:nvPr/>
        </p:nvPicPr>
        <p:blipFill>
          <a:blip r:embed="rId3"/>
          <a:stretch>
            <a:fillRect/>
          </a:stretch>
        </p:blipFill>
        <p:spPr>
          <a:xfrm>
            <a:off x="2516813" y="3987487"/>
            <a:ext cx="967274" cy="804569"/>
          </a:xfrm>
          <a:prstGeom prst="rect">
            <a:avLst/>
          </a:prstGeom>
        </p:spPr>
      </p:pic>
      <p:pic>
        <p:nvPicPr>
          <p:cNvPr id="18" name="Picture 17" descr="societe_generale.png"/>
          <p:cNvPicPr>
            <a:picLocks noChangeAspect="1"/>
          </p:cNvPicPr>
          <p:nvPr/>
        </p:nvPicPr>
        <p:blipFill>
          <a:blip r:embed="rId4"/>
          <a:stretch>
            <a:fillRect/>
          </a:stretch>
        </p:blipFill>
        <p:spPr>
          <a:xfrm>
            <a:off x="7733188" y="4128608"/>
            <a:ext cx="2289652" cy="52232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Product Owner chez SOCIETE GENERALE (BDDF/DRO/DGT/POW) sur l'outil "SG Agenda" de prise de rendez-vous en ligne. Le rôle de Square Management comprenait le partage de connaissances avec l'équipe IA Générative.</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BDDF/DRO/DGT/POW, </a:t>
            </a:r>
            <a:r>
              <a:rPr sz="1100" b="0" i="1">
                <a:solidFill>
                  <a:srgbClr val="1A1A1A"/>
                </a:solidFill>
                <a:latin typeface="Verdana"/>
              </a:rPr>
              <a:t>PRODUCT OWNER</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Chargée de projet digital au sein de la Direction Innovation et expérience. Le rôle incluait l'accompagnement sur le chantier IA, visant à intégrer l'Intelligence Artificielle dans les tunnels de vente pour un ciblage automatisé et optimisé des offres.</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INNOVATION ET EXPÉRIENCE CLIENT, </a:t>
            </a:r>
            <a:r>
              <a:rPr sz="1000" b="0" i="1">
                <a:solidFill>
                  <a:srgbClr val="1A1A1A"/>
                </a:solidFill>
                <a:latin typeface="Verdana"/>
              </a:rPr>
              <a:t>CHARGÉE DE PROJET DIGITAL</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1. 2. Proposition d'une solution : * Développement d'un assistant IA pour simplifier l'intégration des APIs de Worldline, fournir des exemples d'appels, simuler des erreurs et offrir un environnement de test intuitif. 3. 4. 5. * Taux de réussite : L'assistant a généré des requêtes API correctes dans 90 % des cas, pour les scénarios simples et complexes.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MERCHANT SERVICES - HACKATHON, </a:t>
            </a:r>
            <a:r>
              <a:rPr sz="1000" b="0" i="1">
                <a:solidFill>
                  <a:srgbClr val="1A1A1A"/>
                </a:solidFill>
                <a:latin typeface="Verdana"/>
              </a:rPr>
              <a:t>PRODUCT AI PROMPT ENGINEER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digital &amp; innovations au sein de la direction Digitale de MOET HENNESSY - Estates &amp; Wines, visant à. Le rôle a inclus la contribution au déploiement d’une IA sommelière (présentée à Vivatech) dans le cadre des projets d'innovation.</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ESTATES &amp; WINES - DIGITAL TEAM, </a:t>
            </a:r>
            <a:r>
              <a:rPr sz="1000" b="0" i="1">
                <a:solidFill>
                  <a:srgbClr val="1A1A1A"/>
                </a:solidFill>
                <a:latin typeface="Verdana"/>
              </a:rPr>
              <a:t>CHEF DE PROJET DIGITAL &amp; INNOVATIONS</a:t>
            </a:r>
          </a:p>
        </p:txBody>
      </p:sp>
      <p:sp>
        <p:nvSpPr>
          <p:cNvPr id="14" name="Title 13"/>
          <p:cNvSpPr>
            <a:spLocks noGrp="1"/>
          </p:cNvSpPr>
          <p:nvPr>
            <p:ph type="title"/>
          </p:nvPr>
        </p:nvSpPr>
        <p:spPr/>
        <p:txBody>
          <a:bodyPr/>
          <a:lstStyle/>
          <a:p>
            <a:r>
              <a:t>Références IA : Front Office (2/4)</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worldline.png"/>
          <p:cNvPicPr>
            <a:picLocks noChangeAspect="1"/>
          </p:cNvPicPr>
          <p:nvPr/>
        </p:nvPicPr>
        <p:blipFill>
          <a:blip r:embed="rId3"/>
          <a:stretch>
            <a:fillRect/>
          </a:stretch>
        </p:blipFill>
        <p:spPr>
          <a:xfrm>
            <a:off x="8306819" y="1275460"/>
            <a:ext cx="1142390" cy="804569"/>
          </a:xfrm>
          <a:prstGeom prst="rect">
            <a:avLst/>
          </a:prstGeom>
        </p:spPr>
      </p:pic>
      <p:pic>
        <p:nvPicPr>
          <p:cNvPr id="17" name="Picture 16" descr="la_poste.png"/>
          <p:cNvPicPr>
            <a:picLocks noChangeAspect="1"/>
          </p:cNvPicPr>
          <p:nvPr/>
        </p:nvPicPr>
        <p:blipFill>
          <a:blip r:embed="rId4"/>
          <a:stretch>
            <a:fillRect/>
          </a:stretch>
        </p:blipFill>
        <p:spPr>
          <a:xfrm>
            <a:off x="1855624" y="4219240"/>
            <a:ext cx="2289652" cy="341062"/>
          </a:xfrm>
          <a:prstGeom prst="rect">
            <a:avLst/>
          </a:prstGeom>
        </p:spPr>
      </p:pic>
      <p:pic>
        <p:nvPicPr>
          <p:cNvPr id="18" name="Picture 17" descr="moet_hennessy.png"/>
          <p:cNvPicPr>
            <a:picLocks noChangeAspect="1"/>
          </p:cNvPicPr>
          <p:nvPr/>
        </p:nvPicPr>
        <p:blipFill>
          <a:blip r:embed="rId5"/>
          <a:stretch>
            <a:fillRect/>
          </a:stretch>
        </p:blipFill>
        <p:spPr>
          <a:xfrm>
            <a:off x="7733188" y="4197814"/>
            <a:ext cx="2289652" cy="38391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Product Manager au sein de la Direction digitale de la SG pour piloter l'intégration stratégique d'une IA dans l'App SG, visant les particuliers. Square Management a assuré le suivi complet du cycle de développement Agile (ateliers, sprints, tests utilisateurs).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DIGITALE, </a:t>
            </a:r>
            <a:r>
              <a:rPr sz="1100" b="0" i="1">
                <a:solidFill>
                  <a:srgbClr val="1A1A1A"/>
                </a:solidFill>
                <a:latin typeface="Verdana"/>
              </a:rPr>
              <a:t>PRODUCT MANAGER</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CRM international au sein de la Direction omnicanale de PARFUMS CHRISTIAN DIOR. La mission visait à optimiser la stratégie de communication client en intégrant l'Intelligence Artificielle.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OMNICANALE, </a:t>
            </a:r>
            <a:r>
              <a:rPr sz="1000" b="0" i="1">
                <a:solidFill>
                  <a:srgbClr val="1A1A1A"/>
                </a:solidFill>
                <a:latin typeface="Verdana"/>
              </a:rPr>
              <a:t>INTERNATIONAL CRM PROJECT MANAGER</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marketing auprès de GLEAMER, une start-up pionnière dans les outils de diagnostic à base d'Intelligence Artificielle (IA) en radiologie. La mission portait sur la stratégie marketing et l'aide au lancement de nouveaux produits d'IA.</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MARKETING &amp; AFFAIRES CLINIQUES, </a:t>
            </a:r>
            <a:r>
              <a:rPr sz="1000" b="0" i="1">
                <a:solidFill>
                  <a:srgbClr val="1A1A1A"/>
                </a:solidFill>
                <a:latin typeface="Verdana"/>
              </a:rPr>
              <a:t>CHEF DE PROJET MARKETING</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En tant que Rollout manager, mon rôle était de synchroniser toutes les parties prenantes pour déployer la solution sur 9 pays en 2022 Travail direct avec les équipes pays : business, sales, IT ; les équipes groupe : EU digital et IT ; Esker : dév Méthode Tollgate, Organisation et animation des.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DIGITAL FACTORY, </a:t>
            </a:r>
            <a:r>
              <a:rPr sz="1100" b="0" i="1">
                <a:solidFill>
                  <a:srgbClr val="1A1A1A"/>
                </a:solidFill>
                <a:latin typeface="Verdana"/>
              </a:rPr>
              <a:t>ROLLOUT MANAGER</a:t>
            </a:r>
          </a:p>
        </p:txBody>
      </p:sp>
      <p:sp>
        <p:nvSpPr>
          <p:cNvPr id="14" name="Title 13"/>
          <p:cNvSpPr>
            <a:spLocks noGrp="1"/>
          </p:cNvSpPr>
          <p:nvPr>
            <p:ph type="title"/>
          </p:nvPr>
        </p:nvSpPr>
        <p:spPr/>
        <p:txBody>
          <a:bodyPr/>
          <a:lstStyle/>
          <a:p>
            <a:r>
              <a:t>Références IA : Front Office (3/4)</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gleamer.png"/>
          <p:cNvPicPr>
            <a:picLocks noChangeAspect="1"/>
          </p:cNvPicPr>
          <p:nvPr/>
        </p:nvPicPr>
        <p:blipFill>
          <a:blip r:embed="rId3"/>
          <a:stretch>
            <a:fillRect/>
          </a:stretch>
        </p:blipFill>
        <p:spPr>
          <a:xfrm>
            <a:off x="7733188" y="1413263"/>
            <a:ext cx="2289652" cy="528962"/>
          </a:xfrm>
          <a:prstGeom prst="rect">
            <a:avLst/>
          </a:prstGeom>
        </p:spPr>
      </p:pic>
      <p:pic>
        <p:nvPicPr>
          <p:cNvPr id="17" name="Picture 16" descr="dior.png"/>
          <p:cNvPicPr>
            <a:picLocks noChangeAspect="1"/>
          </p:cNvPicPr>
          <p:nvPr/>
        </p:nvPicPr>
        <p:blipFill>
          <a:blip r:embed="rId4"/>
          <a:stretch>
            <a:fillRect/>
          </a:stretch>
        </p:blipFill>
        <p:spPr>
          <a:xfrm>
            <a:off x="2013024" y="3987487"/>
            <a:ext cx="1974851" cy="804569"/>
          </a:xfrm>
          <a:prstGeom prst="rect">
            <a:avLst/>
          </a:prstGeom>
        </p:spPr>
      </p:pic>
      <p:pic>
        <p:nvPicPr>
          <p:cNvPr id="18" name="Picture 17" descr="rexel.png"/>
          <p:cNvPicPr>
            <a:picLocks noChangeAspect="1"/>
          </p:cNvPicPr>
          <p:nvPr/>
        </p:nvPicPr>
        <p:blipFill>
          <a:blip r:embed="rId5"/>
          <a:stretch>
            <a:fillRect/>
          </a:stretch>
        </p:blipFill>
        <p:spPr>
          <a:xfrm>
            <a:off x="7818554" y="3987487"/>
            <a:ext cx="2118920" cy="80456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Product Owner (PO) au sein de SG BDDF (Proactivité Digitale) sur le chatbot SoBot. Le contexte de la mission était la maintenance opérationnelle et l'amélioration continue de ce chatbot.</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PROACTIVITÉ DIGITALE, </a:t>
            </a:r>
            <a:r>
              <a:rPr sz="1100" b="0" i="1">
                <a:solidFill>
                  <a:srgbClr val="1A1A1A"/>
                </a:solidFill>
                <a:latin typeface="Verdana"/>
              </a:rPr>
              <a:t>PO</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au sein de. La mission était centrée sur le développement de "Legal Assistant", une application utilisant l'Intelligence Artificielle pour assister les juristes dans la revue de contrats (corporate finance) selon les guidelines internes.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SEGL (SECRÉTARIAT GÉNÉRAL), </a:t>
            </a:r>
            <a:r>
              <a:rPr sz="1100" b="0" i="1">
                <a:solidFill>
                  <a:srgbClr val="1A1A1A"/>
                </a:solidFill>
                <a:latin typeface="Verdana"/>
              </a:rPr>
              <a:t>CHEF DE PROJET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Product Owner auprès de SOCIETE GENERALE BDDF (DRO), pilotant l'évolution de SoBot, le chatbot de la banque, qui gère plus de 200 000 conversations mensuelles.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DRO, </a:t>
            </a:r>
            <a:r>
              <a:rPr sz="1100" b="0" i="1">
                <a:solidFill>
                  <a:srgbClr val="1A1A1A"/>
                </a:solidFill>
                <a:latin typeface="Verdana"/>
              </a:rPr>
              <a:t>PRODUCT OWNER</a:t>
            </a:r>
          </a:p>
        </p:txBody>
      </p:sp>
      <p:sp>
        <p:nvSpPr>
          <p:cNvPr id="14" name="Title 13"/>
          <p:cNvSpPr>
            <a:spLocks noGrp="1"/>
          </p:cNvSpPr>
          <p:nvPr>
            <p:ph type="title"/>
          </p:nvPr>
        </p:nvSpPr>
        <p:spPr/>
        <p:txBody>
          <a:bodyPr/>
          <a:lstStyle/>
          <a:p>
            <a:r>
              <a:t>Références IA : Front Office (4/4)</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societe_generale.png"/>
          <p:cNvPicPr>
            <a:picLocks noChangeAspect="1"/>
          </p:cNvPicPr>
          <p:nvPr/>
        </p:nvPicPr>
        <p:blipFill>
          <a:blip r:embed="rId2"/>
          <a:stretch>
            <a:fillRect/>
          </a:stretch>
        </p:blipFill>
        <p:spPr>
          <a:xfrm>
            <a:off x="7733188" y="1416581"/>
            <a:ext cx="2289652" cy="522326"/>
          </a:xfrm>
          <a:prstGeom prst="rect">
            <a:avLst/>
          </a:prstGeom>
        </p:spPr>
      </p:pic>
      <p:pic>
        <p:nvPicPr>
          <p:cNvPr id="17" name="Picture 16" descr="societe_generale.png"/>
          <p:cNvPicPr>
            <a:picLocks noChangeAspect="1"/>
          </p:cNvPicPr>
          <p:nvPr/>
        </p:nvPicPr>
        <p:blipFill>
          <a:blip r:embed="rId2"/>
          <a:stretch>
            <a:fillRect/>
          </a:stretch>
        </p:blipFill>
        <p:spPr>
          <a:xfrm>
            <a:off x="1855624" y="4128608"/>
            <a:ext cx="2289652" cy="52232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qu'Expert Gen AI au sein de la Direction Financière d'AXA GIE (entité Finance). La mission principale est d'accompagner les équipes (contrôleurs, actuaires, comptables) à déployer des cas d'usage d'Intelligence Artificielle Générative (Gen AI) à l'échelle du groupe (GIE, Monde).</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DIRECTION FINANCIÈRE, </a:t>
            </a:r>
            <a:r>
              <a:rPr sz="1100" b="0" i="1">
                <a:solidFill>
                  <a:srgbClr val="1A1A1A"/>
                </a:solidFill>
                <a:latin typeface="Verdana"/>
              </a:rPr>
              <a:t>EXPERT GEN AI</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À la suite d’une reprise de mission, Emma a été chargée de finaliser le projet en cours. Ce projet à pour objectif d'automatiser des tests jusque-là réalisés manuellement par les modélisateurs. - Audit de l’intégrité et de la performance des codes.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RISQUE, </a:t>
            </a:r>
            <a:r>
              <a:rPr sz="11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au sein de CIB - GLobal Banking - CCCO de BNPP, dans un contexte d’évolutions réglementaires et de montée en puissance de l'Intelligence Artificielle. La mission visait à refondre et rationaliser le dispositif de contrôle interne.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CIB - GLOBAL BANKING - CCCO, </a:t>
            </a:r>
            <a:r>
              <a:rPr sz="1100" b="0" i="1">
                <a:solidFill>
                  <a:srgbClr val="1A1A1A"/>
                </a:solidFill>
                <a:latin typeface="Verdana"/>
              </a:rPr>
              <a:t>CHEF DE PROJET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Product Owner IA au sein de l'équipe Applicatifs Modèles &amp; Innovation de la Direction des Risques de BPCE SA. La mission consistait à piloter le déploiement de l'outil IA interne "Golden Eye" auprès de 500 collaborateurs des Directions Risques.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DES RISQUES, </a:t>
            </a:r>
            <a:r>
              <a:rPr sz="1100" b="0" i="1">
                <a:solidFill>
                  <a:srgbClr val="1A1A1A"/>
                </a:solidFill>
                <a:latin typeface="Verdana"/>
              </a:rPr>
              <a:t>PRODUCT OWNER IA</a:t>
            </a:r>
          </a:p>
        </p:txBody>
      </p:sp>
      <p:sp>
        <p:nvSpPr>
          <p:cNvPr id="14" name="Title 13"/>
          <p:cNvSpPr>
            <a:spLocks noGrp="1"/>
          </p:cNvSpPr>
          <p:nvPr>
            <p:ph type="title"/>
          </p:nvPr>
        </p:nvSpPr>
        <p:spPr/>
        <p:txBody>
          <a:bodyPr/>
          <a:lstStyle/>
          <a:p>
            <a:r>
              <a:t>Références IA : Conformité (1/5)</a:t>
            </a:r>
          </a:p>
        </p:txBody>
      </p:sp>
      <p:pic>
        <p:nvPicPr>
          <p:cNvPr id="15" name="Picture 14" descr="axa.png"/>
          <p:cNvPicPr>
            <a:picLocks noChangeAspect="1"/>
          </p:cNvPicPr>
          <p:nvPr/>
        </p:nvPicPr>
        <p:blipFill>
          <a:blip r:embed="rId2"/>
          <a:stretch>
            <a:fillRect/>
          </a:stretch>
        </p:blipFill>
        <p:spPr>
          <a:xfrm>
            <a:off x="2598165" y="1275460"/>
            <a:ext cx="804569" cy="804569"/>
          </a:xfrm>
          <a:prstGeom prst="rect">
            <a:avLst/>
          </a:prstGeom>
        </p:spPr>
      </p:pic>
      <p:pic>
        <p:nvPicPr>
          <p:cNvPr id="16" name="Picture 15" descr="bnp_paribas.png"/>
          <p:cNvPicPr>
            <a:picLocks noChangeAspect="1"/>
          </p:cNvPicPr>
          <p:nvPr/>
        </p:nvPicPr>
        <p:blipFill>
          <a:blip r:embed="rId3"/>
          <a:stretch>
            <a:fillRect/>
          </a:stretch>
        </p:blipFill>
        <p:spPr>
          <a:xfrm>
            <a:off x="7733188" y="1432425"/>
            <a:ext cx="2289652" cy="490639"/>
          </a:xfrm>
          <a:prstGeom prst="rect">
            <a:avLst/>
          </a:prstGeom>
        </p:spPr>
      </p:pic>
      <p:pic>
        <p:nvPicPr>
          <p:cNvPr id="17" name="Picture 16" descr="societe_generale.png"/>
          <p:cNvPicPr>
            <a:picLocks noChangeAspect="1"/>
          </p:cNvPicPr>
          <p:nvPr/>
        </p:nvPicPr>
        <p:blipFill>
          <a:blip r:embed="rId4"/>
          <a:stretch>
            <a:fillRect/>
          </a:stretch>
        </p:blipFill>
        <p:spPr>
          <a:xfrm>
            <a:off x="1855624" y="4128608"/>
            <a:ext cx="2289652" cy="522326"/>
          </a:xfrm>
          <a:prstGeom prst="rect">
            <a:avLst/>
          </a:prstGeom>
        </p:spPr>
      </p:pic>
      <p:pic>
        <p:nvPicPr>
          <p:cNvPr id="18" name="Picture 17" descr="bpce.png"/>
          <p:cNvPicPr>
            <a:picLocks noChangeAspect="1"/>
          </p:cNvPicPr>
          <p:nvPr/>
        </p:nvPicPr>
        <p:blipFill>
          <a:blip r:embed="rId5"/>
          <a:stretch>
            <a:fillRect/>
          </a:stretch>
        </p:blipFill>
        <p:spPr>
          <a:xfrm>
            <a:off x="7778702" y="3987487"/>
            <a:ext cx="2198624" cy="80456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 Acted as a bridge between the developers and the client to better explain what was expected from the solutions my colleagues were developing; * Defined the scope of the CMP, considering the types of regulated activities the firm intends to carry out; * Ensure the solution aligns with the CCO’s requirements and business needs; * Work with the European.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RISK &amp; COMPLIANCE, </a:t>
            </a:r>
            <a:r>
              <a:rPr sz="1000" b="0" i="1">
                <a:solidFill>
                  <a:srgbClr val="1A1A1A"/>
                </a:solidFill>
                <a:latin typeface="Verdana"/>
              </a:rPr>
              <a:t>BUSINESS ANALYST &amp; PROJECT MANAGER</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au sein de la Direction de la Conformité Groupe de LA BANQUE POSTALE. Le contexte de la mission était l'implémentation de l'Intelligence Artificielle dans le cadre de la conformité (LCB-FT, sanctions, embargos).</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DE LA CONFORMITÉ GROUPE, </a:t>
            </a:r>
            <a:r>
              <a:rPr sz="1000" b="0" i="1">
                <a:solidFill>
                  <a:srgbClr val="1A1A1A"/>
                </a:solidFill>
                <a:latin typeface="Verdana"/>
              </a:rPr>
              <a:t>CHEF DE PROJET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 Recalibration en continue des scenarios de détection à l'aide d'outil statistiques in-house. - Monitoring des métriques de performances des outils de détection sur différentes entités AFMO. - Déploiement du modèle de détection sur l'entité KB (République Tchèque). - Documentation des travaux pour revue par le département Model Risk Management.</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IRB/FCC FINANCIAL CRIME, </a:t>
            </a:r>
            <a:r>
              <a:rPr sz="1000" b="0" i="1">
                <a:solidFill>
                  <a:srgbClr val="1A1A1A"/>
                </a:solidFill>
                <a:latin typeface="Verdana"/>
              </a:rPr>
              <a:t>DATA SCIENTIST / ANALYST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 Développement et optimisation d’algorithmes de détection du blanchiment de capitaux et du financement du terrorisme. * Retour d'audit de modèles de détection d'anomalie Isolation Forest</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DE LA CONFORMITÉ, </a:t>
            </a:r>
            <a:r>
              <a:rPr sz="1100" b="0" i="1">
                <a:solidFill>
                  <a:srgbClr val="1A1A1A"/>
                </a:solidFill>
                <a:latin typeface="Verdana"/>
              </a:rPr>
              <a:t>DATA SCIENTIST</a:t>
            </a:r>
          </a:p>
        </p:txBody>
      </p:sp>
      <p:sp>
        <p:nvSpPr>
          <p:cNvPr id="14" name="Title 13"/>
          <p:cNvSpPr>
            <a:spLocks noGrp="1"/>
          </p:cNvSpPr>
          <p:nvPr>
            <p:ph type="title"/>
          </p:nvPr>
        </p:nvSpPr>
        <p:spPr/>
        <p:txBody>
          <a:bodyPr/>
          <a:lstStyle/>
          <a:p>
            <a:r>
              <a:t>Références IA : Conformité (2/5)</a:t>
            </a:r>
          </a:p>
        </p:txBody>
      </p:sp>
      <p:pic>
        <p:nvPicPr>
          <p:cNvPr id="15" name="Picture 14" descr="ca_indosuez.png"/>
          <p:cNvPicPr>
            <a:picLocks noChangeAspect="1"/>
          </p:cNvPicPr>
          <p:nvPr/>
        </p:nvPicPr>
        <p:blipFill>
          <a:blip r:embed="rId2"/>
          <a:stretch>
            <a:fillRect/>
          </a:stretch>
        </p:blipFill>
        <p:spPr>
          <a:xfrm>
            <a:off x="2349197" y="1275460"/>
            <a:ext cx="1302506" cy="804568"/>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la_banque_postale.png"/>
          <p:cNvPicPr>
            <a:picLocks noChangeAspect="1"/>
          </p:cNvPicPr>
          <p:nvPr/>
        </p:nvPicPr>
        <p:blipFill>
          <a:blip r:embed="rId4"/>
          <a:stretch>
            <a:fillRect/>
          </a:stretch>
        </p:blipFill>
        <p:spPr>
          <a:xfrm>
            <a:off x="2421450" y="3987487"/>
            <a:ext cx="1158000" cy="804569"/>
          </a:xfrm>
          <a:prstGeom prst="rect">
            <a:avLst/>
          </a:prstGeom>
        </p:spPr>
      </p:pic>
      <p:pic>
        <p:nvPicPr>
          <p:cNvPr id="18" name="Picture 17" descr="la_banque_postale.png"/>
          <p:cNvPicPr>
            <a:picLocks noChangeAspect="1"/>
          </p:cNvPicPr>
          <p:nvPr/>
        </p:nvPicPr>
        <p:blipFill>
          <a:blip r:embed="rId4"/>
          <a:stretch>
            <a:fillRect/>
          </a:stretch>
        </p:blipFill>
        <p:spPr>
          <a:xfrm>
            <a:off x="8299014" y="3987487"/>
            <a:ext cx="1158000" cy="80456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Conseil auprès du Secrétariat Général de SOCIETE GENERALE pour structurer l'accélération des projets d'IA et d'IA générative (Ecosystème des projets IA). Le rôle de Square Management a consisté à établir un cadre de gouvernance pour l'intégration de l'IA au sein de SEGL.</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SECRÉTARIAT GÉNÉRAL, </a:t>
            </a:r>
            <a:r>
              <a:rPr sz="1100" b="0" i="1">
                <a:solidFill>
                  <a:srgbClr val="1A1A1A"/>
                </a:solidFill>
                <a:latin typeface="Verdana"/>
              </a:rPr>
              <a:t>CONSEIL</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Consultant en Management de l'innovation au sein de la Direction Innovation de BALOISE ASSURANCES. La mission était d'explorer et de mettre en œuvre des applications pratiques de l'Intelligence Artificielle Générative (GenAI) pour le département juridique.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INNOVATION, </a:t>
            </a:r>
            <a:r>
              <a:rPr sz="1000" b="0" i="1">
                <a:solidFill>
                  <a:srgbClr val="1A1A1A"/>
                </a:solidFill>
                <a:latin typeface="Verdana"/>
              </a:rPr>
              <a:t>CONSULTANT EN MANAGEMENT DE L'INNOVATION</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Directeur de mission - Expert LCB-FT auprès d'AXA France (Direction de la. Une partie essentielle du rôle incluait l'intégration d'un module d'IA (intelligence artificielle) dans les moteurs de filtrage, ainsi que la revue des scénarios de blanchiment et la digitalisation de tâches manuelles d'investigation.</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DE LA CONFORMITÉ, </a:t>
            </a:r>
            <a:r>
              <a:rPr sz="1000" b="0" i="1">
                <a:solidFill>
                  <a:srgbClr val="1A1A1A"/>
                </a:solidFill>
                <a:latin typeface="Verdana"/>
              </a:rPr>
              <a:t>DIRECTEUR DE MISSION - EXPERT LCB-FT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Stratégique senior Transformation &amp; Conformité auprès de LA BANQUE POSTALE (Direction de la transformation). Le rôle consistait à piloter un portefeuille de 13 projets stratégiques, dont l'intégration de cas d’usage IA.</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DE LA TRANSFORMATION, </a:t>
            </a:r>
            <a:r>
              <a:rPr sz="1000" b="0" i="1">
                <a:solidFill>
                  <a:srgbClr val="1A1A1A"/>
                </a:solidFill>
                <a:latin typeface="Verdana"/>
              </a:rPr>
              <a:t>PMO STRATÉGIQUE</a:t>
            </a:r>
          </a:p>
        </p:txBody>
      </p:sp>
      <p:sp>
        <p:nvSpPr>
          <p:cNvPr id="14" name="Title 13"/>
          <p:cNvSpPr>
            <a:spLocks noGrp="1"/>
          </p:cNvSpPr>
          <p:nvPr>
            <p:ph type="title"/>
          </p:nvPr>
        </p:nvSpPr>
        <p:spPr/>
        <p:txBody>
          <a:bodyPr/>
          <a:lstStyle/>
          <a:p>
            <a:r>
              <a:t>Références IA : Conformité (3/5)</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axa.png"/>
          <p:cNvPicPr>
            <a:picLocks noChangeAspect="1"/>
          </p:cNvPicPr>
          <p:nvPr/>
        </p:nvPicPr>
        <p:blipFill>
          <a:blip r:embed="rId3"/>
          <a:stretch>
            <a:fillRect/>
          </a:stretch>
        </p:blipFill>
        <p:spPr>
          <a:xfrm>
            <a:off x="8475729" y="1275460"/>
            <a:ext cx="804569" cy="804569"/>
          </a:xfrm>
          <a:prstGeom prst="rect">
            <a:avLst/>
          </a:prstGeom>
        </p:spPr>
      </p:pic>
      <p:pic>
        <p:nvPicPr>
          <p:cNvPr id="17" name="Picture 16" descr="baloise.png"/>
          <p:cNvPicPr>
            <a:picLocks noChangeAspect="1"/>
          </p:cNvPicPr>
          <p:nvPr/>
        </p:nvPicPr>
        <p:blipFill>
          <a:blip r:embed="rId4"/>
          <a:stretch>
            <a:fillRect/>
          </a:stretch>
        </p:blipFill>
        <p:spPr>
          <a:xfrm>
            <a:off x="1855624" y="4065486"/>
            <a:ext cx="2289652" cy="648570"/>
          </a:xfrm>
          <a:prstGeom prst="rect">
            <a:avLst/>
          </a:prstGeom>
        </p:spPr>
      </p:pic>
      <p:pic>
        <p:nvPicPr>
          <p:cNvPr id="18" name="Picture 17" descr="la_banque_postale.png"/>
          <p:cNvPicPr>
            <a:picLocks noChangeAspect="1"/>
          </p:cNvPicPr>
          <p:nvPr/>
        </p:nvPicPr>
        <p:blipFill>
          <a:blip r:embed="rId5"/>
          <a:stretch>
            <a:fillRect/>
          </a:stretch>
        </p:blipFill>
        <p:spPr>
          <a:xfrm>
            <a:off x="8299014" y="3987487"/>
            <a:ext cx="1158000" cy="80456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Content Manager / Référent technique au sein de la DSI de SG, pour l'intégration d'un outil d'Intelligence Artificielle dans l'application client. Cette initiative vise à améliorer la satisfaction client en fournissant des conseils proactifs et prédictifs via l'IA pour la gestion quotidienne des comptes.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CONTENT MANAGER / RÉFÉRENT TECHNIQUE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Direction du 1er programme de détection des fraudes internes par l'utilisation de l'intelligence artificielle (Développement et implémentation) : Détection des containers volées sur internet.</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RISQUE, CONFORMITÉ, AUDIT, </a:t>
            </a:r>
            <a:r>
              <a:rPr sz="1000" b="0" i="1">
                <a:solidFill>
                  <a:srgbClr val="1A1A1A"/>
                </a:solidFill>
                <a:latin typeface="Verdana"/>
              </a:rPr>
              <a:t>CHEFFE D'ÉQUIPE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Consultant auprès de SOCIETE GENERALE pour le déploiement de "NEXTGEN / HOLMES", un nouvel outil de lutte anti-blanchiment (LAB LAT) basé sur l'Intelligence Artificielle (via Palantir). Ce projet, visant la Compliance sur les régions EURO et AFMO (38 entités), a nécessité l'assistance à la Direction de Programme.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COMPLIANCE (RESG/CFT ET CPLE/DTO), </a:t>
            </a:r>
            <a:r>
              <a:rPr sz="1100" b="0" i="1">
                <a:solidFill>
                  <a:srgbClr val="1A1A1A"/>
                </a:solidFill>
                <a:latin typeface="Verdana"/>
              </a:rPr>
              <a:t>CONSULTANT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Modélisation des scores d’octroi en méthodes classiques (logistique) et avancées (machine learning) : •Refonte des modèles d’octroi de crédit au service du développement commercial et de la rentabilité •Développement et implémentation de modèles « Big Data » : nouvelles données.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CRÉDIT, </a:t>
            </a:r>
            <a:r>
              <a:rPr sz="1100" b="0" i="1">
                <a:solidFill>
                  <a:srgbClr val="1A1A1A"/>
                </a:solidFill>
                <a:latin typeface="Verdana"/>
              </a:rPr>
              <a:t>DIRECTEUR</a:t>
            </a:r>
          </a:p>
        </p:txBody>
      </p:sp>
      <p:sp>
        <p:nvSpPr>
          <p:cNvPr id="14" name="Title 13"/>
          <p:cNvSpPr>
            <a:spLocks noGrp="1"/>
          </p:cNvSpPr>
          <p:nvPr>
            <p:ph type="title"/>
          </p:nvPr>
        </p:nvSpPr>
        <p:spPr/>
        <p:txBody>
          <a:bodyPr/>
          <a:lstStyle/>
          <a:p>
            <a:r>
              <a:t>Références IA : Conformité (4/5)</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societe_generale.png"/>
          <p:cNvPicPr>
            <a:picLocks noChangeAspect="1"/>
          </p:cNvPicPr>
          <p:nvPr/>
        </p:nvPicPr>
        <p:blipFill>
          <a:blip r:embed="rId2"/>
          <a:stretch>
            <a:fillRect/>
          </a:stretch>
        </p:blipFill>
        <p:spPr>
          <a:xfrm>
            <a:off x="7733188" y="1416581"/>
            <a:ext cx="2289652" cy="522326"/>
          </a:xfrm>
          <a:prstGeom prst="rect">
            <a:avLst/>
          </a:prstGeom>
        </p:spPr>
      </p:pic>
      <p:pic>
        <p:nvPicPr>
          <p:cNvPr id="17" name="Picture 16" descr="cma_cgm.png"/>
          <p:cNvPicPr>
            <a:picLocks noChangeAspect="1"/>
          </p:cNvPicPr>
          <p:nvPr/>
        </p:nvPicPr>
        <p:blipFill>
          <a:blip r:embed="rId3"/>
          <a:stretch>
            <a:fillRect/>
          </a:stretch>
        </p:blipFill>
        <p:spPr>
          <a:xfrm>
            <a:off x="2341417" y="3987487"/>
            <a:ext cx="1318065" cy="804569"/>
          </a:xfrm>
          <a:prstGeom prst="rect">
            <a:avLst/>
          </a:prstGeom>
        </p:spPr>
      </p:pic>
      <p:pic>
        <p:nvPicPr>
          <p:cNvPr id="18" name="Picture 17" descr="sofinco.png"/>
          <p:cNvPicPr>
            <a:picLocks noChangeAspect="1"/>
          </p:cNvPicPr>
          <p:nvPr/>
        </p:nvPicPr>
        <p:blipFill>
          <a:blip r:embed="rId4"/>
          <a:stretch>
            <a:fillRect/>
          </a:stretch>
        </p:blipFill>
        <p:spPr>
          <a:xfrm>
            <a:off x="7733188" y="4130993"/>
            <a:ext cx="2289652" cy="51755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PO et MOA au Secrétariat Général de SOCIETE GENERALE pour accompagner la transformation de la filière juridique et le déploiement d'un clausier digital. La mission comprenait la mise en place d'un outil d'Intelligence Artificielle pour accélérer l’homogénéisation des contrats.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SECRÉTARIAT GÉNÉRAL, </a:t>
            </a:r>
            <a:r>
              <a:rPr sz="1100" b="0" i="1">
                <a:solidFill>
                  <a:srgbClr val="1A1A1A"/>
                </a:solidFill>
                <a:latin typeface="Verdana"/>
              </a:rPr>
              <a:t>PO ET MOA</a:t>
            </a:r>
          </a:p>
        </p:txBody>
      </p:sp>
      <p:sp>
        <p:nvSpPr>
          <p:cNvPr id="14" name="Title 13"/>
          <p:cNvSpPr>
            <a:spLocks noGrp="1"/>
          </p:cNvSpPr>
          <p:nvPr>
            <p:ph type="title"/>
          </p:nvPr>
        </p:nvSpPr>
        <p:spPr/>
        <p:txBody>
          <a:bodyPr/>
          <a:lstStyle/>
          <a:p>
            <a:r>
              <a:t>Références IA : Conformité (5/5)</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Change Manager - International auprès d'AXA XL, Direction Transformation &amp; Change Delivery. La mission était centrée sur le déploiement d'un outil d'Intelligence Artificielle destiné à automatiser et sécuriser la comparaison de documents pour les équipes commerciales.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TRANSFORMATION &amp; CHANGE DELIVERY, </a:t>
            </a:r>
            <a:r>
              <a:rPr sz="1000" b="0" i="1">
                <a:solidFill>
                  <a:srgbClr val="1A1A1A"/>
                </a:solidFill>
                <a:latin typeface="Verdana"/>
              </a:rPr>
              <a:t>CHANGE MANAGER - INTERNATIONAL</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Innovation au sein de la Direction Générale des Opérations (DSI) d'AKTO, dans un contexte post-fusion visant à accélérer les. La mission principale était d'initier et d'élaborer la direction stratégique en IA Générative.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GENERALE DES OPERATIONS + DSI, </a:t>
            </a:r>
            <a:r>
              <a:rPr sz="1000" b="0" i="1">
                <a:solidFill>
                  <a:srgbClr val="1A1A1A"/>
                </a:solidFill>
                <a:latin typeface="Verdana"/>
              </a:rPr>
              <a:t>CHEF DE PROJET INNOVATION</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Manager Transformation et Innovation auprès de la Direction Grand Public d'ENGIE, dans un contexte de promotion de l'innovation et de l'Intelligence Artificielle (IA) au sein du Groupe. La mission visait à déployer les bonnes pratiques d'innovation et à concevoir une organisation efficace.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GRAND PUBLIC, </a:t>
            </a:r>
            <a:r>
              <a:rPr sz="1000" b="0" i="1">
                <a:solidFill>
                  <a:srgbClr val="1A1A1A"/>
                </a:solidFill>
                <a:latin typeface="Verdana"/>
              </a:rPr>
              <a:t>MANAGER TRANSFORMATION ET INNOVATION</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Concernant l'IA, le consultant a participé à la partie change management en assurant des formations à un outil d'Intelligence Artificielle (IA) de screening des contrats, soulignant ainsi l'intégration d'outils innovants dans le processus de transformation.</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COFACE GLOBAL SOLUTION (CGS), </a:t>
            </a:r>
            <a:r>
              <a:rPr sz="1000" b="0" i="1">
                <a:solidFill>
                  <a:srgbClr val="1A1A1A"/>
                </a:solidFill>
                <a:latin typeface="Verdana"/>
              </a:rPr>
              <a:t>CHEF DE PROJET - MIGRATIONS</a:t>
            </a:r>
          </a:p>
        </p:txBody>
      </p:sp>
      <p:sp>
        <p:nvSpPr>
          <p:cNvPr id="14" name="Title 13"/>
          <p:cNvSpPr>
            <a:spLocks noGrp="1"/>
          </p:cNvSpPr>
          <p:nvPr>
            <p:ph type="title"/>
          </p:nvPr>
        </p:nvSpPr>
        <p:spPr/>
        <p:txBody>
          <a:bodyPr/>
          <a:lstStyle/>
          <a:p>
            <a:r>
              <a:t>Références IA : Opérations (1/3)</a:t>
            </a:r>
          </a:p>
        </p:txBody>
      </p:sp>
      <p:pic>
        <p:nvPicPr>
          <p:cNvPr id="15" name="Picture 14" descr="axa.png"/>
          <p:cNvPicPr>
            <a:picLocks noChangeAspect="1"/>
          </p:cNvPicPr>
          <p:nvPr/>
        </p:nvPicPr>
        <p:blipFill>
          <a:blip r:embed="rId2"/>
          <a:stretch>
            <a:fillRect/>
          </a:stretch>
        </p:blipFill>
        <p:spPr>
          <a:xfrm>
            <a:off x="2598165" y="1275460"/>
            <a:ext cx="804569" cy="804569"/>
          </a:xfrm>
          <a:prstGeom prst="rect">
            <a:avLst/>
          </a:prstGeom>
        </p:spPr>
      </p:pic>
      <p:pic>
        <p:nvPicPr>
          <p:cNvPr id="16" name="Picture 15" descr="engie.png"/>
          <p:cNvPicPr>
            <a:picLocks noChangeAspect="1"/>
          </p:cNvPicPr>
          <p:nvPr/>
        </p:nvPicPr>
        <p:blipFill>
          <a:blip r:embed="rId3"/>
          <a:stretch>
            <a:fillRect/>
          </a:stretch>
        </p:blipFill>
        <p:spPr>
          <a:xfrm>
            <a:off x="7765066" y="1275460"/>
            <a:ext cx="2225896" cy="804569"/>
          </a:xfrm>
          <a:prstGeom prst="rect">
            <a:avLst/>
          </a:prstGeom>
        </p:spPr>
      </p:pic>
      <p:pic>
        <p:nvPicPr>
          <p:cNvPr id="17" name="Picture 16" descr="akto.png"/>
          <p:cNvPicPr>
            <a:picLocks noChangeAspect="1"/>
          </p:cNvPicPr>
          <p:nvPr/>
        </p:nvPicPr>
        <p:blipFill>
          <a:blip r:embed="rId4"/>
          <a:stretch>
            <a:fillRect/>
          </a:stretch>
        </p:blipFill>
        <p:spPr>
          <a:xfrm>
            <a:off x="2598165" y="3987487"/>
            <a:ext cx="804569" cy="804569"/>
          </a:xfrm>
          <a:prstGeom prst="rect">
            <a:avLst/>
          </a:prstGeom>
        </p:spPr>
      </p:pic>
      <p:pic>
        <p:nvPicPr>
          <p:cNvPr id="18" name="Picture 17" descr="coface.png"/>
          <p:cNvPicPr>
            <a:picLocks noChangeAspect="1"/>
          </p:cNvPicPr>
          <p:nvPr/>
        </p:nvPicPr>
        <p:blipFill>
          <a:blip r:embed="rId5"/>
          <a:stretch>
            <a:fillRect/>
          </a:stretch>
        </p:blipFill>
        <p:spPr>
          <a:xfrm>
            <a:off x="7733188" y="4011740"/>
            <a:ext cx="2289652" cy="75606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Responsable périmètre opérations (MO/BO) et juridiques pour le CREDIT AGRICOLE LEASING AND FACTORING, dans le cadre. Le programme visait à maîtriser ces charges pour investir dans des projets de croissance et saisir les opportunités de l'environnement technologique, notamment l'évolution vers l'IA/digitalisation.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GROUPE CAL&amp;F, </a:t>
            </a:r>
            <a:r>
              <a:rPr sz="1000" b="0" i="1">
                <a:solidFill>
                  <a:srgbClr val="1A1A1A"/>
                </a:solidFill>
                <a:latin typeface="Verdana"/>
              </a:rPr>
              <a:t>RESPONSABLE PÉRIMÈTRE OPÉRATIONS (MO/BO) ET JURIDIQUES</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qu'Expert organisation Agile à l'échelle auprès de la Direction Recherche et Développement de VALEO. Le contexte de la mission était l'intégration stratégique de l'Intelligence Artificielle pour optimiser les chaînes de production.</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RECHERCHE ET DÉVELOPPEMENT, </a:t>
            </a:r>
            <a:r>
              <a:rPr sz="1000" b="0" i="1">
                <a:solidFill>
                  <a:srgbClr val="1A1A1A"/>
                </a:solidFill>
                <a:latin typeface="Verdana"/>
              </a:rPr>
              <a:t>EXPERT ORGANISATION AGILE À L'ÉCHELLE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qu'Accompagnement Directrice de Projet Dispositif Cible PPI au sein de SOCIETE GENERALE BDDF, dans le cadre du programme "Top Parcours". Le contexte est la refonte du modèle opérationnel de distribution des prêts immobiliers pour améliorer la satisfaction client et regagner des parts de marché.</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BDDF/TPA/EPA, </a:t>
            </a:r>
            <a:r>
              <a:rPr sz="900" b="0" i="1">
                <a:solidFill>
                  <a:srgbClr val="1A1A1A"/>
                </a:solidFill>
                <a:latin typeface="Verdana"/>
              </a:rPr>
              <a:t>ACCOMPAGNEMENT DIRECTRICE DE PROJET DISPOSITIF CIBLE PPI (PRÊT PERSONNEL IMMOBILIER)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BUSINESS ANALYST / IA au sein du DATA OFFICE d'AXA GIE, dans un contexte d'innovation visant l'amélioration des processus. Ce projet a positionné AXA GIE à la pointe de l’innovation en IA, avec une valeur ajoutée significative pour les besoins métiers.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DATA OFFICE, </a:t>
            </a:r>
            <a:r>
              <a:rPr sz="1100" b="0" i="1">
                <a:solidFill>
                  <a:srgbClr val="1A1A1A"/>
                </a:solidFill>
                <a:latin typeface="Verdana"/>
              </a:rPr>
              <a:t>BUSINESS ANALYST / IA</a:t>
            </a:r>
          </a:p>
        </p:txBody>
      </p:sp>
      <p:sp>
        <p:nvSpPr>
          <p:cNvPr id="14" name="Title 13"/>
          <p:cNvSpPr>
            <a:spLocks noGrp="1"/>
          </p:cNvSpPr>
          <p:nvPr>
            <p:ph type="title"/>
          </p:nvPr>
        </p:nvSpPr>
        <p:spPr/>
        <p:txBody>
          <a:bodyPr/>
          <a:lstStyle/>
          <a:p>
            <a:r>
              <a:t>Références IA : Opérations (2/3)</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valeo.png"/>
          <p:cNvPicPr>
            <a:picLocks noChangeAspect="1"/>
          </p:cNvPicPr>
          <p:nvPr/>
        </p:nvPicPr>
        <p:blipFill>
          <a:blip r:embed="rId4"/>
          <a:stretch>
            <a:fillRect/>
          </a:stretch>
        </p:blipFill>
        <p:spPr>
          <a:xfrm>
            <a:off x="2093809" y="3987487"/>
            <a:ext cx="1813282" cy="804569"/>
          </a:xfrm>
          <a:prstGeom prst="rect">
            <a:avLst/>
          </a:prstGeom>
        </p:spPr>
      </p:pic>
      <p:pic>
        <p:nvPicPr>
          <p:cNvPr id="18" name="Picture 17" descr="axa.png"/>
          <p:cNvPicPr>
            <a:picLocks noChangeAspect="1"/>
          </p:cNvPicPr>
          <p:nvPr/>
        </p:nvPicPr>
        <p:blipFill>
          <a:blip r:embed="rId5"/>
          <a:stretch>
            <a:fillRect/>
          </a:stretch>
        </p:blipFill>
        <p:spPr>
          <a:xfrm>
            <a:off x="8475729" y="3987487"/>
            <a:ext cx="804569" cy="80456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Enjeux : Gagner en efficacité et réactivité en cas d’évènements climatiques vis-à-vis de nos clients Automatiser et simplifier le parcours client DAB Climatique pour améliorer la satisfaction client en lien avec l’expérience client sans dégrader l’activité courante et l’INR Améliorer et harmoniser l’organisation des process pour une meilleure maîtrise des.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SINISTRES ET PRESTATIONS, </a:t>
            </a:r>
            <a:r>
              <a:rPr sz="1000" b="0" i="1">
                <a:solidFill>
                  <a:srgbClr val="1A1A1A"/>
                </a:solidFill>
                <a:latin typeface="Verdana"/>
              </a:rPr>
              <a:t>CADRAGE PROJET CLIMATIQUE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 Consultant auprès de l'équipe Excellence Opérationnelle de CARMIGNAC, rattachée au COO/DSI. L'équipe est responsable de la coordination des initiatives d'Intelligence Artificielle.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COO / DSI / EXCELLENCE OPÉRATIONNELLE, </a:t>
            </a:r>
            <a:r>
              <a:rPr sz="1000" b="0" i="1">
                <a:solidFill>
                  <a:srgbClr val="1A1A1A"/>
                </a:solidFill>
                <a:latin typeface="Verdana"/>
              </a:rPr>
              <a:t>PMO / CONSULTANT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1. Implémentation d’un modèle de NLP : Un modèle de traitement du langage naturel (NLP) a été mis en place pour identifier et classifier automatiquement les avis négatifs. 2. 3. Cette automatisation permet de gagner en efficacité et en précision. 4. Outils utilisés : * Python : Pour le développement des modèles et l'analyse des données.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DATA MARKETING, </a:t>
            </a:r>
            <a:r>
              <a:rPr sz="11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Datascientist au sein de la Direction IA et Big Data d'ALLIANZ, dans le contexte du pôle BigData. La mission IA a consisté à développer un programme de classification des emails du périmètre indemnisation et vie.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IA ET BIG DATA, </a:t>
            </a:r>
            <a:r>
              <a:rPr sz="1100" b="0" i="1">
                <a:solidFill>
                  <a:srgbClr val="1A1A1A"/>
                </a:solidFill>
                <a:latin typeface="Verdana"/>
              </a:rPr>
              <a:t>DATASCIENTIST</a:t>
            </a:r>
          </a:p>
        </p:txBody>
      </p:sp>
      <p:sp>
        <p:nvSpPr>
          <p:cNvPr id="14" name="Title 13"/>
          <p:cNvSpPr>
            <a:spLocks noGrp="1"/>
          </p:cNvSpPr>
          <p:nvPr>
            <p:ph type="title"/>
          </p:nvPr>
        </p:nvSpPr>
        <p:spPr/>
        <p:txBody>
          <a:bodyPr/>
          <a:lstStyle/>
          <a:p>
            <a:r>
              <a:t>Références IA : Opérations (3/3)</a:t>
            </a:r>
          </a:p>
        </p:txBody>
      </p:sp>
      <p:pic>
        <p:nvPicPr>
          <p:cNvPr id="15" name="Picture 14" descr="groupama.png"/>
          <p:cNvPicPr>
            <a:picLocks noChangeAspect="1"/>
          </p:cNvPicPr>
          <p:nvPr/>
        </p:nvPicPr>
        <p:blipFill>
          <a:blip r:embed="rId2"/>
          <a:stretch>
            <a:fillRect/>
          </a:stretch>
        </p:blipFill>
        <p:spPr>
          <a:xfrm>
            <a:off x="1855624" y="1357040"/>
            <a:ext cx="2289652" cy="641409"/>
          </a:xfrm>
          <a:prstGeom prst="rect">
            <a:avLst/>
          </a:prstGeom>
        </p:spPr>
      </p:pic>
      <p:pic>
        <p:nvPicPr>
          <p:cNvPr id="16" name="Picture 15" descr="yves_rocher.png"/>
          <p:cNvPicPr>
            <a:picLocks noChangeAspect="1"/>
          </p:cNvPicPr>
          <p:nvPr/>
        </p:nvPicPr>
        <p:blipFill>
          <a:blip r:embed="rId3"/>
          <a:stretch>
            <a:fillRect/>
          </a:stretch>
        </p:blipFill>
        <p:spPr>
          <a:xfrm>
            <a:off x="7733188" y="1423339"/>
            <a:ext cx="2289652" cy="508811"/>
          </a:xfrm>
          <a:prstGeom prst="rect">
            <a:avLst/>
          </a:prstGeom>
        </p:spPr>
      </p:pic>
      <p:pic>
        <p:nvPicPr>
          <p:cNvPr id="17" name="Picture 16" descr="carmignac.png"/>
          <p:cNvPicPr>
            <a:picLocks noChangeAspect="1"/>
          </p:cNvPicPr>
          <p:nvPr/>
        </p:nvPicPr>
        <p:blipFill>
          <a:blip r:embed="rId4"/>
          <a:stretch>
            <a:fillRect/>
          </a:stretch>
        </p:blipFill>
        <p:spPr>
          <a:xfrm>
            <a:off x="1855624" y="4136956"/>
            <a:ext cx="2289652" cy="505631"/>
          </a:xfrm>
          <a:prstGeom prst="rect">
            <a:avLst/>
          </a:prstGeom>
        </p:spPr>
      </p:pic>
      <p:pic>
        <p:nvPicPr>
          <p:cNvPr id="18" name="Picture 17" descr="allianz.png"/>
          <p:cNvPicPr>
            <a:picLocks noChangeAspect="1"/>
          </p:cNvPicPr>
          <p:nvPr/>
        </p:nvPicPr>
        <p:blipFill>
          <a:blip r:embed="rId5"/>
          <a:stretch>
            <a:fillRect/>
          </a:stretch>
        </p:blipFill>
        <p:spPr>
          <a:xfrm>
            <a:off x="7733188" y="4104758"/>
            <a:ext cx="2289652" cy="57002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qu'Innovation Strategy pour CREDIT AGRICOLE (CAPFM) afin de structurer la dynamique de l'Intelligence Artificielle, placée au cœur de sa stratégie d'innovation via le programme transverse "AI Connect".</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CAPFM - HEAD OF INNOVATION &amp; CTO, </a:t>
            </a:r>
            <a:r>
              <a:rPr sz="1000" b="0" i="1">
                <a:solidFill>
                  <a:srgbClr val="1A1A1A"/>
                </a:solidFill>
                <a:latin typeface="Verdana"/>
              </a:rPr>
              <a:t>INNOVATION STRATEGY</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stratégique IA au sein de la Direction Juridique et Réglementaire de SOCIETE GENERALE. La mission visait à définir la vision et la feuille de route stratégique pour l’usage de l’Intelligence Artificielle (IA).</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JURIDIQUE ET RÉGLEMENTAIRE, </a:t>
            </a:r>
            <a:r>
              <a:rPr sz="1000" b="0" i="1">
                <a:solidFill>
                  <a:srgbClr val="1A1A1A"/>
                </a:solidFill>
                <a:latin typeface="Verdana"/>
              </a:rPr>
              <a:t>CHEF DE PROJET STRATÉGIQUE IA</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PMO au sein de la Direction Recherche &amp; Innovation de L'OREAL, dans le cadre du programme "Augmented Researchers" visant à intégrer le. La mission se concentre sur l'accompagnement d'initiatives digitales, dont la réinvention de la formulation de fonds de teint et capillaire via des modèles d'IA prédictif.</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RECHERCHE &amp; INNOVATION, </a:t>
            </a:r>
            <a:r>
              <a:rPr sz="1100" b="0" i="1">
                <a:solidFill>
                  <a:srgbClr val="1A1A1A"/>
                </a:solidFill>
                <a:latin typeface="Verdana"/>
              </a:rPr>
              <a:t>PMO</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qu'Innovation Management &amp; AI auprès de BALOISE ASSURANCES pour l'organisation d'un Hackathon IA transverse.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HEAD OF INNOVATION, </a:t>
            </a:r>
            <a:r>
              <a:rPr sz="1000" b="0" i="1">
                <a:solidFill>
                  <a:srgbClr val="1A1A1A"/>
                </a:solidFill>
                <a:latin typeface="Verdana"/>
              </a:rPr>
              <a:t>INNOVATION MANAGEMENT &amp; AI</a:t>
            </a:r>
          </a:p>
        </p:txBody>
      </p:sp>
      <p:sp>
        <p:nvSpPr>
          <p:cNvPr id="14" name="Title 13"/>
          <p:cNvSpPr>
            <a:spLocks noGrp="1"/>
          </p:cNvSpPr>
          <p:nvPr>
            <p:ph type="title"/>
          </p:nvPr>
        </p:nvSpPr>
        <p:spPr/>
        <p:txBody>
          <a:bodyPr/>
          <a:lstStyle/>
          <a:p>
            <a:r>
              <a:t>Références IA : Innovation métier (1/4)</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loreal.png"/>
          <p:cNvPicPr>
            <a:picLocks noChangeAspect="1"/>
          </p:cNvPicPr>
          <p:nvPr/>
        </p:nvPicPr>
        <p:blipFill>
          <a:blip r:embed="rId3"/>
          <a:stretch>
            <a:fillRect/>
          </a:stretch>
        </p:blipFill>
        <p:spPr>
          <a:xfrm>
            <a:off x="7733188" y="1470245"/>
            <a:ext cx="2289652" cy="414999"/>
          </a:xfrm>
          <a:prstGeom prst="rect">
            <a:avLst/>
          </a:prstGeom>
        </p:spPr>
      </p:pic>
      <p:pic>
        <p:nvPicPr>
          <p:cNvPr id="17" name="Picture 16" descr="societe_generale.png"/>
          <p:cNvPicPr>
            <a:picLocks noChangeAspect="1"/>
          </p:cNvPicPr>
          <p:nvPr/>
        </p:nvPicPr>
        <p:blipFill>
          <a:blip r:embed="rId4"/>
          <a:stretch>
            <a:fillRect/>
          </a:stretch>
        </p:blipFill>
        <p:spPr>
          <a:xfrm>
            <a:off x="1855624" y="4128608"/>
            <a:ext cx="2289652" cy="522326"/>
          </a:xfrm>
          <a:prstGeom prst="rect">
            <a:avLst/>
          </a:prstGeom>
        </p:spPr>
      </p:pic>
      <p:pic>
        <p:nvPicPr>
          <p:cNvPr id="18" name="Picture 17" descr="baloise.png"/>
          <p:cNvPicPr>
            <a:picLocks noChangeAspect="1"/>
          </p:cNvPicPr>
          <p:nvPr/>
        </p:nvPicPr>
        <p:blipFill>
          <a:blip r:embed="rId5"/>
          <a:stretch>
            <a:fillRect/>
          </a:stretch>
        </p:blipFill>
        <p:spPr>
          <a:xfrm>
            <a:off x="7733188" y="4065486"/>
            <a:ext cx="2289652" cy="64857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Stratégie Digitale et IA générative au sein de la Recherche &amp; Innovation de L'ORÉAL, qui mène une transformation digitale via le programme "Augmented Researcher" pour renforcer l'innovation. Enfin, la mission a couvert le pilotage du portefeuille d'initiatives de transformation digitale (Stream E-formulation).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RECHERCHE &amp; INNOVATION, </a:t>
            </a:r>
            <a:r>
              <a:rPr sz="1000" b="0" i="1">
                <a:solidFill>
                  <a:srgbClr val="1A1A1A"/>
                </a:solidFill>
                <a:latin typeface="Verdana"/>
              </a:rPr>
              <a:t>STRATÉGIE DIGITALE ET IA GÉNÉRATIVE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Consultante auprès de MOET. Le rôle a consisté à mener un benchmark terrain et à proposer des recommandations stratégiques concrètes, incluant une vision prospective intégrant les technologies de pointe, notamment l'Intelligence Artificielle (IA).</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MH, </a:t>
            </a:r>
            <a:r>
              <a:rPr sz="1100" b="0" i="1">
                <a:solidFill>
                  <a:srgbClr val="1A1A1A"/>
                </a:solidFill>
                <a:latin typeface="Verdana"/>
              </a:rPr>
              <a:t>CONSULTANTE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auprès de LVMH (Expérience client) pour une étude. L'étude a intégré l'IA dans la partie prospective, en proposant des scénarios futurs pour le parcours client omnicanal et phygital, notamment l'intégration de nouvelles technologies comme l'IA pour enrichir l'expérience client.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EXPÉRIENCE CLIENT, </a:t>
            </a:r>
            <a:r>
              <a:rPr sz="1100" b="0" i="1">
                <a:solidFill>
                  <a:srgbClr val="1A1A1A"/>
                </a:solidFill>
                <a:latin typeface="Verdana"/>
              </a:rPr>
              <a:t>CHEF DE PROJET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Consultant auprès de MOET HENNESSY pour réaliser une. L'objectif était de proposer des scénarios d'évolution et d'identifier les opportunités stratégiques, notamment l'intégration de l'IA pour la transformation des expériences client.</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CONSULTANT</a:t>
            </a:r>
          </a:p>
        </p:txBody>
      </p:sp>
      <p:sp>
        <p:nvSpPr>
          <p:cNvPr id="14" name="Title 13"/>
          <p:cNvSpPr>
            <a:spLocks noGrp="1"/>
          </p:cNvSpPr>
          <p:nvPr>
            <p:ph type="title"/>
          </p:nvPr>
        </p:nvSpPr>
        <p:spPr/>
        <p:txBody>
          <a:bodyPr/>
          <a:lstStyle/>
          <a:p>
            <a:r>
              <a:t>Références IA : Innovation métier (2/4)</a:t>
            </a:r>
          </a:p>
        </p:txBody>
      </p:sp>
      <p:pic>
        <p:nvPicPr>
          <p:cNvPr id="15" name="Picture 14" descr="loreal.png"/>
          <p:cNvPicPr>
            <a:picLocks noChangeAspect="1"/>
          </p:cNvPicPr>
          <p:nvPr/>
        </p:nvPicPr>
        <p:blipFill>
          <a:blip r:embed="rId2"/>
          <a:stretch>
            <a:fillRect/>
          </a:stretch>
        </p:blipFill>
        <p:spPr>
          <a:xfrm>
            <a:off x="1855624" y="1470245"/>
            <a:ext cx="2289652" cy="414999"/>
          </a:xfrm>
          <a:prstGeom prst="rect">
            <a:avLst/>
          </a:prstGeom>
        </p:spPr>
      </p:pic>
      <p:pic>
        <p:nvPicPr>
          <p:cNvPr id="16" name="Picture 15" descr="lvmh.png"/>
          <p:cNvPicPr>
            <a:picLocks noChangeAspect="1"/>
          </p:cNvPicPr>
          <p:nvPr/>
        </p:nvPicPr>
        <p:blipFill>
          <a:blip r:embed="rId3"/>
          <a:stretch>
            <a:fillRect/>
          </a:stretch>
        </p:blipFill>
        <p:spPr>
          <a:xfrm>
            <a:off x="7733188" y="1342644"/>
            <a:ext cx="2289652" cy="670200"/>
          </a:xfrm>
          <a:prstGeom prst="rect">
            <a:avLst/>
          </a:prstGeom>
        </p:spPr>
      </p:pic>
      <p:pic>
        <p:nvPicPr>
          <p:cNvPr id="17" name="Picture 16" descr="moet_hennessy.png"/>
          <p:cNvPicPr>
            <a:picLocks noChangeAspect="1"/>
          </p:cNvPicPr>
          <p:nvPr/>
        </p:nvPicPr>
        <p:blipFill>
          <a:blip r:embed="rId4"/>
          <a:stretch>
            <a:fillRect/>
          </a:stretch>
        </p:blipFill>
        <p:spPr>
          <a:xfrm>
            <a:off x="1855624" y="4197814"/>
            <a:ext cx="2289652" cy="383915"/>
          </a:xfrm>
          <a:prstGeom prst="rect">
            <a:avLst/>
          </a:prstGeom>
        </p:spPr>
      </p:pic>
      <p:pic>
        <p:nvPicPr>
          <p:cNvPr id="18" name="Picture 17" descr="moet_hennessy.png"/>
          <p:cNvPicPr>
            <a:picLocks noChangeAspect="1"/>
          </p:cNvPicPr>
          <p:nvPr/>
        </p:nvPicPr>
        <p:blipFill>
          <a:blip r:embed="rId4"/>
          <a:stretch>
            <a:fillRect/>
          </a:stretch>
        </p:blipFill>
        <p:spPr>
          <a:xfrm>
            <a:off x="7733188" y="4197814"/>
            <a:ext cx="2289652" cy="38391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qu'Expert en Gestion de l'Innovation auprès de BNPP (DITA / BCEF) pour une exploration stratégique de l'IA générative. La mission, structurée en trois sprints, visait à évaluer l'intégration optimale de cette technologie (notamment Chat GPT) au sein des différents métiers.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DITA / BCEF, </a:t>
            </a:r>
            <a:r>
              <a:rPr sz="1000" b="0" i="1">
                <a:solidFill>
                  <a:srgbClr val="1A1A1A"/>
                </a:solidFill>
                <a:latin typeface="Verdana"/>
              </a:rPr>
              <a:t>EXPERT EN GESTION DE L’INNOVATION</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PMO/Program Manager au sein de la Recherche et Innovation de L'ORÉAL, pour accompagner la transformation digitale via le pilier "Augmented Researcher". La mission a soutenu des initiatives stratégiques axées sur l'Intelligence Artificielle.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RECHERCHE ET INNOVATION, </a:t>
            </a:r>
            <a:r>
              <a:rPr sz="1100" b="0" i="1">
                <a:solidFill>
                  <a:srgbClr val="1A1A1A"/>
                </a:solidFill>
                <a:latin typeface="Verdana"/>
              </a:rPr>
              <a:t>PMO/ PROGRAM MANAGER</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Team Lead/PMO/Program Manager auprès de la Direction Recherche &amp; Innovation de L'OREAL, dans le cadre de la transformation digitale via le. Cela incluait l'accélération des processus de formulation (e.g., Fast Color) grâce à l'intégration de modèles d'Intelligence Artificielle prédictifs.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RECHERCHE &amp; INNOVATION, </a:t>
            </a:r>
            <a:r>
              <a:rPr sz="1000" b="0" i="1">
                <a:solidFill>
                  <a:srgbClr val="1A1A1A"/>
                </a:solidFill>
                <a:latin typeface="Verdana"/>
              </a:rPr>
              <a:t>TEAM LEAD/ PMO/ PROGRAM MANAGER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Chargé de développement et de clientèle pour Bloomfield Robotics, une start-up américaine spécialisée en Intelligence Artificielle (IA) appliquée à la viticulture. Le contexte était l'expansion internationale de l'entreprise et son implantation en France.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COMMERCIALE, </a:t>
            </a:r>
            <a:r>
              <a:rPr sz="1000" b="0" i="1">
                <a:solidFill>
                  <a:srgbClr val="1A1A1A"/>
                </a:solidFill>
                <a:latin typeface="Verdana"/>
              </a:rPr>
              <a:t>CHARGÉ DE DÉVELOPPEMENT</a:t>
            </a:r>
          </a:p>
        </p:txBody>
      </p:sp>
      <p:sp>
        <p:nvSpPr>
          <p:cNvPr id="14" name="Title 13"/>
          <p:cNvSpPr>
            <a:spLocks noGrp="1"/>
          </p:cNvSpPr>
          <p:nvPr>
            <p:ph type="title"/>
          </p:nvPr>
        </p:nvSpPr>
        <p:spPr/>
        <p:txBody>
          <a:bodyPr/>
          <a:lstStyle/>
          <a:p>
            <a:r>
              <a:t>Références IA : Innovation métier (3/4)</a:t>
            </a:r>
          </a:p>
        </p:txBody>
      </p:sp>
      <p:pic>
        <p:nvPicPr>
          <p:cNvPr id="15" name="Picture 14" descr="bnp_paribas.png"/>
          <p:cNvPicPr>
            <a:picLocks noChangeAspect="1"/>
          </p:cNvPicPr>
          <p:nvPr/>
        </p:nvPicPr>
        <p:blipFill>
          <a:blip r:embed="rId2"/>
          <a:stretch>
            <a:fillRect/>
          </a:stretch>
        </p:blipFill>
        <p:spPr>
          <a:xfrm>
            <a:off x="1855624" y="1432425"/>
            <a:ext cx="2289652" cy="490639"/>
          </a:xfrm>
          <a:prstGeom prst="rect">
            <a:avLst/>
          </a:prstGeom>
        </p:spPr>
      </p:pic>
      <p:pic>
        <p:nvPicPr>
          <p:cNvPr id="16" name="Picture 15" descr="loreal.png"/>
          <p:cNvPicPr>
            <a:picLocks noChangeAspect="1"/>
          </p:cNvPicPr>
          <p:nvPr/>
        </p:nvPicPr>
        <p:blipFill>
          <a:blip r:embed="rId3"/>
          <a:stretch>
            <a:fillRect/>
          </a:stretch>
        </p:blipFill>
        <p:spPr>
          <a:xfrm>
            <a:off x="7733188" y="1470245"/>
            <a:ext cx="2289652" cy="414999"/>
          </a:xfrm>
          <a:prstGeom prst="rect">
            <a:avLst/>
          </a:prstGeom>
        </p:spPr>
      </p:pic>
      <p:pic>
        <p:nvPicPr>
          <p:cNvPr id="17" name="Picture 16" descr="loreal.png"/>
          <p:cNvPicPr>
            <a:picLocks noChangeAspect="1"/>
          </p:cNvPicPr>
          <p:nvPr/>
        </p:nvPicPr>
        <p:blipFill>
          <a:blip r:embed="rId3"/>
          <a:stretch>
            <a:fillRect/>
          </a:stretch>
        </p:blipFill>
        <p:spPr>
          <a:xfrm>
            <a:off x="1855624" y="4182272"/>
            <a:ext cx="2289652" cy="414999"/>
          </a:xfrm>
          <a:prstGeom prst="rect">
            <a:avLst/>
          </a:prstGeom>
        </p:spPr>
      </p:pic>
      <p:pic>
        <p:nvPicPr>
          <p:cNvPr id="18" name="Picture 17" descr="bloomfield_robotic.png"/>
          <p:cNvPicPr>
            <a:picLocks noChangeAspect="1"/>
          </p:cNvPicPr>
          <p:nvPr/>
        </p:nvPicPr>
        <p:blipFill>
          <a:blip r:embed="rId4"/>
          <a:stretch>
            <a:fillRect/>
          </a:stretch>
        </p:blipFill>
        <p:spPr>
          <a:xfrm>
            <a:off x="7733188" y="4125964"/>
            <a:ext cx="2289652" cy="52761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au sein de la Supply Chain de Chicago Pneumatic, dans le but d'améliorer le processus de prévision de la demande. La mission était axée sur le développement d'algorithmes d'Intelligence Artificielle utilisant des données exogènes pour prédire la quantité à livrer.</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SUPPLY CHAIN, </a:t>
            </a:r>
            <a:r>
              <a:rPr sz="1100" b="0" i="1">
                <a:solidFill>
                  <a:srgbClr val="1A1A1A"/>
                </a:solidFill>
                <a:latin typeface="Verdana"/>
              </a:rPr>
              <a:t>CHEF DE PROJET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chez Capgemini Engineering, au sein de la. La mission portait sur un projet de R&amp;D visant à optimiser et fiabiliser le flux d'information d'une chaîne d'approvisionnement digitalisée (DSC), en utilisant l'IoT, l'IA et la Blockchain.</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RECHERCHE ET INNOVATION, </a:t>
            </a:r>
            <a:r>
              <a:rPr sz="1100" b="0" i="1">
                <a:solidFill>
                  <a:srgbClr val="1A1A1A"/>
                </a:solidFill>
                <a:latin typeface="Verdana"/>
              </a:rPr>
              <a:t>CHEF DE PROJET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Manager de l'innovation au sein du Département Innovation d'Arquus, qui cherchait à développer des projets d'innovation collaboratifs pour faire face à la concurrence. Le rôle a consisté, entre autres, à être MOA sur la phase d’avant-projet du projet "Mobilité IA".</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DÉPARTEMENT INNOVATION, </a:t>
            </a:r>
            <a:r>
              <a:rPr sz="1000" b="0" i="1">
                <a:solidFill>
                  <a:srgbClr val="1A1A1A"/>
                </a:solidFill>
                <a:latin typeface="Verdana"/>
              </a:rPr>
              <a:t>MANAGER DE L'INNOVATION</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projet au sein du pôle Digital Open Innovation - New Services Design de CONFIDENTIEL - SECTEUR LUXE. Cela a permis la création d'un nouveau service "Retail / Expérience client" utilisant l'IA.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INNOVATION / R&amp;D, </a:t>
            </a:r>
            <a:r>
              <a:rPr sz="1100" b="0" i="1">
                <a:solidFill>
                  <a:srgbClr val="1A1A1A"/>
                </a:solidFill>
                <a:latin typeface="Verdana"/>
              </a:rPr>
              <a:t>CHEF DE PROJET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CONFIDENTIEL - SECTEUR LUXE</a:t>
            </a:r>
          </a:p>
        </p:txBody>
      </p:sp>
      <p:sp>
        <p:nvSpPr>
          <p:cNvPr id="14" name="Title 13"/>
          <p:cNvSpPr>
            <a:spLocks noGrp="1"/>
          </p:cNvSpPr>
          <p:nvPr>
            <p:ph type="title"/>
          </p:nvPr>
        </p:nvSpPr>
        <p:spPr/>
        <p:txBody>
          <a:bodyPr/>
          <a:lstStyle/>
          <a:p>
            <a:r>
              <a:t>Références IA : Innovation métier (4/4)</a:t>
            </a:r>
          </a:p>
        </p:txBody>
      </p:sp>
      <p:pic>
        <p:nvPicPr>
          <p:cNvPr id="15" name="Picture 14" descr="chicago_pneumatic.png"/>
          <p:cNvPicPr>
            <a:picLocks noChangeAspect="1"/>
          </p:cNvPicPr>
          <p:nvPr/>
        </p:nvPicPr>
        <p:blipFill>
          <a:blip r:embed="rId2"/>
          <a:stretch>
            <a:fillRect/>
          </a:stretch>
        </p:blipFill>
        <p:spPr>
          <a:xfrm>
            <a:off x="1855624" y="1325490"/>
            <a:ext cx="2289652" cy="704508"/>
          </a:xfrm>
          <a:prstGeom prst="rect">
            <a:avLst/>
          </a:prstGeom>
        </p:spPr>
      </p:pic>
      <p:pic>
        <p:nvPicPr>
          <p:cNvPr id="16" name="Picture 15" descr="arquus.png"/>
          <p:cNvPicPr>
            <a:picLocks noChangeAspect="1"/>
          </p:cNvPicPr>
          <p:nvPr/>
        </p:nvPicPr>
        <p:blipFill>
          <a:blip r:embed="rId3"/>
          <a:stretch>
            <a:fillRect/>
          </a:stretch>
        </p:blipFill>
        <p:spPr>
          <a:xfrm>
            <a:off x="8462753" y="1275460"/>
            <a:ext cx="830522" cy="804569"/>
          </a:xfrm>
          <a:prstGeom prst="rect">
            <a:avLst/>
          </a:prstGeom>
        </p:spPr>
      </p:pic>
      <p:pic>
        <p:nvPicPr>
          <p:cNvPr id="17" name="Picture 16" descr="capgemini.png"/>
          <p:cNvPicPr>
            <a:picLocks noChangeAspect="1"/>
          </p:cNvPicPr>
          <p:nvPr/>
        </p:nvPicPr>
        <p:blipFill>
          <a:blip r:embed="rId4"/>
          <a:stretch>
            <a:fillRect/>
          </a:stretch>
        </p:blipFill>
        <p:spPr>
          <a:xfrm>
            <a:off x="1855624" y="4121453"/>
            <a:ext cx="2289652" cy="53663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PMO / Chef de projet transverse au sein de la Direction DATA &amp; IA de BPCE, afin de créer un cadre de pilotage et d'assurer le suivi opérationnel des sujets transverses de la Direction Data &amp; IA. Le rôle a consisté à piloter le budget, le suivi des projets et des KPIs de la Direction Data &amp; IA.</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DATA &amp; IA, </a:t>
            </a:r>
            <a:r>
              <a:rPr sz="1100" b="0" i="1">
                <a:solidFill>
                  <a:srgbClr val="1A1A1A"/>
                </a:solidFill>
                <a:latin typeface="Verdana"/>
              </a:rPr>
              <a:t>PMO / CHEF DE PROJET TRANSVERSE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Directeur de projet chez NATIXIS CIB pour le cadrage du Target Operating Model (TOM) Data Management au sein du COO. La gestion de la donnée est vue comme un levier majeur pour l'optimisation des processus et doit intégrer les évolutions technologiques.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COO NATIXIS CIB, </a:t>
            </a:r>
            <a:r>
              <a:rPr sz="1100" b="0" i="1">
                <a:solidFill>
                  <a:srgbClr val="1A1A1A"/>
                </a:solidFill>
                <a:latin typeface="Verdana"/>
              </a:rPr>
              <a:t>DIRECTEUR DE PROJET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En tant que Data Scientist, j’ai contribué à la conception et au développement d’un système d’IA Générative basé sur une architecture RAG avancée.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RISQUE GROUPE - PILMOD, </a:t>
            </a:r>
            <a:r>
              <a:rPr sz="1100" b="0" i="1">
                <a:solidFill>
                  <a:srgbClr val="1A1A1A"/>
                </a:solidFill>
                <a:latin typeface="Verdana"/>
              </a:rPr>
              <a:t>DÉVELOPPEUR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 Audit et diagnostic de la donnée : identification des freins à l'entraînement des modèles (dispersion des sources, hétérogénéité des formats et défaut de traçabilité).</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TECHNIQUE, </a:t>
            </a:r>
            <a:r>
              <a:rPr sz="1000" b="0" i="1">
                <a:solidFill>
                  <a:srgbClr val="1A1A1A"/>
                </a:solidFill>
                <a:latin typeface="Verdana"/>
              </a:rPr>
              <a:t>CONSULTANT DATA ET TRANSFORMATION IA</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Pluralisme</a:t>
            </a:r>
          </a:p>
        </p:txBody>
      </p:sp>
      <p:sp>
        <p:nvSpPr>
          <p:cNvPr id="14" name="Title 13"/>
          <p:cNvSpPr>
            <a:spLocks noGrp="1"/>
          </p:cNvSpPr>
          <p:nvPr>
            <p:ph type="title"/>
          </p:nvPr>
        </p:nvSpPr>
        <p:spPr/>
        <p:txBody>
          <a:bodyPr/>
          <a:lstStyle/>
          <a:p>
            <a:r>
              <a:t>Références IA : Stratégie IT (1/16)</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bpce.png"/>
          <p:cNvPicPr>
            <a:picLocks noChangeAspect="1"/>
          </p:cNvPicPr>
          <p:nvPr/>
        </p:nvPicPr>
        <p:blipFill>
          <a:blip r:embed="rId2"/>
          <a:stretch>
            <a:fillRect/>
          </a:stretch>
        </p:blipFill>
        <p:spPr>
          <a:xfrm>
            <a:off x="7778702" y="1275460"/>
            <a:ext cx="2198624" cy="804569"/>
          </a:xfrm>
          <a:prstGeom prst="rect">
            <a:avLst/>
          </a:prstGeom>
        </p:spPr>
      </p:pic>
      <p:pic>
        <p:nvPicPr>
          <p:cNvPr id="17" name="Picture 16" descr="natixis.png"/>
          <p:cNvPicPr>
            <a:picLocks noChangeAspect="1"/>
          </p:cNvPicPr>
          <p:nvPr/>
        </p:nvPicPr>
        <p:blipFill>
          <a:blip r:embed="rId3"/>
          <a:stretch>
            <a:fillRect/>
          </a:stretch>
        </p:blipFill>
        <p:spPr>
          <a:xfrm>
            <a:off x="1855624" y="4088301"/>
            <a:ext cx="2289652" cy="60294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auprès de BNP PARIBAS (Direction de l'Engagement) sur le projet "ESG AI Advisory". Le contexte est le renforcement de l’accompagnement des Relationship Managers PME et ETI sur les enjeux ESG, via le développement d’une solution d'intelligence artificielle pour générer des pitches personnalisés.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DIRECTION DE L'ENGAGEMENT, </a:t>
            </a:r>
            <a:r>
              <a:rPr sz="1100" b="0" i="1">
                <a:solidFill>
                  <a:srgbClr val="1A1A1A"/>
                </a:solidFill>
                <a:latin typeface="Verdana"/>
              </a:rPr>
              <a:t>CHEF DE PROJET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Model Advisor chez CREDIT AGRICOLE CIB, au sein de Global Markets Regulatory Compliance. La mission s'inscrivait dans le contexte de l'amélioration du cycle de vie des modèles de détection d'abus de marché pour préserver l'intégrité des marchés financiers.</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GLOBAL MARKETS REGULATORY COMPLIANCE, </a:t>
            </a:r>
            <a:r>
              <a:rPr sz="1000" b="0" i="1">
                <a:solidFill>
                  <a:srgbClr val="1A1A1A"/>
                </a:solidFill>
                <a:latin typeface="Verdana"/>
              </a:rPr>
              <a:t>MODEL ADVISOR</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qu'Expert IA Générative au sein de la Direction Digital &amp; payments de BPCE SA, dans le contexte de développement de solutions d’IA générative pour les collaborateurs et les clients. Le rôle a consisté à orienter les choix technologiques et algorithmiques pour garantir l'efficacité des solutions.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DIGITAL &amp; PAYMENTS, </a:t>
            </a:r>
            <a:r>
              <a:rPr sz="1000" b="0" i="1">
                <a:solidFill>
                  <a:srgbClr val="1A1A1A"/>
                </a:solidFill>
                <a:latin typeface="Verdana"/>
              </a:rPr>
              <a:t>EXPERT IA GENERATIVE</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Cadrage du projet : Le sujet impliquait de prédire. * Random Forest, CatBoost, XGBoost Regression * Métriques : RMSE, RME, Signe de la matrice de confusion Logiciel utilisé : Python Livrables : * Codes exécutables * Sortie d’un fichier Excel contenant les prédictions à soumettre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CRÉDIT, </a:t>
            </a:r>
            <a:r>
              <a:rPr sz="1100" b="0" i="1">
                <a:solidFill>
                  <a:srgbClr val="1A1A1A"/>
                </a:solidFill>
                <a:latin typeface="Verdana"/>
              </a:rPr>
              <a:t>DATA SCIENTIST</a:t>
            </a:r>
          </a:p>
        </p:txBody>
      </p:sp>
      <p:sp>
        <p:nvSpPr>
          <p:cNvPr id="14" name="Title 13"/>
          <p:cNvSpPr>
            <a:spLocks noGrp="1"/>
          </p:cNvSpPr>
          <p:nvPr>
            <p:ph type="title"/>
          </p:nvPr>
        </p:nvSpPr>
        <p:spPr/>
        <p:txBody>
          <a:bodyPr/>
          <a:lstStyle/>
          <a:p>
            <a:r>
              <a:t>Références IA : Stratégie IT (2/16)</a:t>
            </a:r>
          </a:p>
        </p:txBody>
      </p:sp>
      <p:pic>
        <p:nvPicPr>
          <p:cNvPr id="15" name="Picture 14" descr="bnp_paribas.png"/>
          <p:cNvPicPr>
            <a:picLocks noChangeAspect="1"/>
          </p:cNvPicPr>
          <p:nvPr/>
        </p:nvPicPr>
        <p:blipFill>
          <a:blip r:embed="rId2"/>
          <a:stretch>
            <a:fillRect/>
          </a:stretch>
        </p:blipFill>
        <p:spPr>
          <a:xfrm>
            <a:off x="1855624" y="1432425"/>
            <a:ext cx="2289652" cy="490639"/>
          </a:xfrm>
          <a:prstGeom prst="rect">
            <a:avLst/>
          </a:prstGeom>
        </p:spPr>
      </p:pic>
      <p:pic>
        <p:nvPicPr>
          <p:cNvPr id="16" name="Picture 15" descr="bpce.png"/>
          <p:cNvPicPr>
            <a:picLocks noChangeAspect="1"/>
          </p:cNvPicPr>
          <p:nvPr/>
        </p:nvPicPr>
        <p:blipFill>
          <a:blip r:embed="rId3"/>
          <a:stretch>
            <a:fillRect/>
          </a:stretch>
        </p:blipFill>
        <p:spPr>
          <a:xfrm>
            <a:off x="7778702" y="1275460"/>
            <a:ext cx="2198624" cy="804569"/>
          </a:xfrm>
          <a:prstGeom prst="rect">
            <a:avLst/>
          </a:prstGeom>
        </p:spPr>
      </p:pic>
      <p:pic>
        <p:nvPicPr>
          <p:cNvPr id="17" name="Picture 16" descr="credit_agricole.png"/>
          <p:cNvPicPr>
            <a:picLocks noChangeAspect="1"/>
          </p:cNvPicPr>
          <p:nvPr/>
        </p:nvPicPr>
        <p:blipFill>
          <a:blip r:embed="rId4"/>
          <a:stretch>
            <a:fillRect/>
          </a:stretch>
        </p:blipFill>
        <p:spPr>
          <a:xfrm>
            <a:off x="2422590" y="3987487"/>
            <a:ext cx="1155720" cy="804569"/>
          </a:xfrm>
          <a:prstGeom prst="rect">
            <a:avLst/>
          </a:prstGeom>
        </p:spPr>
      </p:pic>
      <p:pic>
        <p:nvPicPr>
          <p:cNvPr id="18" name="Picture 17" descr="credit_agricole.png"/>
          <p:cNvPicPr>
            <a:picLocks noChangeAspect="1"/>
          </p:cNvPicPr>
          <p:nvPr/>
        </p:nvPicPr>
        <p:blipFill>
          <a:blip r:embed="rId4"/>
          <a:stretch>
            <a:fillRect/>
          </a:stretch>
        </p:blipFill>
        <p:spPr>
          <a:xfrm>
            <a:off x="8300154" y="3987487"/>
            <a:ext cx="1155720" cy="80456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Data Steward au sein de la Direction Fonction Commerciale de la FDJ, dans un contexte de professionnalisation de la gouvernance de données et d'accélération des cas d'usage data science et IA. La mission vise notamment à garantir une base de données fiable pour les projets d'IA et Data Science.</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DIRECTION FONCTION COMMERCIAL, </a:t>
            </a:r>
            <a:r>
              <a:rPr sz="1100" b="0" i="1">
                <a:solidFill>
                  <a:srgbClr val="1A1A1A"/>
                </a:solidFill>
                <a:latin typeface="Verdana"/>
              </a:rPr>
              <a:t>DATA STEWARD</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Construction de la base d'apprentissage pour les deux scores : - Un score d'efficacité du recouvrement de l'impayé par le client à 30 jours. Développement de deux modèles de machine learning liés à ces deux scores. Environnement technique : - PySpark - Databricks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DATA &amp; SCORE, </a:t>
            </a:r>
            <a:r>
              <a:rPr sz="11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Data Steward au sein de la Direction Fonction Commerciale de la FDJ. Le contexte est celui de la professionnalisation de la FDJ sur la gouvernance des données, notamment via une direction data et IA, et l'accélération de la livraison de cas d’usage data science et IA.</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FONCTION COMMERCIAL, </a:t>
            </a:r>
            <a:r>
              <a:rPr sz="1100" b="0" i="1">
                <a:solidFill>
                  <a:srgbClr val="1A1A1A"/>
                </a:solidFill>
                <a:latin typeface="Verdana"/>
              </a:rPr>
              <a:t>DATA STEWARD</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qu'International CRM project Manager au sein de l'équipe Data &amp; AI de PARFUMS CHRISTIAN DIOR. Le contexte de la mission est de définir une stratégie d'activation client "data-driven" forte et immersive en s'appuyant sur les données et l'IA.</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EQUIPE DATA &amp; AI, </a:t>
            </a:r>
            <a:r>
              <a:rPr sz="1000" b="0" i="1">
                <a:solidFill>
                  <a:srgbClr val="1A1A1A"/>
                </a:solidFill>
                <a:latin typeface="Verdana"/>
              </a:rPr>
              <a:t>INTERNATIONAL CRM PROJECT MANAGER</a:t>
            </a:r>
          </a:p>
        </p:txBody>
      </p:sp>
      <p:sp>
        <p:nvSpPr>
          <p:cNvPr id="14" name="Title 13"/>
          <p:cNvSpPr>
            <a:spLocks noGrp="1"/>
          </p:cNvSpPr>
          <p:nvPr>
            <p:ph type="title"/>
          </p:nvPr>
        </p:nvSpPr>
        <p:spPr/>
        <p:txBody>
          <a:bodyPr/>
          <a:lstStyle/>
          <a:p>
            <a:r>
              <a:t>Références IA : Stratégie IT (3/16)</a:t>
            </a:r>
          </a:p>
        </p:txBody>
      </p:sp>
      <p:pic>
        <p:nvPicPr>
          <p:cNvPr id="15" name="Picture 14" descr="fdj.png"/>
          <p:cNvPicPr>
            <a:picLocks noChangeAspect="1"/>
          </p:cNvPicPr>
          <p:nvPr/>
        </p:nvPicPr>
        <p:blipFill>
          <a:blip r:embed="rId2"/>
          <a:stretch>
            <a:fillRect/>
          </a:stretch>
        </p:blipFill>
        <p:spPr>
          <a:xfrm>
            <a:off x="1861237" y="1275460"/>
            <a:ext cx="2278425" cy="804569"/>
          </a:xfrm>
          <a:prstGeom prst="rect">
            <a:avLst/>
          </a:prstGeom>
        </p:spPr>
      </p:pic>
      <p:pic>
        <p:nvPicPr>
          <p:cNvPr id="16" name="Picture 15" descr="fdj.png"/>
          <p:cNvPicPr>
            <a:picLocks noChangeAspect="1"/>
          </p:cNvPicPr>
          <p:nvPr/>
        </p:nvPicPr>
        <p:blipFill>
          <a:blip r:embed="rId2"/>
          <a:stretch>
            <a:fillRect/>
          </a:stretch>
        </p:blipFill>
        <p:spPr>
          <a:xfrm>
            <a:off x="7738801" y="1275460"/>
            <a:ext cx="2278425" cy="804569"/>
          </a:xfrm>
          <a:prstGeom prst="rect">
            <a:avLst/>
          </a:prstGeom>
        </p:spPr>
      </p:pic>
      <p:pic>
        <p:nvPicPr>
          <p:cNvPr id="17" name="Picture 16" descr="oney_bank.png"/>
          <p:cNvPicPr>
            <a:picLocks noChangeAspect="1"/>
          </p:cNvPicPr>
          <p:nvPr/>
        </p:nvPicPr>
        <p:blipFill>
          <a:blip r:embed="rId3"/>
          <a:stretch>
            <a:fillRect/>
          </a:stretch>
        </p:blipFill>
        <p:spPr>
          <a:xfrm>
            <a:off x="1855624" y="4021281"/>
            <a:ext cx="2289652" cy="736981"/>
          </a:xfrm>
          <a:prstGeom prst="rect">
            <a:avLst/>
          </a:prstGeom>
        </p:spPr>
      </p:pic>
      <p:pic>
        <p:nvPicPr>
          <p:cNvPr id="18" name="Picture 17" descr="dior.png"/>
          <p:cNvPicPr>
            <a:picLocks noChangeAspect="1"/>
          </p:cNvPicPr>
          <p:nvPr/>
        </p:nvPicPr>
        <p:blipFill>
          <a:blip r:embed="rId4"/>
          <a:stretch>
            <a:fillRect/>
          </a:stretch>
        </p:blipFill>
        <p:spPr>
          <a:xfrm>
            <a:off x="7890588" y="3987487"/>
            <a:ext cx="1974851" cy="80456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PORTFOLIO MANAGER FRANCE chez SCALE AI, une infrastructure critique pour l'Intelligence Artificielle Générative. Le contexte de la mission était l'hypercroissance et l'amélioration de la qualité linguistique pour un modèle d'IA générative, visant la précision et la conformité aux standards européens.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PORTFOLIO MANAGER FRANCE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Directeur de transformation au sein de la DSI de TDF, dans le cadre de la reprise de la direction de la transformation digitale. La mission comprenait notamment l'implémentation de solutions d'IA sur mesure visant à optimiser les processus métiers.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DIRECTEUR DE TRANSFORMATION</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Data scientist au sein du pôle d’architecture technique de la DSI de SOCIETE GENERALE, pour développer des solutions. Le rôle a impliqué la conception et le développement de solutions d’Intelligence Artificielle basées principalement sur les LLMs (Large Language Models), en collaboration avec les métiers.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1. Développement d'un système RAG : * Conception d'un système optimisé utilisant Langchain et Faiss. 2. Finetuning de modèles IA : * Recherche sur les méthodes de finetuning: Exploration des techniques manuelles et automatisées de finetuning sur Vertex AI. 3. 4.</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MERCHANT SERVICES - ARCHITECTES, </a:t>
            </a:r>
            <a:r>
              <a:rPr sz="1000" b="0" i="1">
                <a:solidFill>
                  <a:srgbClr val="1A1A1A"/>
                </a:solidFill>
                <a:latin typeface="Verdana"/>
              </a:rPr>
              <a:t>PRODUCT AI PROMPT ENGINEER</a:t>
            </a:r>
          </a:p>
        </p:txBody>
      </p:sp>
      <p:sp>
        <p:nvSpPr>
          <p:cNvPr id="14" name="Title 13"/>
          <p:cNvSpPr>
            <a:spLocks noGrp="1"/>
          </p:cNvSpPr>
          <p:nvPr>
            <p:ph type="title"/>
          </p:nvPr>
        </p:nvSpPr>
        <p:spPr/>
        <p:txBody>
          <a:bodyPr/>
          <a:lstStyle/>
          <a:p>
            <a:r>
              <a:t>Références IA : Stratégie IT (4/16)</a:t>
            </a:r>
          </a:p>
        </p:txBody>
      </p:sp>
      <p:pic>
        <p:nvPicPr>
          <p:cNvPr id="15" name="Picture 14" descr="scale_ai.png"/>
          <p:cNvPicPr>
            <a:picLocks noChangeAspect="1"/>
          </p:cNvPicPr>
          <p:nvPr/>
        </p:nvPicPr>
        <p:blipFill>
          <a:blip r:embed="rId2"/>
          <a:stretch>
            <a:fillRect/>
          </a:stretch>
        </p:blipFill>
        <p:spPr>
          <a:xfrm>
            <a:off x="1855624" y="1309254"/>
            <a:ext cx="2289652" cy="736981"/>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tdf.png"/>
          <p:cNvPicPr>
            <a:picLocks noChangeAspect="1"/>
          </p:cNvPicPr>
          <p:nvPr/>
        </p:nvPicPr>
        <p:blipFill>
          <a:blip r:embed="rId4"/>
          <a:stretch>
            <a:fillRect/>
          </a:stretch>
        </p:blipFill>
        <p:spPr>
          <a:xfrm>
            <a:off x="2636102" y="3987487"/>
            <a:ext cx="728696" cy="804569"/>
          </a:xfrm>
          <a:prstGeom prst="rect">
            <a:avLst/>
          </a:prstGeom>
        </p:spPr>
      </p:pic>
      <p:pic>
        <p:nvPicPr>
          <p:cNvPr id="18" name="Picture 17" descr="worldline.png"/>
          <p:cNvPicPr>
            <a:picLocks noChangeAspect="1"/>
          </p:cNvPicPr>
          <p:nvPr/>
        </p:nvPicPr>
        <p:blipFill>
          <a:blip r:embed="rId5"/>
          <a:stretch>
            <a:fillRect/>
          </a:stretch>
        </p:blipFill>
        <p:spPr>
          <a:xfrm>
            <a:off x="8306819" y="3987487"/>
            <a:ext cx="1142390" cy="80456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Produire un système permettant de générer un score de churn afin de fournir aux conseillers une liste de clients à traiter en priorité. 3/ Modélisation - Utiliser les modèles de classification comme Gradient Boosting, Arbre de décision et Régression logistique. - Comparer et sélectionner le meilleur modèle l’aide du ROC AUC, Recall et F1 Score.</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MARKETING, </a:t>
            </a:r>
            <a:r>
              <a:rPr sz="1100" b="0" i="1">
                <a:solidFill>
                  <a:srgbClr val="1A1A1A"/>
                </a:solidFill>
                <a:latin typeface="Verdana"/>
              </a:rPr>
              <a:t>STATISTICIEN</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qu'Experte Datascientist IA et NLP/ LLM auprès de BCA EXPERTISE (Institut Etudes Statistiques). Le rôle a consisté à mettre en place, en binôme, un LLM (Large Language Model) pour effectuer ce travail de traduction.</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INSTITUT ETUDES STATISTIQUES, </a:t>
            </a:r>
            <a:r>
              <a:rPr sz="1000" b="0" i="1">
                <a:solidFill>
                  <a:srgbClr val="1A1A1A"/>
                </a:solidFill>
                <a:latin typeface="Verdana"/>
              </a:rPr>
              <a:t>EXPERTE DATASCIENTIST IA ET NLP/ LLM</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qu'Experte IA (NLP - LLMs) auprès de BALOISE ASSURANCES, dans le cadre d'une expérimentation visant à déployer des outils d'IA générative sur Azure. Le rôle de Square Management a consisté à former les équipes sur les fondamentaux du RAG et à fournir des conseils sur les meilleures pratiques.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INNOVATION, </a:t>
            </a:r>
            <a:r>
              <a:rPr sz="1100" b="0" i="1">
                <a:solidFill>
                  <a:srgbClr val="1A1A1A"/>
                </a:solidFill>
                <a:latin typeface="Verdana"/>
              </a:rPr>
              <a:t>EXPERTE IA</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qu'Experte IA - NLP - LLMs auprès de BCA EXPERTISE pour un projet visant à automatiser le matching des factures de réparation automobile avec un référentiel de pièces. Cette expertise a permis de réduire les erreurs et d'accélérer le traitement des factures.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INSTITUT ETUDES STATISTIQUES, </a:t>
            </a:r>
            <a:r>
              <a:rPr sz="1000" b="0" i="1">
                <a:solidFill>
                  <a:srgbClr val="1A1A1A"/>
                </a:solidFill>
                <a:latin typeface="Verdana"/>
              </a:rPr>
              <a:t>EXPERTE IA - NLP - LLMS</a:t>
            </a:r>
          </a:p>
        </p:txBody>
      </p:sp>
      <p:sp>
        <p:nvSpPr>
          <p:cNvPr id="14" name="Title 13"/>
          <p:cNvSpPr>
            <a:spLocks noGrp="1"/>
          </p:cNvSpPr>
          <p:nvPr>
            <p:ph type="title"/>
          </p:nvPr>
        </p:nvSpPr>
        <p:spPr/>
        <p:txBody>
          <a:bodyPr/>
          <a:lstStyle/>
          <a:p>
            <a:r>
              <a:t>Références IA : Stratégie IT (5/16)</a:t>
            </a:r>
          </a:p>
        </p:txBody>
      </p:sp>
      <p:pic>
        <p:nvPicPr>
          <p:cNvPr id="15" name="Picture 14" descr="attijariwafa.png"/>
          <p:cNvPicPr>
            <a:picLocks noChangeAspect="1"/>
          </p:cNvPicPr>
          <p:nvPr/>
        </p:nvPicPr>
        <p:blipFill>
          <a:blip r:embed="rId2"/>
          <a:stretch>
            <a:fillRect/>
          </a:stretch>
        </p:blipFill>
        <p:spPr>
          <a:xfrm>
            <a:off x="2566850" y="1275460"/>
            <a:ext cx="867200" cy="804569"/>
          </a:xfrm>
          <a:prstGeom prst="rect">
            <a:avLst/>
          </a:prstGeom>
        </p:spPr>
      </p:pic>
      <p:pic>
        <p:nvPicPr>
          <p:cNvPr id="16" name="Picture 15" descr="baloise.png"/>
          <p:cNvPicPr>
            <a:picLocks noChangeAspect="1"/>
          </p:cNvPicPr>
          <p:nvPr/>
        </p:nvPicPr>
        <p:blipFill>
          <a:blip r:embed="rId3"/>
          <a:stretch>
            <a:fillRect/>
          </a:stretch>
        </p:blipFill>
        <p:spPr>
          <a:xfrm>
            <a:off x="7733188" y="1353459"/>
            <a:ext cx="2289652" cy="648570"/>
          </a:xfrm>
          <a:prstGeom prst="rect">
            <a:avLst/>
          </a:prstGeom>
        </p:spPr>
      </p:pic>
      <p:pic>
        <p:nvPicPr>
          <p:cNvPr id="17" name="Picture 16" descr="bca_expertise.png"/>
          <p:cNvPicPr>
            <a:picLocks noChangeAspect="1"/>
          </p:cNvPicPr>
          <p:nvPr/>
        </p:nvPicPr>
        <p:blipFill>
          <a:blip r:embed="rId4"/>
          <a:stretch>
            <a:fillRect/>
          </a:stretch>
        </p:blipFill>
        <p:spPr>
          <a:xfrm>
            <a:off x="2439901" y="3987487"/>
            <a:ext cx="1121097" cy="804569"/>
          </a:xfrm>
          <a:prstGeom prst="rect">
            <a:avLst/>
          </a:prstGeom>
        </p:spPr>
      </p:pic>
      <p:pic>
        <p:nvPicPr>
          <p:cNvPr id="18" name="Picture 17" descr="bca_expertise.png"/>
          <p:cNvPicPr>
            <a:picLocks noChangeAspect="1"/>
          </p:cNvPicPr>
          <p:nvPr/>
        </p:nvPicPr>
        <p:blipFill>
          <a:blip r:embed="rId4"/>
          <a:stretch>
            <a:fillRect/>
          </a:stretch>
        </p:blipFill>
        <p:spPr>
          <a:xfrm>
            <a:off x="8317465" y="3987487"/>
            <a:ext cx="1121097" cy="80456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1. * Nettoyage des données 2. Modélisation et prédiction : * Développement d'un modèle de classification en utilisant l'algorithme de Gradient Boosting Classifier avec la bibliothèque Scikit-learnen Python. * Application de la méthode GridSearchCV pour optimiser les hyperparamètres du modèle 4. 5.</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RECHERCHE ET DÉVELOPPEMENT, </a:t>
            </a:r>
            <a:r>
              <a:rPr sz="1000" b="0" i="1">
                <a:solidFill>
                  <a:srgbClr val="1A1A1A"/>
                </a:solidFill>
                <a:latin typeface="Verdana"/>
              </a:rPr>
              <a:t>INGÉNIEURE EN SANTÉ NUMÉRIQUE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Le contexte était de cadrer une nouvelle démarche d'exploration technologique visant à identifier le potentiel de création de valeur de l'Intelligence Artificielle, notamment l'IA générative, dans une optique de "design-to-save" pour "Innover à l’IT pour gagner 20 %".</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DIRECTEUR DU POLE INNOVATION IT, PÔLE INNOVATION IT, </a:t>
            </a:r>
            <a:r>
              <a:rPr sz="900" b="0" i="1">
                <a:solidFill>
                  <a:srgbClr val="1A1A1A"/>
                </a:solidFill>
                <a:latin typeface="Verdana"/>
              </a:rPr>
              <a:t>EXPERT EN GESTION DE L'INNOVATION</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Consultant en gestion de l'Innovation auprès du Pôle Innovation IT de BNPP BCEF. Le contexte de la mission était le cadrage d'une nouvelle démarche d’exploration technologique visant à évaluer le potentiel de création de valeur de l’Intelligence Artificielle, notamment de l’IA générative.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IT, PÔLE INNOVATION, </a:t>
            </a:r>
            <a:r>
              <a:rPr sz="1000" b="0" i="1">
                <a:solidFill>
                  <a:srgbClr val="1A1A1A"/>
                </a:solidFill>
                <a:latin typeface="Verdana"/>
              </a:rPr>
              <a:t>CONSULTANT EN GESTION DE L'INNOVATION</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Conception d'un outil Python performant pour extraire des données essentielles de fichiers PDF. * Utilisation de la librairie pytesseract pour récupérer les informations des fichiers PDF. * Utilisation des modèles de Machine Learning (Random Forest et Arbre de décisions).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FINANCIÈRE, </a:t>
            </a:r>
            <a:r>
              <a:rPr sz="1100" b="0" i="1">
                <a:solidFill>
                  <a:srgbClr val="1A1A1A"/>
                </a:solidFill>
                <a:latin typeface="Verdana"/>
              </a:rPr>
              <a:t>CHARGÉ DE PROJET</a:t>
            </a:r>
          </a:p>
        </p:txBody>
      </p:sp>
      <p:sp>
        <p:nvSpPr>
          <p:cNvPr id="10" name="Text Placeholder 9"/>
          <p:cNvSpPr>
            <a:spLocks noGrp="1"/>
          </p:cNvSpPr>
          <p:nvPr>
            <p:ph type="body" idx="9"/>
          </p:nvPr>
        </p:nvSpPr>
        <p:spPr/>
        <p:txBody>
          <a:bodyPr wrap="square" anchor="ctr"/>
          <a:lstStyle/>
          <a:p>
            <a:pPr algn="ctr" indent="0" marL="0"/>
            <a:r>
              <a:rPr sz="1400" b="1" i="0">
                <a:solidFill>
                  <a:srgbClr val="1A1A1A"/>
                </a:solidFill>
                <a:latin typeface="Verdana"/>
              </a:rPr>
              <a:t>Behit</a:t>
            </a:r>
          </a:p>
        </p:txBody>
      </p:sp>
      <p:sp>
        <p:nvSpPr>
          <p:cNvPr id="14" name="Title 13"/>
          <p:cNvSpPr>
            <a:spLocks noGrp="1"/>
          </p:cNvSpPr>
          <p:nvPr>
            <p:ph type="title"/>
          </p:nvPr>
        </p:nvSpPr>
        <p:spPr/>
        <p:txBody>
          <a:bodyPr/>
          <a:lstStyle/>
          <a:p>
            <a:r>
              <a:t>Références IA : Stratégie IT (6/16)</a:t>
            </a:r>
          </a:p>
        </p:txBody>
      </p:sp>
      <p:pic>
        <p:nvPicPr>
          <p:cNvPr id="15" name="Picture 14" descr="bnp_paribas.png"/>
          <p:cNvPicPr>
            <a:picLocks noChangeAspect="1"/>
          </p:cNvPicPr>
          <p:nvPr/>
        </p:nvPicPr>
        <p:blipFill>
          <a:blip r:embed="rId2"/>
          <a:stretch>
            <a:fillRect/>
          </a:stretch>
        </p:blipFill>
        <p:spPr>
          <a:xfrm>
            <a:off x="7733188" y="1432425"/>
            <a:ext cx="2289652" cy="490639"/>
          </a:xfrm>
          <a:prstGeom prst="rect">
            <a:avLst/>
          </a:prstGeom>
        </p:spPr>
      </p:pic>
      <p:pic>
        <p:nvPicPr>
          <p:cNvPr id="16" name="Picture 15" descr="bnp_paribas.png"/>
          <p:cNvPicPr>
            <a:picLocks noChangeAspect="1"/>
          </p:cNvPicPr>
          <p:nvPr/>
        </p:nvPicPr>
        <p:blipFill>
          <a:blip r:embed="rId2"/>
          <a:stretch>
            <a:fillRect/>
          </a:stretch>
        </p:blipFill>
        <p:spPr>
          <a:xfrm>
            <a:off x="1855624" y="4144452"/>
            <a:ext cx="2289652" cy="490639"/>
          </a:xfrm>
          <a:prstGeom prst="rect">
            <a:avLst/>
          </a:prstGeom>
        </p:spPr>
      </p:pic>
      <p:pic>
        <p:nvPicPr>
          <p:cNvPr id="17" name="Picture 16" descr="credit_agricole.png"/>
          <p:cNvPicPr>
            <a:picLocks noChangeAspect="1"/>
          </p:cNvPicPr>
          <p:nvPr/>
        </p:nvPicPr>
        <p:blipFill>
          <a:blip r:embed="rId3"/>
          <a:stretch>
            <a:fillRect/>
          </a:stretch>
        </p:blipFill>
        <p:spPr>
          <a:xfrm>
            <a:off x="8300154" y="3987487"/>
            <a:ext cx="1155720" cy="80456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Réalisations * Examen de la documentation, de la méthodologie et de la cohérence entre modélisation et objectifs * Analyse exploratoire des données brutes et prétraitées * Evaluation des performances du modèle : efficacité, robustesse * Revue de l'implémentation Livrables * Liste de vérification des recommandations et préconisation formulées lors de l'audit.</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DATA FACTORY &amp; USAGES DATA, </a:t>
            </a:r>
            <a:r>
              <a:rPr sz="1100" b="0" i="1">
                <a:solidFill>
                  <a:srgbClr val="1A1A1A"/>
                </a:solidFill>
                <a:latin typeface="Verdana"/>
              </a:rPr>
              <a:t>AUDITEUR EXTERNE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Data Scientist auprès de l'INSEP (Unité Développement et Innovation). Ce travail impliquait une coordination régulière avec les coachs pour ajuster le modèle.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UNITÉ DÉVELOPPEMENT ET INNOVATION, </a:t>
            </a:r>
            <a:r>
              <a:rPr sz="10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Ce projet de Machine Learning, mené de l'exploration à la production, visait à transformer des données météorologiques brutes (ECMWF) en un outil d'aide à la décision. * Développement et déploiement d'un modèle prédictif (R/Python) capable d'estimer les coûts à J-5, avec une mise à jour quotidienne jusqu'à J+2.</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RÉASSURANCE ET RISQUES NATURELS, </a:t>
            </a:r>
            <a:r>
              <a:rPr sz="10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Data &amp; acculturation à l'IA Gen au sein de la Direction DATA-IA de La Poste BGPN, qui lance son Train Agile pour développer des projets d'IA générative. Cela a permis d'intégrer l'IA Générative dans le backlog projet de la Direction.</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DATA-IA LA POSTE BGPN, </a:t>
            </a:r>
            <a:r>
              <a:rPr sz="1000" b="0" i="1">
                <a:solidFill>
                  <a:srgbClr val="1A1A1A"/>
                </a:solidFill>
                <a:latin typeface="Verdana"/>
              </a:rPr>
              <a:t>PMO DATA &amp; ACCULTURATION À L'IA GEN</a:t>
            </a:r>
          </a:p>
        </p:txBody>
      </p:sp>
      <p:sp>
        <p:nvSpPr>
          <p:cNvPr id="14" name="Title 13"/>
          <p:cNvSpPr>
            <a:spLocks noGrp="1"/>
          </p:cNvSpPr>
          <p:nvPr>
            <p:ph type="title"/>
          </p:nvPr>
        </p:nvSpPr>
        <p:spPr/>
        <p:txBody>
          <a:bodyPr/>
          <a:lstStyle/>
          <a:p>
            <a:r>
              <a:t>Références IA : Stratégie IT (7/16)</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generali.png"/>
          <p:cNvPicPr>
            <a:picLocks noChangeAspect="1"/>
          </p:cNvPicPr>
          <p:nvPr/>
        </p:nvPicPr>
        <p:blipFill>
          <a:blip r:embed="rId3"/>
          <a:stretch>
            <a:fillRect/>
          </a:stretch>
        </p:blipFill>
        <p:spPr>
          <a:xfrm>
            <a:off x="7733188" y="1470245"/>
            <a:ext cx="2289652" cy="414999"/>
          </a:xfrm>
          <a:prstGeom prst="rect">
            <a:avLst/>
          </a:prstGeom>
        </p:spPr>
      </p:pic>
      <p:pic>
        <p:nvPicPr>
          <p:cNvPr id="17" name="Picture 16" descr="insep.png"/>
          <p:cNvPicPr>
            <a:picLocks noChangeAspect="1"/>
          </p:cNvPicPr>
          <p:nvPr/>
        </p:nvPicPr>
        <p:blipFill>
          <a:blip r:embed="rId4"/>
          <a:stretch>
            <a:fillRect/>
          </a:stretch>
        </p:blipFill>
        <p:spPr>
          <a:xfrm>
            <a:off x="2155653" y="3987487"/>
            <a:ext cx="1689594" cy="804569"/>
          </a:xfrm>
          <a:prstGeom prst="rect">
            <a:avLst/>
          </a:prstGeom>
        </p:spPr>
      </p:pic>
      <p:pic>
        <p:nvPicPr>
          <p:cNvPr id="18" name="Picture 17" descr="la_poste.png"/>
          <p:cNvPicPr>
            <a:picLocks noChangeAspect="1"/>
          </p:cNvPicPr>
          <p:nvPr/>
        </p:nvPicPr>
        <p:blipFill>
          <a:blip r:embed="rId5"/>
          <a:stretch>
            <a:fillRect/>
          </a:stretch>
        </p:blipFill>
        <p:spPr>
          <a:xfrm>
            <a:off x="7733188" y="4219240"/>
            <a:ext cx="2289652" cy="34106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la direction (PDG, COMEX, AG) du groupe MNCAP. La mission était axée sur une conférence et une acculturation aux Large Language Models (LLM) et à l'Intelligence Artificielle Générative (IA Générative) spécifiquement pour l'Assurance Emprunteur.</a:t>
            </a:r>
          </a:p>
        </p:txBody>
      </p:sp>
      <p:sp>
        <p:nvSpPr>
          <p:cNvPr id="3" name="Text Placeholder 2"/>
          <p:cNvSpPr>
            <a:spLocks noGrp="1"/>
          </p:cNvSpPr>
          <p:nvPr>
            <p:ph type="body" idx="2"/>
          </p:nvPr>
        </p:nvSpPr>
        <p:spPr/>
        <p:txBody>
          <a:bodyPr wrap="square"/>
          <a:lstStyle/>
          <a:p>
            <a:pPr algn="ctr" indent="0" marL="0"/>
            <a:r>
              <a:rPr sz="900" b="1" i="0">
                <a:solidFill>
                  <a:srgbClr val="1A1A1A"/>
                </a:solidFill>
                <a:latin typeface="Verdana"/>
              </a:rPr>
              <a:t>PDG, COMEX &amp; ASSEMBLÉE GÉNÉRALE DU GROUPE MNCAP, </a:t>
            </a:r>
            <a:r>
              <a:rPr sz="900" b="0" i="1">
                <a:solidFill>
                  <a:srgbClr val="1A1A1A"/>
                </a:solidFill>
                <a:latin typeface="Verdana"/>
              </a:rPr>
              <a:t>SPEAKER IA &amp; MANAGEMENT DE  L'INNOVATION</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Enjeu stratégique Fatoumata a participer à industrialiser la prévision financière via un modèle prédictif fiable de Landing en alignant Finance, Data Science et IT autour d’un périmètre fonctionnel clair et de données maîtrisées.</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DSI DES FONCTIONS CORPORATE, </a:t>
            </a:r>
            <a:r>
              <a:rPr sz="1000" b="0" i="1">
                <a:solidFill>
                  <a:srgbClr val="1A1A1A"/>
                </a:solidFill>
                <a:latin typeface="Verdana"/>
              </a:rPr>
              <a:t>RÉFÉRENTE FONCTIONNELLE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1/ Veille technologique * Faire une revue de l’état de l’art des techniques de distillation en Machine Learning. * Identifier leurs applications dans le contexte de gestion du risque de crédit en banque notamment en explicabilité (XAI), en amélioration de la performance des modèles et réduction de leur complexité.</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RISK/MRM, </a:t>
            </a:r>
            <a:r>
              <a:rPr sz="1100" b="0" i="1">
                <a:solidFill>
                  <a:srgbClr val="1A1A1A"/>
                </a:solidFill>
                <a:latin typeface="Verdana"/>
              </a:rPr>
              <a:t>DATA SCIENTIST EN RISQUE DE CRÉDIT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Directeur de projet au sein de la Direction des programmes DATA de SOCIETE GENERALE BDDF, dans le cadre de la refonte du. La mission, qui impliquait la coordination et la planification de 31 chantiers, a culminé avec un chantier majeur de data science.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 </a:t>
            </a:r>
            <a:r>
              <a:rPr sz="1100" b="0" i="1">
                <a:solidFill>
                  <a:srgbClr val="1A1A1A"/>
                </a:solidFill>
                <a:latin typeface="Verdana"/>
              </a:rPr>
              <a:t>DIRECTEUR DE PROJET</a:t>
            </a:r>
          </a:p>
        </p:txBody>
      </p:sp>
      <p:sp>
        <p:nvSpPr>
          <p:cNvPr id="14" name="Title 13"/>
          <p:cNvSpPr>
            <a:spLocks noGrp="1"/>
          </p:cNvSpPr>
          <p:nvPr>
            <p:ph type="title"/>
          </p:nvPr>
        </p:nvSpPr>
        <p:spPr/>
        <p:txBody>
          <a:bodyPr/>
          <a:lstStyle/>
          <a:p>
            <a:r>
              <a:t>Références IA : Stratégie IT (8/16)</a:t>
            </a:r>
          </a:p>
        </p:txBody>
      </p:sp>
      <p:pic>
        <p:nvPicPr>
          <p:cNvPr id="15" name="Picture 14" descr="mncap.png"/>
          <p:cNvPicPr>
            <a:picLocks noChangeAspect="1"/>
          </p:cNvPicPr>
          <p:nvPr/>
        </p:nvPicPr>
        <p:blipFill>
          <a:blip r:embed="rId2"/>
          <a:stretch>
            <a:fillRect/>
          </a:stretch>
        </p:blipFill>
        <p:spPr>
          <a:xfrm>
            <a:off x="2427101" y="1275460"/>
            <a:ext cx="1146698" cy="804569"/>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societe_generale.png"/>
          <p:cNvPicPr>
            <a:picLocks noChangeAspect="1"/>
          </p:cNvPicPr>
          <p:nvPr/>
        </p:nvPicPr>
        <p:blipFill>
          <a:blip r:embed="rId3"/>
          <a:stretch>
            <a:fillRect/>
          </a:stretch>
        </p:blipFill>
        <p:spPr>
          <a:xfrm>
            <a:off x="1855624" y="4128608"/>
            <a:ext cx="2289652" cy="522326"/>
          </a:xfrm>
          <a:prstGeom prst="rect">
            <a:avLst/>
          </a:prstGeom>
        </p:spPr>
      </p:pic>
      <p:pic>
        <p:nvPicPr>
          <p:cNvPr id="18" name="Picture 17" descr="societe_generale.png"/>
          <p:cNvPicPr>
            <a:picLocks noChangeAspect="1"/>
          </p:cNvPicPr>
          <p:nvPr/>
        </p:nvPicPr>
        <p:blipFill>
          <a:blip r:embed="rId3"/>
          <a:stretch>
            <a:fillRect/>
          </a:stretch>
        </p:blipFill>
        <p:spPr>
          <a:xfrm>
            <a:off x="7733188" y="4128608"/>
            <a:ext cx="2289652" cy="52232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Scrapping de PDF &amp; Word • Extraction de texte de documents PDF • Extraction de texte d'images Analyse sémantique • Création de Dataframe de segments de textes • Analyse syntaxique et embedding via du TF-IDF • Clustering de documents selon leur contexte • Reconnaissance d'entités textuelles au vue d'une ontologie à l'aide de réseaux de neurones • Mise en.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RECHERCHE AVANT-PROJETS, </a:t>
            </a:r>
            <a:r>
              <a:rPr sz="1000" b="0" i="1">
                <a:solidFill>
                  <a:srgbClr val="1A1A1A"/>
                </a:solidFill>
                <a:latin typeface="Verdana"/>
              </a:rPr>
              <a:t>INGÉNIEUR DATA SCIENCE</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Compréhension du besoin et de la problématique Récupération des données open source (données boursières) * Collecte de données de cotations d'entreprises appartenant à de grands indices boursiers (CAC, NYSE, ...) Développement de modèles de clustering * Entraînement : * Recherche et sélection de.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EQUIPE REPORTING DATA, </a:t>
            </a:r>
            <a:r>
              <a:rPr sz="11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Réalisations clés : 1. 2. Développement et entraînement du modèle de classification supervisée : Un modèle de classification supervisée a été développé pour prédire la probabilité d'accident en fonction des habitudes de conduite des jeunes conducteurs. 3. Cette comparaison permet de sélectionner le modèle le plus performant. 4.</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ACTUARIAT, </a:t>
            </a:r>
            <a:r>
              <a:rPr sz="11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qu'Experte IA auprès de BPCE Digital &amp; payments. Le rôle a consisté à concevoir et proposer une solution sur mesure de Traitement Automatique du Langage Naturel (NLP) pour transformer ces données en vecteurs (embeddings).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BPCE DIGITAL &amp; PAYMENTS, </a:t>
            </a:r>
            <a:r>
              <a:rPr sz="1100" b="0" i="1">
                <a:solidFill>
                  <a:srgbClr val="1A1A1A"/>
                </a:solidFill>
                <a:latin typeface="Verdana"/>
              </a:rPr>
              <a:t>EXPERTE IA</a:t>
            </a:r>
          </a:p>
        </p:txBody>
      </p:sp>
      <p:sp>
        <p:nvSpPr>
          <p:cNvPr id="14" name="Title 13"/>
          <p:cNvSpPr>
            <a:spLocks noGrp="1"/>
          </p:cNvSpPr>
          <p:nvPr>
            <p:ph type="title"/>
          </p:nvPr>
        </p:nvSpPr>
        <p:spPr/>
        <p:txBody>
          <a:bodyPr/>
          <a:lstStyle/>
          <a:p>
            <a:r>
              <a:t>Références IA : Stratégie IT (9/16)</a:t>
            </a:r>
          </a:p>
        </p:txBody>
      </p:sp>
      <p:pic>
        <p:nvPicPr>
          <p:cNvPr id="15" name="Picture 14" descr="ariane_group.png"/>
          <p:cNvPicPr>
            <a:picLocks noChangeAspect="1"/>
          </p:cNvPicPr>
          <p:nvPr/>
        </p:nvPicPr>
        <p:blipFill>
          <a:blip r:embed="rId2"/>
          <a:stretch>
            <a:fillRect/>
          </a:stretch>
        </p:blipFill>
        <p:spPr>
          <a:xfrm>
            <a:off x="2243509" y="1275460"/>
            <a:ext cx="1513882" cy="804569"/>
          </a:xfrm>
          <a:prstGeom prst="rect">
            <a:avLst/>
          </a:prstGeom>
        </p:spPr>
      </p:pic>
      <p:pic>
        <p:nvPicPr>
          <p:cNvPr id="16" name="Picture 15" descr="avril.png"/>
          <p:cNvPicPr>
            <a:picLocks noChangeAspect="1"/>
          </p:cNvPicPr>
          <p:nvPr/>
        </p:nvPicPr>
        <p:blipFill>
          <a:blip r:embed="rId3"/>
          <a:stretch>
            <a:fillRect/>
          </a:stretch>
        </p:blipFill>
        <p:spPr>
          <a:xfrm>
            <a:off x="7733188" y="1296136"/>
            <a:ext cx="2289652" cy="763217"/>
          </a:xfrm>
          <a:prstGeom prst="rect">
            <a:avLst/>
          </a:prstGeom>
        </p:spPr>
      </p:pic>
      <p:pic>
        <p:nvPicPr>
          <p:cNvPr id="17" name="Picture 16" descr="bnp_paribas.png"/>
          <p:cNvPicPr>
            <a:picLocks noChangeAspect="1"/>
          </p:cNvPicPr>
          <p:nvPr/>
        </p:nvPicPr>
        <p:blipFill>
          <a:blip r:embed="rId4"/>
          <a:stretch>
            <a:fillRect/>
          </a:stretch>
        </p:blipFill>
        <p:spPr>
          <a:xfrm>
            <a:off x="1855624" y="4144452"/>
            <a:ext cx="2289652" cy="490639"/>
          </a:xfrm>
          <a:prstGeom prst="rect">
            <a:avLst/>
          </a:prstGeom>
        </p:spPr>
      </p:pic>
      <p:pic>
        <p:nvPicPr>
          <p:cNvPr id="18" name="Picture 17" descr="bpce.png"/>
          <p:cNvPicPr>
            <a:picLocks noChangeAspect="1"/>
          </p:cNvPicPr>
          <p:nvPr/>
        </p:nvPicPr>
        <p:blipFill>
          <a:blip r:embed="rId5"/>
          <a:stretch>
            <a:fillRect/>
          </a:stretch>
        </p:blipFill>
        <p:spPr>
          <a:xfrm>
            <a:off x="7778702" y="3987487"/>
            <a:ext cx="2198624" cy="80456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La mission a commencé par un travail d'audit de l'existant chez le client pour comprendre la démarche mise en place par le client ainsi que ses limites. Proposition d'un protocole de recherche avec recommendation d'une méthode basé sur du NLP pour guider la démarche vers une solution satisfaisante pour le client.</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DIGITAL &amp; PAYMENTS, </a:t>
            </a:r>
            <a:r>
              <a:rPr sz="1100" b="0" i="1">
                <a:solidFill>
                  <a:srgbClr val="1A1A1A"/>
                </a:solidFill>
                <a:latin typeface="Verdana"/>
              </a:rPr>
              <a:t>CONSULTANT CHERCHEUR</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L'objectif est de développer une intelligence artificielle pouvant prédire la valeur foncière de biens immobiliers puis de la présenter à des prospects.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INTERNE, </a:t>
            </a:r>
            <a:r>
              <a:rPr sz="1100" b="0" i="1">
                <a:solidFill>
                  <a:srgbClr val="1A1A1A"/>
                </a:solidFill>
                <a:latin typeface="Verdana"/>
              </a:rPr>
              <a:t>CONSULTANT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PMO Organisation &amp; Suivi d'activités Data Science auprès de BPCE SA (Pôle Data &amp; IA - Data Science). Le contexte de la mission était de formaliser l’organisation d’un Centre d’Expertise Data Scientists &amp; IA, pour mettre la DATA au service de cas d'usages variés (Business, Risques, Fraude, etc.).</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PÔLE DATA &amp; IA - DATA SCIENCE, </a:t>
            </a:r>
            <a:r>
              <a:rPr sz="900" b="0" i="1">
                <a:solidFill>
                  <a:srgbClr val="1A1A1A"/>
                </a:solidFill>
                <a:latin typeface="Verdana"/>
              </a:rPr>
              <a:t>PMO ORGANISATION &amp; SUIVI D'ACTIVITÉS DATA SCIENCE</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 Ci-dessous les différentes missions/étapes réalisées : * Analyse et cartographie de la fraude * Analyse et définissions des profils types de fraudeurs * Construction des bases de données et automatisation de leurs exports (Jobs Glue) * Création d'un score de fraudes à partir des caractéristiques.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EQUIPE DATA, </a:t>
            </a:r>
            <a:r>
              <a:rPr sz="1100" b="0" i="1">
                <a:solidFill>
                  <a:srgbClr val="1A1A1A"/>
                </a:solidFill>
                <a:latin typeface="Verdana"/>
              </a:rPr>
              <a:t>DATA SCIENTIST</a:t>
            </a:r>
          </a:p>
        </p:txBody>
      </p:sp>
      <p:sp>
        <p:nvSpPr>
          <p:cNvPr id="14" name="Title 13"/>
          <p:cNvSpPr>
            <a:spLocks noGrp="1"/>
          </p:cNvSpPr>
          <p:nvPr>
            <p:ph type="title"/>
          </p:nvPr>
        </p:nvSpPr>
        <p:spPr/>
        <p:txBody>
          <a:bodyPr/>
          <a:lstStyle/>
          <a:p>
            <a:r>
              <a:t>Références IA : Stratégie IT (10/16)</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bpce.png"/>
          <p:cNvPicPr>
            <a:picLocks noChangeAspect="1"/>
          </p:cNvPicPr>
          <p:nvPr/>
        </p:nvPicPr>
        <p:blipFill>
          <a:blip r:embed="rId2"/>
          <a:stretch>
            <a:fillRect/>
          </a:stretch>
        </p:blipFill>
        <p:spPr>
          <a:xfrm>
            <a:off x="7778702" y="1275460"/>
            <a:ext cx="2198624" cy="804569"/>
          </a:xfrm>
          <a:prstGeom prst="rect">
            <a:avLst/>
          </a:prstGeom>
        </p:spPr>
      </p:pic>
      <p:pic>
        <p:nvPicPr>
          <p:cNvPr id="17" name="Picture 16" descr="capgemini.png"/>
          <p:cNvPicPr>
            <a:picLocks noChangeAspect="1"/>
          </p:cNvPicPr>
          <p:nvPr/>
        </p:nvPicPr>
        <p:blipFill>
          <a:blip r:embed="rId3"/>
          <a:stretch>
            <a:fillRect/>
          </a:stretch>
        </p:blipFill>
        <p:spPr>
          <a:xfrm>
            <a:off x="1855624" y="4121453"/>
            <a:ext cx="2289652" cy="536637"/>
          </a:xfrm>
          <a:prstGeom prst="rect">
            <a:avLst/>
          </a:prstGeom>
        </p:spPr>
      </p:pic>
      <p:pic>
        <p:nvPicPr>
          <p:cNvPr id="18" name="Picture 17" descr="homeexchange.png"/>
          <p:cNvPicPr>
            <a:picLocks noChangeAspect="1"/>
          </p:cNvPicPr>
          <p:nvPr/>
        </p:nvPicPr>
        <p:blipFill>
          <a:blip r:embed="rId4"/>
          <a:stretch>
            <a:fillRect/>
          </a:stretch>
        </p:blipFill>
        <p:spPr>
          <a:xfrm>
            <a:off x="8406217" y="3987487"/>
            <a:ext cx="943593" cy="80456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•Defined the roadmap and timeline to build an automated, robust, and extensible forecasting pipeline, thinking strategically about how to maximize business impact •Ensured the cohesion and good organization of the team (3 consultants) •Constructed data modeling experiments, evaluating against strong baselines, and extracting key.</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DATA SCIENCE, </a:t>
            </a:r>
            <a:r>
              <a:rPr sz="1100" b="0" i="1">
                <a:solidFill>
                  <a:srgbClr val="1A1A1A"/>
                </a:solidFill>
                <a:latin typeface="Verdana"/>
              </a:rPr>
              <a:t>DATA SCIENTIST LEAD</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Product Owner Data &amp; IA pour LA POSTE (Branche Grand Public et Numérique - BGPN), au sein du nouveau pôle DATA/IA créé pour opérer sa transformation stratégique. La mission visait à porter les projets DATA/IA pour l'ensemble des métiers de la branche.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BRANCHE GRAND PUBLIC ET NUMÉRIQUE, </a:t>
            </a:r>
            <a:r>
              <a:rPr sz="1000" b="0" i="1">
                <a:solidFill>
                  <a:srgbClr val="1A1A1A"/>
                </a:solidFill>
                <a:latin typeface="Verdana"/>
              </a:rPr>
              <a:t>PRODUCT OWNER DATA &amp; IA</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Product Owner auprès de LA POSTE, au sein de la branche Grand Public Numérique (BGPN), pour le pilotage multi-projets IA/Data. Le contexte était le déploiement de la roadmap DATA/IA de la Chief Data Officer, visant à gérer les projets DATA/IA de bout en bout.</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DATA - BRANCHE GRAND PUBLIC NUMÉRIQUE, </a:t>
            </a:r>
            <a:r>
              <a:rPr sz="1000" b="0" i="1">
                <a:solidFill>
                  <a:srgbClr val="1A1A1A"/>
                </a:solidFill>
                <a:latin typeface="Verdana"/>
              </a:rPr>
              <a:t>PRODUCT OWNER</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Objectif : Développer des solutions basées sur la data science pour identifier les transactions suspectes liées à la sous-évaluation des biens immobiliers * Implémentation de modèles de data science * Utilisation de modèles de séries temporelles pour analyser les tendances du.</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DATA SCIENTIST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Ministère de l'Economie</a:t>
            </a:r>
          </a:p>
        </p:txBody>
      </p:sp>
      <p:sp>
        <p:nvSpPr>
          <p:cNvPr id="14" name="Title 13"/>
          <p:cNvSpPr>
            <a:spLocks noGrp="1"/>
          </p:cNvSpPr>
          <p:nvPr>
            <p:ph type="title"/>
          </p:nvPr>
        </p:nvSpPr>
        <p:spPr/>
        <p:txBody>
          <a:bodyPr/>
          <a:lstStyle/>
          <a:p>
            <a:r>
              <a:t>Références IA : Stratégie IT (11/16)</a:t>
            </a:r>
          </a:p>
        </p:txBody>
      </p:sp>
      <p:pic>
        <p:nvPicPr>
          <p:cNvPr id="15" name="Picture 14" descr="investance_partners.png"/>
          <p:cNvPicPr>
            <a:picLocks noChangeAspect="1"/>
          </p:cNvPicPr>
          <p:nvPr/>
        </p:nvPicPr>
        <p:blipFill>
          <a:blip r:embed="rId2"/>
          <a:stretch>
            <a:fillRect/>
          </a:stretch>
        </p:blipFill>
        <p:spPr>
          <a:xfrm>
            <a:off x="2231518" y="1275460"/>
            <a:ext cx="1537864" cy="804569"/>
          </a:xfrm>
          <a:prstGeom prst="rect">
            <a:avLst/>
          </a:prstGeom>
        </p:spPr>
      </p:pic>
      <p:pic>
        <p:nvPicPr>
          <p:cNvPr id="16" name="Picture 15" descr="la_poste.png"/>
          <p:cNvPicPr>
            <a:picLocks noChangeAspect="1"/>
          </p:cNvPicPr>
          <p:nvPr/>
        </p:nvPicPr>
        <p:blipFill>
          <a:blip r:embed="rId3"/>
          <a:stretch>
            <a:fillRect/>
          </a:stretch>
        </p:blipFill>
        <p:spPr>
          <a:xfrm>
            <a:off x="7733188" y="1507213"/>
            <a:ext cx="2289652" cy="341062"/>
          </a:xfrm>
          <a:prstGeom prst="rect">
            <a:avLst/>
          </a:prstGeom>
        </p:spPr>
      </p:pic>
      <p:pic>
        <p:nvPicPr>
          <p:cNvPr id="17" name="Picture 16" descr="la_poste.png"/>
          <p:cNvPicPr>
            <a:picLocks noChangeAspect="1"/>
          </p:cNvPicPr>
          <p:nvPr/>
        </p:nvPicPr>
        <p:blipFill>
          <a:blip r:embed="rId3"/>
          <a:stretch>
            <a:fillRect/>
          </a:stretch>
        </p:blipFill>
        <p:spPr>
          <a:xfrm>
            <a:off x="1855624" y="4219240"/>
            <a:ext cx="2289652" cy="34106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IT Delivery Manager auprès de MOET HENNESSY (DSI), au sein de l'équipe IT Sales, Consumer &amp; Marketing. Le rôle inclut spécifiquement la mise en place de projets innovants, notamment l'Intelligence Artificielle (IA).</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IT DELIVERY MANAGER</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 Implémentation de modèles de Machine Learning (Python, Tensorflow) * Recherche de données en open data * Modélisation avec un Recurrent Neural Network * Développement web (Rust) * Création, administration et alimentation de la base de donnée (MySQL) * Analyse des besoins en données * Création du.</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PRESCIENCE, </a:t>
            </a:r>
            <a:r>
              <a:rPr sz="1100" b="0" i="1">
                <a:solidFill>
                  <a:srgbClr val="1A1A1A"/>
                </a:solidFill>
                <a:latin typeface="Verdana"/>
              </a:rPr>
              <a:t>RESPONSABLE DATA</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Objectif : Création de modèles de prédiction dans le but de prédire la qualité du bois en fonction de ses caractéristiques géographiques et dendrométriques •Récupération de données chez le client contenantles dimensions des bois ainsi que les risques auxquels ils sont soumis •Géolocalisation des bois via des parcelles •Sélectiondes modèles (arbres de.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MISSION INTERNE, </a:t>
            </a:r>
            <a:r>
              <a:rPr sz="1100" b="0" i="1">
                <a:solidFill>
                  <a:srgbClr val="1A1A1A"/>
                </a:solidFill>
                <a:latin typeface="Verdana"/>
              </a:rPr>
              <a:t>CHEF DE PROJET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Responsable Solutions Data auprès. Square Management a également réalisé l'évaluation des performances du modèle de classification (précision/rappel) et l'optimisation du traitement des triplons par des méthodes de théorie des graphes.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BDDF/DIR/DAT, </a:t>
            </a:r>
            <a:r>
              <a:rPr sz="1100" b="0" i="1">
                <a:solidFill>
                  <a:srgbClr val="1A1A1A"/>
                </a:solidFill>
                <a:latin typeface="Verdana"/>
              </a:rPr>
              <a:t>RESPONSABLE SOLUTIONS DATA</a:t>
            </a:r>
          </a:p>
        </p:txBody>
      </p:sp>
      <p:sp>
        <p:nvSpPr>
          <p:cNvPr id="11" name="Text Placeholder 10"/>
          <p:cNvSpPr>
            <a:spLocks noGrp="1"/>
          </p:cNvSpPr>
          <p:nvPr>
            <p:ph type="body" idx="13"/>
          </p:nvPr>
        </p:nvSpPr>
        <p:spPr/>
        <p:txBody>
          <a:bodyPr wrap="square" anchor="ctr"/>
          <a:lstStyle/>
          <a:p>
            <a:pPr algn="ctr" indent="0" marL="0"/>
            <a:r>
              <a:rPr sz="1400" b="1" i="0">
                <a:solidFill>
                  <a:srgbClr val="1A1A1A"/>
                </a:solidFill>
                <a:latin typeface="Verdana"/>
              </a:rPr>
              <a:t>Prescience</a:t>
            </a:r>
          </a:p>
        </p:txBody>
      </p:sp>
      <p:sp>
        <p:nvSpPr>
          <p:cNvPr id="14" name="Title 13"/>
          <p:cNvSpPr>
            <a:spLocks noGrp="1"/>
          </p:cNvSpPr>
          <p:nvPr>
            <p:ph type="title"/>
          </p:nvPr>
        </p:nvSpPr>
        <p:spPr/>
        <p:txBody>
          <a:bodyPr/>
          <a:lstStyle/>
          <a:p>
            <a:r>
              <a:t>Références IA : Stratégie IT (12/16)</a:t>
            </a:r>
          </a:p>
        </p:txBody>
      </p:sp>
      <p:pic>
        <p:nvPicPr>
          <p:cNvPr id="15" name="Picture 14" descr="moet_hennessy.png"/>
          <p:cNvPicPr>
            <a:picLocks noChangeAspect="1"/>
          </p:cNvPicPr>
          <p:nvPr/>
        </p:nvPicPr>
        <p:blipFill>
          <a:blip r:embed="rId2"/>
          <a:stretch>
            <a:fillRect/>
          </a:stretch>
        </p:blipFill>
        <p:spPr>
          <a:xfrm>
            <a:off x="1855624" y="1485787"/>
            <a:ext cx="2289652" cy="383915"/>
          </a:xfrm>
          <a:prstGeom prst="rect">
            <a:avLst/>
          </a:prstGeom>
        </p:spPr>
      </p:pic>
      <p:pic>
        <p:nvPicPr>
          <p:cNvPr id="16" name="Picture 15" descr="onf.png"/>
          <p:cNvPicPr>
            <a:picLocks noChangeAspect="1"/>
          </p:cNvPicPr>
          <p:nvPr/>
        </p:nvPicPr>
        <p:blipFill>
          <a:blip r:embed="rId3"/>
          <a:stretch>
            <a:fillRect/>
          </a:stretch>
        </p:blipFill>
        <p:spPr>
          <a:xfrm>
            <a:off x="8045701" y="1275460"/>
            <a:ext cx="1664625" cy="804569"/>
          </a:xfrm>
          <a:prstGeom prst="rect">
            <a:avLst/>
          </a:prstGeom>
        </p:spPr>
      </p:pic>
      <p:pic>
        <p:nvPicPr>
          <p:cNvPr id="17" name="Picture 16" descr="societe_generale.png"/>
          <p:cNvPicPr>
            <a:picLocks noChangeAspect="1"/>
          </p:cNvPicPr>
          <p:nvPr/>
        </p:nvPicPr>
        <p:blipFill>
          <a:blip r:embed="rId4"/>
          <a:stretch>
            <a:fillRect/>
          </a:stretch>
        </p:blipFill>
        <p:spPr>
          <a:xfrm>
            <a:off x="7733188" y="4128608"/>
            <a:ext cx="2289652" cy="52232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 Développement d'un pipeline de modélisation à partir des différentes bases de données client (données de transactions, données d'alertes, données SAR, données KYC). - Création de la base d'entraînement du modèle, en adéquation avec les besoins métier (entité BRD), les sponsors du projet et les contraintes techniques (environnement big data)..</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DTO TRANSFER&amp;OPERATION/MOD MODÉLISATION, </a:t>
            </a:r>
            <a:r>
              <a:rPr sz="1000" b="0" i="1">
                <a:solidFill>
                  <a:srgbClr val="1A1A1A"/>
                </a:solidFill>
                <a:latin typeface="Verdana"/>
              </a:rPr>
              <a:t>DATA SCIENTIST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Dans le cadre de son rôle de Data Scientist, il contribue à la conception et à l’évolution des modèles de risque pour l’octroi de crédit, tout en assurant la coordination avec les équipes métiers et la mise en place de solutions innovantes.</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DATA - DATA SCIENCE RISQUE, </a:t>
            </a:r>
            <a:r>
              <a:rPr sz="10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Suivi d'une équipe de deux consultants pour le prototypage d'un modèle de machine learning (Random Forest) pour venir remplacer un modèle basé sur des règles (scénarios). Accompagnement sur la partie explicabilité des modèles pour contextualiser la sortie du modèle et permettre une utilisation optimisée par les équipes métiers.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COMPLIANCE, </a:t>
            </a:r>
            <a:r>
              <a:rPr sz="1100" b="0" i="1">
                <a:solidFill>
                  <a:srgbClr val="1A1A1A"/>
                </a:solidFill>
                <a:latin typeface="Verdana"/>
              </a:rPr>
              <a:t>MODÉLISATION</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auprès de la DSI de TDF, supportant le directeur de transformation BUA. Le rôle du PMO a inclus le pilotage d'initiatives stratégiques, notamment le déploiement de solutions d'IA sur mesure.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PMO</a:t>
            </a:r>
          </a:p>
        </p:txBody>
      </p:sp>
      <p:sp>
        <p:nvSpPr>
          <p:cNvPr id="14" name="Title 13"/>
          <p:cNvSpPr>
            <a:spLocks noGrp="1"/>
          </p:cNvSpPr>
          <p:nvPr>
            <p:ph type="title"/>
          </p:nvPr>
        </p:nvSpPr>
        <p:spPr/>
        <p:txBody>
          <a:bodyPr/>
          <a:lstStyle/>
          <a:p>
            <a:r>
              <a:t>Références IA : Stratégie IT (13/16)</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societe_generale.png"/>
          <p:cNvPicPr>
            <a:picLocks noChangeAspect="1"/>
          </p:cNvPicPr>
          <p:nvPr/>
        </p:nvPicPr>
        <p:blipFill>
          <a:blip r:embed="rId2"/>
          <a:stretch>
            <a:fillRect/>
          </a:stretch>
        </p:blipFill>
        <p:spPr>
          <a:xfrm>
            <a:off x="7733188" y="1416581"/>
            <a:ext cx="2289652" cy="522326"/>
          </a:xfrm>
          <a:prstGeom prst="rect">
            <a:avLst/>
          </a:prstGeom>
        </p:spPr>
      </p:pic>
      <p:pic>
        <p:nvPicPr>
          <p:cNvPr id="17" name="Picture 16" descr="societe_generale.png"/>
          <p:cNvPicPr>
            <a:picLocks noChangeAspect="1"/>
          </p:cNvPicPr>
          <p:nvPr/>
        </p:nvPicPr>
        <p:blipFill>
          <a:blip r:embed="rId2"/>
          <a:stretch>
            <a:fillRect/>
          </a:stretch>
        </p:blipFill>
        <p:spPr>
          <a:xfrm>
            <a:off x="1855624" y="4128608"/>
            <a:ext cx="2289652" cy="522326"/>
          </a:xfrm>
          <a:prstGeom prst="rect">
            <a:avLst/>
          </a:prstGeom>
        </p:spPr>
      </p:pic>
      <p:pic>
        <p:nvPicPr>
          <p:cNvPr id="18" name="Picture 17" descr="tdf.png"/>
          <p:cNvPicPr>
            <a:picLocks noChangeAspect="1"/>
          </p:cNvPicPr>
          <p:nvPr/>
        </p:nvPicPr>
        <p:blipFill>
          <a:blip r:embed="rId3"/>
          <a:stretch>
            <a:fillRect/>
          </a:stretch>
        </p:blipFill>
        <p:spPr>
          <a:xfrm>
            <a:off x="8513666" y="3987487"/>
            <a:ext cx="728696" cy="80456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Chercheur Post-doctoral au sein de la Chaire d’IA et neurosciences de l’Université de Bonn – Allemagne. La mission portait sur la planification contrainte dans l’urgence, visant à concilier les modèles d’optimisation algorithmiques classiques et les comportements réels des décideurs.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CHAIRE D’IA ET NEUROSCIENCES, </a:t>
            </a:r>
            <a:r>
              <a:rPr sz="1000" b="0" i="1">
                <a:solidFill>
                  <a:srgbClr val="1A1A1A"/>
                </a:solidFill>
                <a:latin typeface="Verdana"/>
              </a:rPr>
              <a:t>CHERCHEUR POST-DOCTORAL</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 Etat de l'art sur la détection d'anomalies dans les séries temporelles. * Exploration de l'approche bayésienne qui permet de quantifier l'incertitude du modèle dans sa prédiction. * Implémentation des solutions en Python. L'équipe pourra donc s'appuyer sur mon rapport et réutiliser mon code.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LAB COMPUTER SCIENCE &amp; AI, </a:t>
            </a:r>
            <a:r>
              <a:rPr sz="1100" b="0" i="1">
                <a:solidFill>
                  <a:srgbClr val="1A1A1A"/>
                </a:solidFill>
                <a:latin typeface="Verdana"/>
              </a:rPr>
              <a:t>APPRENTIE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Développement de modèles de prédiction : * Compréhension de la problématique * Développement des modèles de prédiction (Python : Clustering, Machine Learning) * Analyse des résultats * Mise en place de la solution Automatisation de reporting de performance de fonds : * Compréhension des problématique auprès des analystes * Développement.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REPORTING DATA, </a:t>
            </a:r>
            <a:r>
              <a:rPr sz="1100" b="0" i="1">
                <a:solidFill>
                  <a:srgbClr val="1A1A1A"/>
                </a:solidFill>
                <a:latin typeface="Verdana"/>
              </a:rPr>
              <a:t>DATA-SCIENTIST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Consultant data/Conseil en communication auprès de la Direction Marketing et Communication de FERRERO, dans. Le rôle a consisté à exploiter des outils d'Intelligence Artificielle développés en interne pour la collecte et l'analyse de données sémantiques.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MARKETING ET COMMUNICATION, </a:t>
            </a:r>
            <a:r>
              <a:rPr sz="1000" b="0" i="1">
                <a:solidFill>
                  <a:srgbClr val="1A1A1A"/>
                </a:solidFill>
                <a:latin typeface="Verdana"/>
              </a:rPr>
              <a:t>CONSULTANT DATA</a:t>
            </a:r>
          </a:p>
        </p:txBody>
      </p:sp>
      <p:sp>
        <p:nvSpPr>
          <p:cNvPr id="14" name="Title 13"/>
          <p:cNvSpPr>
            <a:spLocks noGrp="1"/>
          </p:cNvSpPr>
          <p:nvPr>
            <p:ph type="title"/>
          </p:nvPr>
        </p:nvSpPr>
        <p:spPr/>
        <p:txBody>
          <a:bodyPr/>
          <a:lstStyle/>
          <a:p>
            <a:r>
              <a:t>Références IA : Stratégie IT (14/16)</a:t>
            </a:r>
          </a:p>
        </p:txBody>
      </p:sp>
      <p:pic>
        <p:nvPicPr>
          <p:cNvPr id="15" name="Picture 14" descr="bonn.png"/>
          <p:cNvPicPr>
            <a:picLocks noChangeAspect="1"/>
          </p:cNvPicPr>
          <p:nvPr/>
        </p:nvPicPr>
        <p:blipFill>
          <a:blip r:embed="rId2"/>
          <a:stretch>
            <a:fillRect/>
          </a:stretch>
        </p:blipFill>
        <p:spPr>
          <a:xfrm>
            <a:off x="1962296" y="1275460"/>
            <a:ext cx="2076307" cy="804569"/>
          </a:xfrm>
          <a:prstGeom prst="rect">
            <a:avLst/>
          </a:prstGeom>
        </p:spPr>
      </p:pic>
      <p:pic>
        <p:nvPicPr>
          <p:cNvPr id="16" name="Picture 15" descr="bnp_paribas.png"/>
          <p:cNvPicPr>
            <a:picLocks noChangeAspect="1"/>
          </p:cNvPicPr>
          <p:nvPr/>
        </p:nvPicPr>
        <p:blipFill>
          <a:blip r:embed="rId3"/>
          <a:stretch>
            <a:fillRect/>
          </a:stretch>
        </p:blipFill>
        <p:spPr>
          <a:xfrm>
            <a:off x="7733188" y="1432425"/>
            <a:ext cx="2289652" cy="490639"/>
          </a:xfrm>
          <a:prstGeom prst="rect">
            <a:avLst/>
          </a:prstGeom>
        </p:spPr>
      </p:pic>
      <p:pic>
        <p:nvPicPr>
          <p:cNvPr id="17" name="Picture 16" descr="engie.png"/>
          <p:cNvPicPr>
            <a:picLocks noChangeAspect="1"/>
          </p:cNvPicPr>
          <p:nvPr/>
        </p:nvPicPr>
        <p:blipFill>
          <a:blip r:embed="rId4"/>
          <a:stretch>
            <a:fillRect/>
          </a:stretch>
        </p:blipFill>
        <p:spPr>
          <a:xfrm>
            <a:off x="1887502" y="3987487"/>
            <a:ext cx="2225896" cy="804569"/>
          </a:xfrm>
          <a:prstGeom prst="rect">
            <a:avLst/>
          </a:prstGeom>
        </p:spPr>
      </p:pic>
      <p:pic>
        <p:nvPicPr>
          <p:cNvPr id="18" name="Picture 17" descr="ferrero.png"/>
          <p:cNvPicPr>
            <a:picLocks noChangeAspect="1"/>
          </p:cNvPicPr>
          <p:nvPr/>
        </p:nvPicPr>
        <p:blipFill>
          <a:blip r:embed="rId5"/>
          <a:stretch>
            <a:fillRect/>
          </a:stretch>
        </p:blipFill>
        <p:spPr>
          <a:xfrm>
            <a:off x="7733188" y="4245476"/>
            <a:ext cx="2289652" cy="288591"/>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ACTIONS * Développements logiciels intégrés à une architecture distribuée de données massives (Clusters Hadoop HDFS, Hive, Spark) conduits en méthodologie agile sous la coordination des Product Owners et chefs de projets, en lien étroit avec la Direction Data du Groupe et les parties prenantes métiers * Versionning des projets (Git, BitBucket) * Requêtage.</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DATA BANQUES &amp; CAISSES, </a:t>
            </a:r>
            <a:r>
              <a:rPr sz="1000" b="0" i="1">
                <a:solidFill>
                  <a:srgbClr val="1A1A1A"/>
                </a:solidFill>
                <a:latin typeface="Verdana"/>
              </a:rPr>
              <a:t>DATA SCIENTIST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L'objectif de cette mission est d'optimiser les performances d'un algorithme de reconnaissance faciale développé par Idemia, et plus particulièrement, dans la capacité de l'algorithme à reconnaître une même identité sur plusieurs images différentes.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LABORATOIRE DE RECHERCHE, </a:t>
            </a:r>
            <a:r>
              <a:rPr sz="11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ACTIONS * Audits et revues de code, analyses statiques, dynamiques et profilages des traitements * Évaluation de la complétude fonctionnelle des projets, des défauts de conception (non-respect des normes et bonnes pratiques, comportements erratiques du code), des modélisations (choix des modèles, fuites de données) * Sensibilisations aux.</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DATA BANQUES &amp; CAISSES, </a:t>
            </a:r>
            <a:r>
              <a:rPr sz="10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Solution développée : * Un outil acceptant des rapports d’expertise médicale au format pdf ou word, et livrant un rapport au format Excel contenant. * Analyse et labélisation de plus de 60 rapports d’expertise, puis configuration de l’IA et de la solution afin de satisfaire aux exigences du projet.</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SINISTRES, </a:t>
            </a:r>
            <a:r>
              <a:rPr sz="1100" b="0" i="1">
                <a:solidFill>
                  <a:srgbClr val="1A1A1A"/>
                </a:solidFill>
                <a:latin typeface="Verdana"/>
              </a:rPr>
              <a:t>BUSINESS ANALYST</a:t>
            </a:r>
          </a:p>
        </p:txBody>
      </p:sp>
      <p:sp>
        <p:nvSpPr>
          <p:cNvPr id="14" name="Title 13"/>
          <p:cNvSpPr>
            <a:spLocks noGrp="1"/>
          </p:cNvSpPr>
          <p:nvPr>
            <p:ph type="title"/>
          </p:nvPr>
        </p:nvSpPr>
        <p:spPr/>
        <p:txBody>
          <a:bodyPr/>
          <a:lstStyle/>
          <a:p>
            <a:r>
              <a:t>Références IA : Stratégie IT (15/16)</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bpce.png"/>
          <p:cNvPicPr>
            <a:picLocks noChangeAspect="1"/>
          </p:cNvPicPr>
          <p:nvPr/>
        </p:nvPicPr>
        <p:blipFill>
          <a:blip r:embed="rId2"/>
          <a:stretch>
            <a:fillRect/>
          </a:stretch>
        </p:blipFill>
        <p:spPr>
          <a:xfrm>
            <a:off x="7778702" y="1275460"/>
            <a:ext cx="2198624" cy="804569"/>
          </a:xfrm>
          <a:prstGeom prst="rect">
            <a:avLst/>
          </a:prstGeom>
        </p:spPr>
      </p:pic>
      <p:pic>
        <p:nvPicPr>
          <p:cNvPr id="17" name="Picture 16" descr="idemia.png"/>
          <p:cNvPicPr>
            <a:picLocks noChangeAspect="1"/>
          </p:cNvPicPr>
          <p:nvPr/>
        </p:nvPicPr>
        <p:blipFill>
          <a:blip r:embed="rId3"/>
          <a:stretch>
            <a:fillRect/>
          </a:stretch>
        </p:blipFill>
        <p:spPr>
          <a:xfrm>
            <a:off x="2537213" y="3987487"/>
            <a:ext cx="926473" cy="804569"/>
          </a:xfrm>
          <a:prstGeom prst="rect">
            <a:avLst/>
          </a:prstGeom>
        </p:spPr>
      </p:pic>
      <p:pic>
        <p:nvPicPr>
          <p:cNvPr id="18" name="Picture 17" descr="macif.png"/>
          <p:cNvPicPr>
            <a:picLocks noChangeAspect="1"/>
          </p:cNvPicPr>
          <p:nvPr/>
        </p:nvPicPr>
        <p:blipFill>
          <a:blip r:embed="rId4"/>
          <a:stretch>
            <a:fillRect/>
          </a:stretch>
        </p:blipFill>
        <p:spPr>
          <a:xfrm>
            <a:off x="8475730" y="3987487"/>
            <a:ext cx="804568" cy="80456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Clustering * Préparation de la base de données avec SAS (sur de gros volumes de données) * Clustering avec Python selon certaines variables * Analyse des clusterings et explicabilité des clusters Analyse et traitement de texte * Récupération des réponses à un questionnaire libre * Application de NLP sur ces données avec Python (WordCloud, ...) * Analyse de.</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ENQUÊTES PANELS, </a:t>
            </a:r>
            <a:r>
              <a:rPr sz="1000" b="0" i="1">
                <a:solidFill>
                  <a:srgbClr val="1A1A1A"/>
                </a:solidFill>
                <a:latin typeface="Verdana"/>
              </a:rPr>
              <a:t>DATA ANALYST / SCIENTIST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Compréhension/Fiabilisation/Enrichissement des bases de données (SAS, Python) : * Prise en main de l'environnement afférent et cartographie des bases de données et de leurs variables. * Extraction de bases Oracle. * Travail avec les équipes IT pour automatiser le tout sous batch.</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UNITÉ DATA, ENGAGEMENT, MARKETING &amp; STRATÉGIE, </a:t>
            </a:r>
            <a:r>
              <a:rPr sz="1000" b="0" i="1">
                <a:solidFill>
                  <a:srgbClr val="1A1A1A"/>
                </a:solidFill>
                <a:latin typeface="Verdana"/>
              </a:rPr>
              <a:t>DATA SCIENTIST</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 NLP pour les descriptions des produits proposés sur les sites webs de VE via Python (Keras, Tensorflow &amp; Hugging Face). KPI du trafic web (HeidiSQL, Python, Excel). Mise en place de modèles prédictifs pour le pôle commercial (Python, DataIku). Effectuer les rapports Qualité. Mise en place de modèles prédictifs pour le pôle commercial (Python, DataIku).</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DATA SCIENTIST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Data et IA au sein de BPCE, dans le cadre du programme d’accélération de la data et IA du groupe. Le consultant a joué le rôle de RTE (Release Train Engineer), a piloté le programme, suivi le delivery, et coordonné une équipe de PO Data et Datascientist.</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DATA ET IA, </a:t>
            </a:r>
            <a:r>
              <a:rPr sz="1100" b="0" i="1">
                <a:solidFill>
                  <a:srgbClr val="1A1A1A"/>
                </a:solidFill>
                <a:latin typeface="Verdana"/>
              </a:rPr>
              <a:t>PMO DATA ET IA</a:t>
            </a:r>
          </a:p>
        </p:txBody>
      </p:sp>
      <p:sp>
        <p:nvSpPr>
          <p:cNvPr id="14" name="Title 13"/>
          <p:cNvSpPr>
            <a:spLocks noGrp="1"/>
          </p:cNvSpPr>
          <p:nvPr>
            <p:ph type="title"/>
          </p:nvPr>
        </p:nvSpPr>
        <p:spPr/>
        <p:txBody>
          <a:bodyPr/>
          <a:lstStyle/>
          <a:p>
            <a:r>
              <a:t>Références IA : Stratégie IT (16/16)</a:t>
            </a:r>
          </a:p>
        </p:txBody>
      </p:sp>
      <p:pic>
        <p:nvPicPr>
          <p:cNvPr id="15" name="Picture 14" descr="mediametrie.png"/>
          <p:cNvPicPr>
            <a:picLocks noChangeAspect="1"/>
          </p:cNvPicPr>
          <p:nvPr/>
        </p:nvPicPr>
        <p:blipFill>
          <a:blip r:embed="rId2"/>
          <a:stretch>
            <a:fillRect/>
          </a:stretch>
        </p:blipFill>
        <p:spPr>
          <a:xfrm>
            <a:off x="2475187" y="1275460"/>
            <a:ext cx="1050525" cy="804569"/>
          </a:xfrm>
          <a:prstGeom prst="rect">
            <a:avLst/>
          </a:prstGeom>
        </p:spPr>
      </p:pic>
      <p:pic>
        <p:nvPicPr>
          <p:cNvPr id="16" name="Picture 15" descr="virtualexpo.png"/>
          <p:cNvPicPr>
            <a:picLocks noChangeAspect="1"/>
          </p:cNvPicPr>
          <p:nvPr/>
        </p:nvPicPr>
        <p:blipFill>
          <a:blip r:embed="rId3"/>
          <a:stretch>
            <a:fillRect/>
          </a:stretch>
        </p:blipFill>
        <p:spPr>
          <a:xfrm>
            <a:off x="8475729" y="1275460"/>
            <a:ext cx="804569" cy="804569"/>
          </a:xfrm>
          <a:prstGeom prst="rect">
            <a:avLst/>
          </a:prstGeom>
        </p:spPr>
      </p:pic>
      <p:pic>
        <p:nvPicPr>
          <p:cNvPr id="17" name="Picture 16" descr="allianz.png"/>
          <p:cNvPicPr>
            <a:picLocks noChangeAspect="1"/>
          </p:cNvPicPr>
          <p:nvPr/>
        </p:nvPicPr>
        <p:blipFill>
          <a:blip r:embed="rId4"/>
          <a:stretch>
            <a:fillRect/>
          </a:stretch>
        </p:blipFill>
        <p:spPr>
          <a:xfrm>
            <a:off x="1855624" y="4104758"/>
            <a:ext cx="2289652" cy="570027"/>
          </a:xfrm>
          <a:prstGeom prst="rect">
            <a:avLst/>
          </a:prstGeom>
        </p:spPr>
      </p:pic>
      <p:pic>
        <p:nvPicPr>
          <p:cNvPr id="18" name="Picture 17" descr="bpce.png"/>
          <p:cNvPicPr>
            <a:picLocks noChangeAspect="1"/>
          </p:cNvPicPr>
          <p:nvPr/>
        </p:nvPicPr>
        <p:blipFill>
          <a:blip r:embed="rId5"/>
          <a:stretch>
            <a:fillRect/>
          </a:stretch>
        </p:blipFill>
        <p:spPr>
          <a:xfrm>
            <a:off x="7778702" y="3987487"/>
            <a:ext cx="2198624" cy="80456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Lead expert sur le projet "LeadAI" d'Abilicor, visant à piloter la transformation digitale des organisations en combinant l'Intelligence Artificielle et l'expertise humaine, avec une approche centrée sur l'Agentic AI.</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TRANSFORMATION OFFICE, </a:t>
            </a:r>
            <a:r>
              <a:rPr sz="1100" b="0" i="1">
                <a:solidFill>
                  <a:srgbClr val="1A1A1A"/>
                </a:solidFill>
                <a:latin typeface="Verdana"/>
              </a:rPr>
              <a:t>LEAD EXPERT</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Project Manager auprès de CREDIT AGRICOLE CONSUMER FINANCE (Direction de l'innovation) pour structurer le programme transverse "AI Connect", socle d'orchestration et d'industrialisation des initiatives d'IA générative du groupe.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DE L'INNOVATION, </a:t>
            </a:r>
            <a:r>
              <a:rPr sz="1100" b="0" i="1">
                <a:solidFill>
                  <a:srgbClr val="1A1A1A"/>
                </a:solidFill>
                <a:latin typeface="Verdana"/>
              </a:rPr>
              <a:t>PROJECT MANAGER</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transverse sur le "Programme E-Facture" de CAL&amp;F, visant la mise en conformité réglementaire avec la directive européenne VIDA. Le rôle a inclus l'analyse de l'intégration des usages de l'Intelligence Artificielle (IA) dans les processus cibles et l'optimisation du processus Crédit-Bail via l'IA.</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DIRECTION DE LA TRANSFORMATION, </a:t>
            </a:r>
            <a:r>
              <a:rPr sz="900" b="0" i="1">
                <a:solidFill>
                  <a:srgbClr val="1A1A1A"/>
                </a:solidFill>
                <a:latin typeface="Verdana"/>
              </a:rPr>
              <a:t>CHEF DE PROJET TRANSVERSE, TRANSFORMATION RÉGLEMENTAIRE ET ORGANISATIONNELLE</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qu'Expert IA et conformité réglementaire chez CREDIT AGRICOLE LEASING AND FACTORING (CAL&amp;F) pour animer un atelier d'acculturation à l'Intelligence Artificielle et à l'IA Générative, dans le cadre de la stratégie de transformation numérique du client.</a:t>
            </a:r>
          </a:p>
        </p:txBody>
      </p:sp>
      <p:sp>
        <p:nvSpPr>
          <p:cNvPr id="9" name="Text Placeholder 8"/>
          <p:cNvSpPr>
            <a:spLocks noGrp="1"/>
          </p:cNvSpPr>
          <p:nvPr>
            <p:ph type="body" idx="8"/>
          </p:nvPr>
        </p:nvSpPr>
        <p:spPr/>
        <p:txBody>
          <a:bodyPr wrap="square"/>
          <a:lstStyle/>
          <a:p>
            <a:pPr algn="ctr" indent="0" marL="0"/>
            <a:r>
              <a:rPr sz="900" b="1" i="0">
                <a:solidFill>
                  <a:srgbClr val="1A1A1A"/>
                </a:solidFill>
                <a:latin typeface="Verdana"/>
              </a:rPr>
              <a:t>DIRECTION TRANSFORMATION ET DATA PERFORMANCE, </a:t>
            </a:r>
            <a:r>
              <a:rPr sz="900" b="0" i="1">
                <a:solidFill>
                  <a:srgbClr val="1A1A1A"/>
                </a:solidFill>
                <a:latin typeface="Verdana"/>
              </a:rPr>
              <a:t>EXPERT IA ET CONFORMITÉ RÉGLEMENTAIRE</a:t>
            </a:r>
          </a:p>
        </p:txBody>
      </p:sp>
      <p:sp>
        <p:nvSpPr>
          <p:cNvPr id="10" name="Text Placeholder 9"/>
          <p:cNvSpPr>
            <a:spLocks noGrp="1"/>
          </p:cNvSpPr>
          <p:nvPr>
            <p:ph type="body" idx="9"/>
          </p:nvPr>
        </p:nvSpPr>
        <p:spPr/>
        <p:txBody>
          <a:bodyPr wrap="square" anchor="ctr"/>
          <a:lstStyle/>
          <a:p>
            <a:pPr algn="ctr" indent="0" marL="0"/>
            <a:r>
              <a:rPr sz="1400" b="1" i="0">
                <a:solidFill>
                  <a:srgbClr val="1A1A1A"/>
                </a:solidFill>
                <a:latin typeface="Verdana"/>
              </a:rPr>
              <a:t>Abilicor</a:t>
            </a:r>
          </a:p>
        </p:txBody>
      </p:sp>
      <p:sp>
        <p:nvSpPr>
          <p:cNvPr id="14" name="Title 13"/>
          <p:cNvSpPr>
            <a:spLocks noGrp="1"/>
          </p:cNvSpPr>
          <p:nvPr>
            <p:ph type="title"/>
          </p:nvPr>
        </p:nvSpPr>
        <p:spPr/>
        <p:txBody>
          <a:bodyPr/>
          <a:lstStyle/>
          <a:p>
            <a:r>
              <a:t>Références IA : People &amp; Change (1/4)</a:t>
            </a:r>
          </a:p>
        </p:txBody>
      </p:sp>
      <p:pic>
        <p:nvPicPr>
          <p:cNvPr id="15" name="Picture 14" descr="credit_agricole.png"/>
          <p:cNvPicPr>
            <a:picLocks noChangeAspect="1"/>
          </p:cNvPicPr>
          <p:nvPr/>
        </p:nvPicPr>
        <p:blipFill>
          <a:blip r:embed="rId2"/>
          <a:stretch>
            <a:fillRect/>
          </a:stretch>
        </p:blipFill>
        <p:spPr>
          <a:xfrm>
            <a:off x="8300154" y="1275460"/>
            <a:ext cx="1155720" cy="804569"/>
          </a:xfrm>
          <a:prstGeom prst="rect">
            <a:avLst/>
          </a:prstGeom>
        </p:spPr>
      </p:pic>
      <p:pic>
        <p:nvPicPr>
          <p:cNvPr id="16" name="Picture 15" descr="credit_agricole.png"/>
          <p:cNvPicPr>
            <a:picLocks noChangeAspect="1"/>
          </p:cNvPicPr>
          <p:nvPr/>
        </p:nvPicPr>
        <p:blipFill>
          <a:blip r:embed="rId2"/>
          <a:stretch>
            <a:fillRect/>
          </a:stretch>
        </p:blipFill>
        <p:spPr>
          <a:xfrm>
            <a:off x="2422590" y="3987487"/>
            <a:ext cx="1155720" cy="804569"/>
          </a:xfrm>
          <a:prstGeom prst="rect">
            <a:avLst/>
          </a:prstGeom>
        </p:spPr>
      </p:pic>
      <p:pic>
        <p:nvPicPr>
          <p:cNvPr id="17" name="Picture 16" descr="credit_agricole.png"/>
          <p:cNvPicPr>
            <a:picLocks noChangeAspect="1"/>
          </p:cNvPicPr>
          <p:nvPr/>
        </p:nvPicPr>
        <p:blipFill>
          <a:blip r:embed="rId2"/>
          <a:stretch>
            <a:fillRect/>
          </a:stretch>
        </p:blipFill>
        <p:spPr>
          <a:xfrm>
            <a:off x="8300154" y="3987487"/>
            <a:ext cx="1155720" cy="8045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PMO au sein de la R&amp;I de L'OREAL pour soutenir activement la transformation digitale via le programme "Augmented Researchers". La mission consistait à piloter l'exécution de projets liés à la Data et à l'IA, notamment au sein du Stream E-Formulation.</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R&amp;I, </a:t>
            </a:r>
            <a:r>
              <a:rPr sz="1100" b="0" i="1">
                <a:solidFill>
                  <a:srgbClr val="1A1A1A"/>
                </a:solidFill>
                <a:latin typeface="Verdana"/>
              </a:rPr>
              <a:t>PMO</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la recherche IA auprès d'Ailancy AI pour le développement de leur offre IA, dans un contexte de création de la filiale IA du cabinet.</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SUIVI DE L’ADOPTION IA &amp; ML, </a:t>
            </a:r>
            <a:r>
              <a:rPr sz="1000" b="0" i="1">
                <a:solidFill>
                  <a:srgbClr val="1A1A1A"/>
                </a:solidFill>
                <a:latin typeface="Verdana"/>
              </a:rPr>
              <a:t>CHEF DE LA RECHERCHE IA</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Chef de projet au sein de la Direction de la Transformation de NATIXIS IM OS, une entité nouvellement constituée réorganisant le suivi de son portefeuille de projets. Cela a permis d'intégrer les initiatives IA dans le Project Portfolio Management (PPM) global.</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TRANSFORMATION, </a:t>
            </a:r>
            <a:r>
              <a:rPr sz="1100" b="0" i="1">
                <a:solidFill>
                  <a:srgbClr val="1A1A1A"/>
                </a:solidFill>
                <a:latin typeface="Verdana"/>
              </a:rPr>
              <a:t>CHEF DE PROJET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Chef de la recherche IA &amp; Animateur au sein de la nouvelle filiale IA d'Ailancy AI, dont la stratégie est axée sur la maîtrise technique des outils IA et le développement des compétences internes chez le client.</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FORMATION IA &amp; ML, </a:t>
            </a:r>
            <a:r>
              <a:rPr sz="1000" b="0" i="1">
                <a:solidFill>
                  <a:srgbClr val="1A1A1A"/>
                </a:solidFill>
                <a:latin typeface="Verdana"/>
              </a:rPr>
              <a:t>CHEF DE LA RECHERCHE IA &amp; ANIMATEUR</a:t>
            </a:r>
          </a:p>
        </p:txBody>
      </p:sp>
      <p:sp>
        <p:nvSpPr>
          <p:cNvPr id="14" name="Title 13"/>
          <p:cNvSpPr>
            <a:spLocks noGrp="1"/>
          </p:cNvSpPr>
          <p:nvPr>
            <p:ph type="title"/>
          </p:nvPr>
        </p:nvSpPr>
        <p:spPr/>
        <p:txBody>
          <a:bodyPr/>
          <a:lstStyle/>
          <a:p>
            <a:r>
              <a:t>Références IA : People &amp; Change (2/4)</a:t>
            </a:r>
          </a:p>
        </p:txBody>
      </p:sp>
      <p:pic>
        <p:nvPicPr>
          <p:cNvPr id="15" name="Picture 14" descr="loreal.png"/>
          <p:cNvPicPr>
            <a:picLocks noChangeAspect="1"/>
          </p:cNvPicPr>
          <p:nvPr/>
        </p:nvPicPr>
        <p:blipFill>
          <a:blip r:embed="rId2"/>
          <a:stretch>
            <a:fillRect/>
          </a:stretch>
        </p:blipFill>
        <p:spPr>
          <a:xfrm>
            <a:off x="1855624" y="1470245"/>
            <a:ext cx="2289652" cy="414999"/>
          </a:xfrm>
          <a:prstGeom prst="rect">
            <a:avLst/>
          </a:prstGeom>
        </p:spPr>
      </p:pic>
      <p:pic>
        <p:nvPicPr>
          <p:cNvPr id="16" name="Picture 15" descr="natixis.png"/>
          <p:cNvPicPr>
            <a:picLocks noChangeAspect="1"/>
          </p:cNvPicPr>
          <p:nvPr/>
        </p:nvPicPr>
        <p:blipFill>
          <a:blip r:embed="rId3"/>
          <a:stretch>
            <a:fillRect/>
          </a:stretch>
        </p:blipFill>
        <p:spPr>
          <a:xfrm>
            <a:off x="7733188" y="1376274"/>
            <a:ext cx="2289652" cy="602941"/>
          </a:xfrm>
          <a:prstGeom prst="rect">
            <a:avLst/>
          </a:prstGeom>
        </p:spPr>
      </p:pic>
      <p:pic>
        <p:nvPicPr>
          <p:cNvPr id="17" name="Picture 16" descr="ailancy.png"/>
          <p:cNvPicPr>
            <a:picLocks noChangeAspect="1"/>
          </p:cNvPicPr>
          <p:nvPr/>
        </p:nvPicPr>
        <p:blipFill>
          <a:blip r:embed="rId4"/>
          <a:stretch>
            <a:fillRect/>
          </a:stretch>
        </p:blipFill>
        <p:spPr>
          <a:xfrm>
            <a:off x="1855624" y="4046047"/>
            <a:ext cx="2289652" cy="687449"/>
          </a:xfrm>
          <a:prstGeom prst="rect">
            <a:avLst/>
          </a:prstGeom>
        </p:spPr>
      </p:pic>
      <p:pic>
        <p:nvPicPr>
          <p:cNvPr id="18" name="Picture 17" descr="ailancy.png"/>
          <p:cNvPicPr>
            <a:picLocks noChangeAspect="1"/>
          </p:cNvPicPr>
          <p:nvPr/>
        </p:nvPicPr>
        <p:blipFill>
          <a:blip r:embed="rId4"/>
          <a:stretch>
            <a:fillRect/>
          </a:stretch>
        </p:blipFill>
        <p:spPr>
          <a:xfrm>
            <a:off x="7733188" y="4046047"/>
            <a:ext cx="2289652" cy="68744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BPCE (RH GROUPE). La mission était une conférence et acculturation sur l'apport des LLM et de l'IA Générative pour les responsables RH du groupe. L'objectif était de sensibiliser et de former les responsables RH du groupe BPCE sur ces nouvelles technologies.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RH GROUPE, </a:t>
            </a:r>
            <a:r>
              <a:rPr sz="1000" b="0" i="1">
                <a:solidFill>
                  <a:srgbClr val="1A1A1A"/>
                </a:solidFill>
                <a:latin typeface="Verdana"/>
              </a:rPr>
              <a:t>SPEAKER IA &amp; MANAGEMENT DE  L'INNOVATION</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PMO / Programme Manager au. L'accent a été mis sur l'intégration de l'IA, notamment par l'accompagnement de l'équipe Data sur les couches d'ontologie et le pilotage d'expérimentations en IA générative avec des partenaires externes.</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GLOBAL SRCM -  SAFETY, REGULATORY &amp; CLAIMS AFFAIRS AND MICROBIOLOGY, </a:t>
            </a:r>
            <a:r>
              <a:rPr sz="900" b="0" i="1">
                <a:solidFill>
                  <a:srgbClr val="1A1A1A"/>
                </a:solidFill>
                <a:latin typeface="Verdana"/>
              </a:rPr>
              <a:t>PMO / PROGRAMME MANAGER</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Directrice Conduite du Changement auprès de CREDIT AGRICOLE LEASING AND FACTORING (CAL&amp;F) dans le cadre du programme. Le contexte est l'évolution technologique (IA/digitalisation) et les besoins d'automatisation, nécessitant un contrôle des charges pour investir dans des projets de croissance.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DE LA TRANSFORMATION, </a:t>
            </a:r>
            <a:r>
              <a:rPr sz="1000" b="0" i="1">
                <a:solidFill>
                  <a:srgbClr val="1A1A1A"/>
                </a:solidFill>
                <a:latin typeface="Verdana"/>
              </a:rPr>
              <a:t>DIRECTRICE CONDUITE DU CHANGEMENT</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Conseil en Innovation &amp; IA au sein du Secrétariat Général de Société Générale (SG/SEGL), pour structurer l'IA Office. La mission a consisté à établir un cadre de gouvernance et un processus d'expérimentation pour l'industrialisation des projets 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SEGL, </a:t>
            </a:r>
            <a:r>
              <a:rPr sz="1100" b="0" i="1">
                <a:solidFill>
                  <a:srgbClr val="1A1A1A"/>
                </a:solidFill>
                <a:latin typeface="Verdana"/>
              </a:rPr>
              <a:t>CONSEIL EN INNOVATION &amp; IA</a:t>
            </a:r>
          </a:p>
        </p:txBody>
      </p:sp>
      <p:sp>
        <p:nvSpPr>
          <p:cNvPr id="14" name="Title 13"/>
          <p:cNvSpPr>
            <a:spLocks noGrp="1"/>
          </p:cNvSpPr>
          <p:nvPr>
            <p:ph type="title"/>
          </p:nvPr>
        </p:nvSpPr>
        <p:spPr/>
        <p:txBody>
          <a:bodyPr/>
          <a:lstStyle/>
          <a:p>
            <a:r>
              <a:t>Références IA : People &amp; Change (3/4)</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credit_agricole.png"/>
          <p:cNvPicPr>
            <a:picLocks noChangeAspect="1"/>
          </p:cNvPicPr>
          <p:nvPr/>
        </p:nvPicPr>
        <p:blipFill>
          <a:blip r:embed="rId3"/>
          <a:stretch>
            <a:fillRect/>
          </a:stretch>
        </p:blipFill>
        <p:spPr>
          <a:xfrm>
            <a:off x="8300154" y="1275460"/>
            <a:ext cx="1155720" cy="804569"/>
          </a:xfrm>
          <a:prstGeom prst="rect">
            <a:avLst/>
          </a:prstGeom>
        </p:spPr>
      </p:pic>
      <p:pic>
        <p:nvPicPr>
          <p:cNvPr id="17" name="Picture 16" descr="loreal.png"/>
          <p:cNvPicPr>
            <a:picLocks noChangeAspect="1"/>
          </p:cNvPicPr>
          <p:nvPr/>
        </p:nvPicPr>
        <p:blipFill>
          <a:blip r:embed="rId4"/>
          <a:stretch>
            <a:fillRect/>
          </a:stretch>
        </p:blipFill>
        <p:spPr>
          <a:xfrm>
            <a:off x="1855624" y="4182272"/>
            <a:ext cx="2289652" cy="414999"/>
          </a:xfrm>
          <a:prstGeom prst="rect">
            <a:avLst/>
          </a:prstGeom>
        </p:spPr>
      </p:pic>
      <p:pic>
        <p:nvPicPr>
          <p:cNvPr id="18" name="Picture 17" descr="societe_generale.png"/>
          <p:cNvPicPr>
            <a:picLocks noChangeAspect="1"/>
          </p:cNvPicPr>
          <p:nvPr/>
        </p:nvPicPr>
        <p:blipFill>
          <a:blip r:embed="rId5"/>
          <a:stretch>
            <a:fillRect/>
          </a:stretch>
        </p:blipFill>
        <p:spPr>
          <a:xfrm>
            <a:off x="7733188" y="4128608"/>
            <a:ext cx="2289652" cy="52232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626268"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RH GROUPE de BPCE pour animer une conférence d'acculturation sur les LLM et l’IA générative destinée à l’ensemble des responsables RH du groupe. La mission a consisté à présenter l'apport de l'IA générative et des LLM dans le métier des Ressources Humaines.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RH GROUPE, </a:t>
            </a:r>
            <a:r>
              <a:rPr sz="1000" b="0" i="1">
                <a:solidFill>
                  <a:srgbClr val="1A1A1A"/>
                </a:solidFill>
                <a:latin typeface="Verdana"/>
              </a:rPr>
              <a:t>SPEAKER IA &amp; MANAGEMENT DE  L'INNOVATION</a:t>
            </a:r>
          </a:p>
        </p:txBody>
      </p:sp>
      <p:sp>
        <p:nvSpPr>
          <p:cNvPr id="4" name="Text Placeholder 3"/>
          <p:cNvSpPr>
            <a:spLocks noGrp="1"/>
          </p:cNvSpPr>
          <p:nvPr>
            <p:ph type="body" idx="3"/>
          </p:nvPr>
        </p:nvSpPr>
        <p:spPr>
          <a:xfrm>
            <a:off x="626268"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que Consultante auprès de CREDIT. Concernant l'IA, la mission comprenait la conduite d'ateliers d'idéation sur les thématiques prospectives, notamment la DATA/IA, afin d'élaborer des recommandations stratégiques pour accélérer la transformation digitale.</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DIRECTION DE LA TRANSFORMATION DIGITALE ET DE L'INNOVATION, </a:t>
            </a:r>
            <a:r>
              <a:rPr sz="900" b="0" i="1">
                <a:solidFill>
                  <a:srgbClr val="1A1A1A"/>
                </a:solidFill>
                <a:latin typeface="Verdana"/>
              </a:rPr>
              <a:t>CONSULTANTE</a:t>
            </a:r>
          </a:p>
        </p:txBody>
      </p:sp>
      <p:sp>
        <p:nvSpPr>
          <p:cNvPr id="6" name="Text Placeholder 5"/>
          <p:cNvSpPr>
            <a:spLocks noGrp="1"/>
          </p:cNvSpPr>
          <p:nvPr>
            <p:ph type="body" idx="5"/>
          </p:nvPr>
        </p:nvSpPr>
        <p:spPr>
          <a:xfrm>
            <a:off x="6503832" y="2584723"/>
            <a:ext cx="4748371" cy="960120"/>
          </a:xfrm>
        </p:spPr>
        <p:txBody>
          <a:bodyPr wrap="square"/>
          <a:lstStyle/>
          <a:p>
            <a:pPr algn="just" indent="0" marL="0">
              <a:lnSpc>
                <a:spcPct val="105000"/>
              </a:lnSpc>
            </a:pPr>
            <a:r>
              <a:rPr sz="950" b="0" i="0">
                <a:solidFill>
                  <a:srgbClr val="404041"/>
                </a:solidFill>
                <a:latin typeface="Verdana"/>
              </a:rPr>
              <a:t>Square Management est intervenu en tant que PPO chez ALLIANZ, au sein de la Direction Indemnisation, pour l'implémentation française du projet international ITMP FNOL MOTOR. Le rôle de Square Management était de piloter l'intégration de fonctionnalités clés utilisant l'Intelligence Artificielle.</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DIRECTION INDEMNISATION SERVICE CLIENT /TRANSFORMATION OPÉRATIONNELLE, </a:t>
            </a:r>
            <a:r>
              <a:rPr sz="900" b="0" i="1">
                <a:solidFill>
                  <a:srgbClr val="1A1A1A"/>
                </a:solidFill>
                <a:latin typeface="Verdana"/>
              </a:rPr>
              <a:t>PPO</a:t>
            </a:r>
          </a:p>
        </p:txBody>
      </p:sp>
      <p:sp>
        <p:nvSpPr>
          <p:cNvPr id="8" name="Text Placeholder 7"/>
          <p:cNvSpPr>
            <a:spLocks noGrp="1"/>
          </p:cNvSpPr>
          <p:nvPr>
            <p:ph type="body" idx="7"/>
          </p:nvPr>
        </p:nvSpPr>
        <p:spPr>
          <a:xfrm>
            <a:off x="6503832" y="5284003"/>
            <a:ext cx="4748371" cy="868680"/>
          </a:xfrm>
        </p:spPr>
        <p:txBody>
          <a:bodyPr wrap="square"/>
          <a:lstStyle/>
          <a:p>
            <a:pPr algn="just" indent="0" marL="0">
              <a:lnSpc>
                <a:spcPct val="105000"/>
              </a:lnSpc>
            </a:pPr>
            <a:r>
              <a:rPr sz="950" b="0" i="0">
                <a:solidFill>
                  <a:srgbClr val="404041"/>
                </a:solidFill>
                <a:latin typeface="Verdana"/>
              </a:rPr>
              <a:t>Square Management est intervenu en tant qu'Animateur et enseignant auprès de Partenaires multiples (RH/centre de formation/ministères/events). Le consultant a eu à cœur de rendre ses expertises en IA, data et neurosciences intelligibles et abordables pour tous les profils.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RH/CENTRE DE FORMATION/MINISTÈRES/EVENTS, </a:t>
            </a:r>
            <a:r>
              <a:rPr sz="1000" b="0" i="1">
                <a:solidFill>
                  <a:srgbClr val="1A1A1A"/>
                </a:solidFill>
                <a:latin typeface="Verdana"/>
              </a:rPr>
              <a:t>ANIMATEUR ET ENSEIGNANT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Partenaires multiples</a:t>
            </a:r>
          </a:p>
        </p:txBody>
      </p:sp>
      <p:sp>
        <p:nvSpPr>
          <p:cNvPr id="14" name="Title 13"/>
          <p:cNvSpPr>
            <a:spLocks noGrp="1"/>
          </p:cNvSpPr>
          <p:nvPr>
            <p:ph type="title"/>
          </p:nvPr>
        </p:nvSpPr>
        <p:spPr/>
        <p:txBody>
          <a:bodyPr/>
          <a:lstStyle/>
          <a:p>
            <a:r>
              <a:t>Références IA : People &amp; Change (4/4)</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allianz.png"/>
          <p:cNvPicPr>
            <a:picLocks noChangeAspect="1"/>
          </p:cNvPicPr>
          <p:nvPr/>
        </p:nvPicPr>
        <p:blipFill>
          <a:blip r:embed="rId3"/>
          <a:stretch>
            <a:fillRect/>
          </a:stretch>
        </p:blipFill>
        <p:spPr>
          <a:xfrm>
            <a:off x="7733188" y="1392731"/>
            <a:ext cx="2289652" cy="570027"/>
          </a:xfrm>
          <a:prstGeom prst="rect">
            <a:avLst/>
          </a:prstGeom>
        </p:spPr>
      </p:pic>
      <p:pic>
        <p:nvPicPr>
          <p:cNvPr id="17" name="Picture 16" descr="credit_agricole.png"/>
          <p:cNvPicPr>
            <a:picLocks noChangeAspect="1"/>
          </p:cNvPicPr>
          <p:nvPr/>
        </p:nvPicPr>
        <p:blipFill>
          <a:blip r:embed="rId4"/>
          <a:stretch>
            <a:fillRect/>
          </a:stretch>
        </p:blipFill>
        <p:spPr>
          <a:xfrm>
            <a:off x="2422590" y="3987487"/>
            <a:ext cx="1155720" cy="804569"/>
          </a:xfrm>
          <a:prstGeom prst="rect">
            <a:avLst/>
          </a:prstGeom>
        </p:spPr>
      </p:pic>
    </p:spTree>
  </p:cSld>
  <p:clrMapOvr>
    <a:masterClrMapping/>
  </p:clrMapOvr>
</p:sld>
</file>

<file path=ppt/theme/theme1.xml><?xml version="1.0" encoding="utf-8"?>
<a:theme xmlns:a="http://schemas.openxmlformats.org/drawingml/2006/main" name="Thème Square_23">
  <a:themeElements>
    <a:clrScheme name="Square T2 _ 2020">
      <a:dk1>
        <a:srgbClr val="000000"/>
      </a:dk1>
      <a:lt1>
        <a:srgbClr val="FFFFFF"/>
      </a:lt1>
      <a:dk2>
        <a:srgbClr val="000000"/>
      </a:dk2>
      <a:lt2>
        <a:srgbClr val="BD8E42"/>
      </a:lt2>
      <a:accent1>
        <a:srgbClr val="404041"/>
      </a:accent1>
      <a:accent2>
        <a:srgbClr val="876B3A"/>
      </a:accent2>
      <a:accent3>
        <a:srgbClr val="807F7E"/>
      </a:accent3>
      <a:accent4>
        <a:srgbClr val="B58F4F"/>
      </a:accent4>
      <a:accent5>
        <a:srgbClr val="BEBFBF"/>
      </a:accent5>
      <a:accent6>
        <a:srgbClr val="D2BC9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1498</Words>
  <Application>Microsoft Office PowerPoint</Application>
  <PresentationFormat>Grand écran</PresentationFormat>
  <Paragraphs>63</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Merriweather Sans</vt:lpstr>
      <vt:lpstr>Noto Sans Symbols</vt:lpstr>
      <vt:lpstr>Verdana</vt:lpstr>
      <vt:lpstr>Thème Square_23</vt:lpstr>
      <vt:lpstr>05</vt:lpstr>
      <vt:lpstr>Nos références MGEN</vt:lpstr>
      <vt:lpstr>Nos références Groupe VYV</vt:lpstr>
      <vt:lpstr>Autres références missions AMOA Change (1/3)</vt:lpstr>
      <vt:lpstr>Autres références missions AMOA Change (2/3)</vt:lpstr>
      <vt:lpstr>Autres références missions AMOA Change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PRESTATION D’ASSISTANCE TECHNIQUE  ACCOMPAGNEMENT AU CHANGEMENT</dc:title>
  <dc:creator>pauline.goujard@square-management.com</dc:creator>
  <cp:lastModifiedBy>Mathilde Guillous</cp:lastModifiedBy>
  <cp:revision>31</cp:revision>
  <dcterms:created xsi:type="dcterms:W3CDTF">2023-04-12T10:08:46Z</dcterms:created>
  <dcterms:modified xsi:type="dcterms:W3CDTF">2026-06-30T09:02:56Z</dcterms:modified>
</cp:coreProperties>
</file>