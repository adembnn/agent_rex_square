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8"/>
  </p:notesMasterIdLst>
  <p:sldIdLst>
    <p:sldId id="303" r:id="rId2"/>
    <p:sldId id="304" r:id="rId3"/>
    <p:sldId id="305" r:id="rId4"/>
    <p:sldId id="306" r:id="rId5"/>
    <p:sldId id="307" r:id="rId6"/>
    <p:sldId id="308" r:id="rId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0" roundtripDataSignature="AMtx7mgiWhtLmM72IUdJ/Ib2n5V8STAQ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72"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74" Type="http://schemas.openxmlformats.org/officeDocument/2006/relationships/tableStyles" Target="tableStyles.xml"/><Relationship Id="rId5" Type="http://schemas.openxmlformats.org/officeDocument/2006/relationships/slide" Target="slides/slide4.xml"/><Relationship Id="rId73" Type="http://schemas.openxmlformats.org/officeDocument/2006/relationships/theme" Target="theme/theme1.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0"/>
        <p:cNvGrpSpPr/>
        <p:nvPr/>
      </p:nvGrpSpPr>
      <p:grpSpPr>
        <a:xfrm>
          <a:off x="0" y="0"/>
          <a:ext cx="0" cy="0"/>
          <a:chOff x="0" y="0"/>
          <a:chExt cx="0" cy="0"/>
        </a:xfrm>
      </p:grpSpPr>
      <p:sp>
        <p:nvSpPr>
          <p:cNvPr id="4071" name="Google Shape;4071;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2" name="Google Shape;407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6"/>
        <p:cNvGrpSpPr/>
        <p:nvPr/>
      </p:nvGrpSpPr>
      <p:grpSpPr>
        <a:xfrm>
          <a:off x="0" y="0"/>
          <a:ext cx="0" cy="0"/>
          <a:chOff x="0" y="0"/>
          <a:chExt cx="0" cy="0"/>
        </a:xfrm>
      </p:grpSpPr>
      <p:sp>
        <p:nvSpPr>
          <p:cNvPr id="4077" name="Google Shape;4077;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8" name="Google Shape;407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4"/>
        <p:cNvGrpSpPr/>
        <p:nvPr/>
      </p:nvGrpSpPr>
      <p:grpSpPr>
        <a:xfrm>
          <a:off x="0" y="0"/>
          <a:ext cx="0" cy="0"/>
          <a:chOff x="0" y="0"/>
          <a:chExt cx="0" cy="0"/>
        </a:xfrm>
      </p:grpSpPr>
      <p:sp>
        <p:nvSpPr>
          <p:cNvPr id="4095" name="Google Shape;409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6" name="Google Shape;409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1"/>
        <p:cNvGrpSpPr/>
        <p:nvPr/>
      </p:nvGrpSpPr>
      <p:grpSpPr>
        <a:xfrm>
          <a:off x="0" y="0"/>
          <a:ext cx="0" cy="0"/>
          <a:chOff x="0" y="0"/>
          <a:chExt cx="0" cy="0"/>
        </a:xfrm>
      </p:grpSpPr>
      <p:sp>
        <p:nvSpPr>
          <p:cNvPr id="4112" name="Google Shape;411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3" name="Google Shape;4113;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4114" name="Google Shape;4114;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9"/>
        <p:cNvGrpSpPr/>
        <p:nvPr/>
      </p:nvGrpSpPr>
      <p:grpSpPr>
        <a:xfrm>
          <a:off x="0" y="0"/>
          <a:ext cx="0" cy="0"/>
          <a:chOff x="0" y="0"/>
          <a:chExt cx="0" cy="0"/>
        </a:xfrm>
      </p:grpSpPr>
      <p:sp>
        <p:nvSpPr>
          <p:cNvPr id="4130" name="Google Shape;413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1" name="Google Shape;413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4132" name="Google Shape;413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7"/>
        <p:cNvGrpSpPr/>
        <p:nvPr/>
      </p:nvGrpSpPr>
      <p:grpSpPr>
        <a:xfrm>
          <a:off x="0" y="0"/>
          <a:ext cx="0" cy="0"/>
          <a:chOff x="0" y="0"/>
          <a:chExt cx="0" cy="0"/>
        </a:xfrm>
      </p:grpSpPr>
      <p:sp>
        <p:nvSpPr>
          <p:cNvPr id="4148" name="Google Shape;414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9" name="Google Shape;414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4150" name="Google Shape;4150;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fr-FR"/>
              <a:t>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Intercalaire Square" type="secHead">
  <p:cSld name="SECTION_HEADER">
    <p:bg>
      <p:bgPr>
        <a:solidFill>
          <a:schemeClr val="lt1"/>
        </a:solidFill>
        <a:effectLst/>
      </p:bgPr>
    </p:bg>
    <p:spTree>
      <p:nvGrpSpPr>
        <p:cNvPr id="1" name="Shape 46"/>
        <p:cNvGrpSpPr/>
        <p:nvPr/>
      </p:nvGrpSpPr>
      <p:grpSpPr>
        <a:xfrm>
          <a:off x="0" y="0"/>
          <a:ext cx="0" cy="0"/>
          <a:chOff x="0" y="0"/>
          <a:chExt cx="0" cy="0"/>
        </a:xfrm>
      </p:grpSpPr>
      <p:sp>
        <p:nvSpPr>
          <p:cNvPr id="47" name="Google Shape;47;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48" name="Google Shape;48;p63"/>
          <p:cNvSpPr txBox="1">
            <a:spLocks noGrp="1"/>
          </p:cNvSpPr>
          <p:nvPr>
            <p:ph type="title"/>
          </p:nvPr>
        </p:nvSpPr>
        <p:spPr>
          <a:xfrm>
            <a:off x="808520" y="2870476"/>
            <a:ext cx="6778687" cy="1548000"/>
          </a:xfrm>
          <a:prstGeom prst="rect">
            <a:avLst/>
          </a:prstGeom>
          <a:noFill/>
          <a:ln>
            <a:noFill/>
          </a:ln>
        </p:spPr>
        <p:txBody>
          <a:bodyPr spcFirstLastPara="1" wrap="square" lIns="0" tIns="45700" rIns="0" bIns="45700" anchor="ctr" anchorCtr="0">
            <a:noAutofit/>
          </a:bodyPr>
          <a:lstStyle>
            <a:lvl1pPr marR="0" lvl="0" algn="l" rtl="0">
              <a:lnSpc>
                <a:spcPct val="100000"/>
              </a:lnSpc>
              <a:spcBef>
                <a:spcPts val="0"/>
              </a:spcBef>
              <a:spcAft>
                <a:spcPts val="0"/>
              </a:spcAft>
              <a:buClr>
                <a:schemeClr val="lt1"/>
              </a:buClr>
              <a:buSzPts val="13500"/>
              <a:buFont typeface="Verdana"/>
              <a:buNone/>
              <a:defRPr sz="13500" b="0"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9" name="Google Shape;49;p63"/>
          <p:cNvSpPr txBox="1">
            <a:spLocks noGrp="1"/>
          </p:cNvSpPr>
          <p:nvPr>
            <p:ph type="body" idx="1"/>
          </p:nvPr>
        </p:nvSpPr>
        <p:spPr>
          <a:xfrm>
            <a:off x="808520" y="4418476"/>
            <a:ext cx="6778687" cy="15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3000"/>
              <a:buFont typeface="Noto Sans Symbols"/>
              <a:buNone/>
              <a:defRPr sz="3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rgbClr val="888888"/>
              </a:buClr>
              <a:buSzPts val="2000"/>
              <a:buFont typeface="Noto Sans Symbols"/>
              <a:buNone/>
              <a:defRPr sz="2000" b="0" i="0" u="none" strike="noStrike" cap="none">
                <a:solidFill>
                  <a:srgbClr val="888888"/>
                </a:solidFill>
                <a:latin typeface="Verdana"/>
                <a:ea typeface="Verdana"/>
                <a:cs typeface="Verdana"/>
                <a:sym typeface="Verdana"/>
              </a:defRPr>
            </a:lvl2pPr>
            <a:lvl3pPr marL="1371600" marR="0" lvl="2" indent="-228600" algn="just" rtl="0">
              <a:lnSpc>
                <a:spcPct val="100000"/>
              </a:lnSpc>
              <a:spcBef>
                <a:spcPts val="800"/>
              </a:spcBef>
              <a:spcAft>
                <a:spcPts val="0"/>
              </a:spcAft>
              <a:buClr>
                <a:srgbClr val="888888"/>
              </a:buClr>
              <a:buSzPts val="1800"/>
              <a:buFont typeface="Noto Sans Symbols"/>
              <a:buNone/>
              <a:defRPr sz="1800" b="0" i="0" u="none" strike="noStrike" cap="none">
                <a:solidFill>
                  <a:srgbClr val="888888"/>
                </a:solidFill>
                <a:latin typeface="Verdana"/>
                <a:ea typeface="Verdana"/>
                <a:cs typeface="Verdana"/>
                <a:sym typeface="Verdana"/>
              </a:defRPr>
            </a:lvl3pPr>
            <a:lvl4pPr marL="1828800" marR="0" lvl="3" indent="-228600" algn="just" rtl="0">
              <a:lnSpc>
                <a:spcPct val="100000"/>
              </a:lnSpc>
              <a:spcBef>
                <a:spcPts val="500"/>
              </a:spcBef>
              <a:spcAft>
                <a:spcPts val="0"/>
              </a:spcAft>
              <a:buClr>
                <a:srgbClr val="888888"/>
              </a:buClr>
              <a:buSzPts val="1600"/>
              <a:buFont typeface="Merriweather Sans"/>
              <a:buNone/>
              <a:defRPr sz="1600" b="0" i="0" u="none" strike="noStrike" cap="none">
                <a:solidFill>
                  <a:srgbClr val="888888"/>
                </a:solidFill>
                <a:latin typeface="Verdana"/>
                <a:ea typeface="Verdana"/>
                <a:cs typeface="Verdana"/>
                <a:sym typeface="Verdana"/>
              </a:defRPr>
            </a:lvl4pPr>
            <a:lvl5pPr marL="2286000" marR="0" lvl="4" indent="-228600" algn="just" rtl="0">
              <a:lnSpc>
                <a:spcPct val="10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5pPr>
            <a:lvl6pPr marL="2743200" marR="0" lvl="5"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6pPr>
            <a:lvl7pPr marL="3200400" marR="0" lvl="6" indent="-228600" algn="just"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Verdana"/>
                <a:ea typeface="Verdana"/>
                <a:cs typeface="Verdana"/>
                <a:sym typeface="Verdana"/>
              </a:defRPr>
            </a:lvl9pPr>
          </a:lstStyle>
          <a:p>
            <a:endParaRPr/>
          </a:p>
        </p:txBody>
      </p:sp>
      <p:pic>
        <p:nvPicPr>
          <p:cNvPr id="50" name="Google Shape;50;p63"/>
          <p:cNvPicPr preferRelativeResize="0"/>
          <p:nvPr/>
        </p:nvPicPr>
        <p:blipFill rotWithShape="1">
          <a:blip r:embed="rId2">
            <a:alphaModFix/>
          </a:blip>
          <a:srcRect/>
          <a:stretch/>
        </p:blipFill>
        <p:spPr>
          <a:xfrm>
            <a:off x="626267" y="6218301"/>
            <a:ext cx="344564" cy="344564"/>
          </a:xfrm>
          <a:prstGeom prst="rect">
            <a:avLst/>
          </a:prstGeom>
          <a:noFill/>
          <a:ln>
            <a:noFill/>
          </a:ln>
        </p:spPr>
      </p:pic>
      <p:sp>
        <p:nvSpPr>
          <p:cNvPr id="51" name="Google Shape;51;p63"/>
          <p:cNvSpPr/>
          <p:nvPr/>
        </p:nvSpPr>
        <p:spPr>
          <a:xfrm>
            <a:off x="180000" y="180000"/>
            <a:ext cx="11832000" cy="649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52" name="Google Shape;52;p63"/>
          <p:cNvPicPr preferRelativeResize="0"/>
          <p:nvPr/>
        </p:nvPicPr>
        <p:blipFill rotWithShape="1">
          <a:blip r:embed="rId2">
            <a:alphaModFix/>
          </a:blip>
          <a:srcRect/>
          <a:stretch/>
        </p:blipFill>
        <p:spPr>
          <a:xfrm>
            <a:off x="626267" y="6218301"/>
            <a:ext cx="344564" cy="34456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Références">
  <p:cSld name="1_Références">
    <p:spTree>
      <p:nvGrpSpPr>
        <p:cNvPr id="1" name="Shape 63"/>
        <p:cNvGrpSpPr/>
        <p:nvPr/>
      </p:nvGrpSpPr>
      <p:grpSpPr>
        <a:xfrm>
          <a:off x="0" y="0"/>
          <a:ext cx="0" cy="0"/>
          <a:chOff x="0" y="0"/>
          <a:chExt cx="0" cy="0"/>
        </a:xfrm>
      </p:grpSpPr>
      <p:sp>
        <p:nvSpPr>
          <p:cNvPr id="64" name="Google Shape;64;p138"/>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65" name="Google Shape;65;p138"/>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cxnSp>
        <p:nvCxnSpPr>
          <p:cNvPr id="66" name="Google Shape;66;p138"/>
          <p:cNvCxnSpPr/>
          <p:nvPr/>
        </p:nvCxnSpPr>
        <p:spPr>
          <a:xfrm>
            <a:off x="6096000" y="1349423"/>
            <a:ext cx="0" cy="4735920"/>
          </a:xfrm>
          <a:prstGeom prst="straightConnector1">
            <a:avLst/>
          </a:prstGeom>
          <a:noFill/>
          <a:ln w="25400" cap="flat" cmpd="sng">
            <a:solidFill>
              <a:srgbClr val="D8D8D8"/>
            </a:solidFill>
            <a:prstDash val="solid"/>
            <a:round/>
            <a:headEnd type="none" w="sm" len="sm"/>
            <a:tailEnd type="none" w="sm" len="sm"/>
          </a:ln>
        </p:spPr>
      </p:cxnSp>
      <p:cxnSp>
        <p:nvCxnSpPr>
          <p:cNvPr id="67" name="Google Shape;67;p138"/>
          <p:cNvCxnSpPr/>
          <p:nvPr/>
        </p:nvCxnSpPr>
        <p:spPr>
          <a:xfrm rot="10800000" flipH="1">
            <a:off x="626265" y="3595333"/>
            <a:ext cx="5064927" cy="21821"/>
          </a:xfrm>
          <a:prstGeom prst="straightConnector1">
            <a:avLst/>
          </a:prstGeom>
          <a:noFill/>
          <a:ln w="25400" cap="flat" cmpd="sng">
            <a:solidFill>
              <a:srgbClr val="D8D8D8"/>
            </a:solidFill>
            <a:prstDash val="solid"/>
            <a:round/>
            <a:headEnd type="none" w="sm" len="sm"/>
            <a:tailEnd type="none" w="sm" len="sm"/>
          </a:ln>
        </p:spPr>
      </p:cxnSp>
      <p:cxnSp>
        <p:nvCxnSpPr>
          <p:cNvPr id="68" name="Google Shape;68;p138"/>
          <p:cNvCxnSpPr/>
          <p:nvPr/>
        </p:nvCxnSpPr>
        <p:spPr>
          <a:xfrm rot="10800000" flipH="1">
            <a:off x="6519065" y="3595333"/>
            <a:ext cx="5064927" cy="21821"/>
          </a:xfrm>
          <a:prstGeom prst="straightConnector1">
            <a:avLst/>
          </a:prstGeom>
          <a:noFill/>
          <a:ln w="25400" cap="flat" cmpd="sng">
            <a:solidFill>
              <a:srgbClr val="D8D8D8"/>
            </a:solidFill>
            <a:prstDash val="solid"/>
            <a:round/>
            <a:headEnd type="none" w="sm" len="sm"/>
            <a:tailEnd type="none" w="sm" len="sm"/>
          </a:ln>
        </p:spPr>
      </p:cxnSp>
      <p:sp>
        <p:nvSpPr>
          <p:cNvPr id="69" name="Google Shape;69;p138"/>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0" name="Google Shape;70;p138"/>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1" name="Google Shape;71;p138"/>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2" name="Google Shape;72;p138"/>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3" name="Google Shape;73;p138"/>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l" rtl="0">
              <a:lnSpc>
                <a:spcPct val="100000"/>
              </a:lnSpc>
              <a:spcBef>
                <a:spcPts val="0"/>
              </a:spcBef>
              <a:spcAft>
                <a:spcPts val="0"/>
              </a:spcAft>
              <a:buClr>
                <a:srgbClr val="000000"/>
              </a:buClr>
              <a:buSzPts val="1000"/>
              <a:buFont typeface="Arial"/>
              <a:buNone/>
              <a:defRPr sz="10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0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4" name="Google Shape;74;p138"/>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200"/>
              <a:buFont typeface="Arial"/>
              <a:buNone/>
              <a:defRPr sz="12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2000"/>
              <a:buFont typeface="Arial"/>
              <a:buNone/>
              <a:defRPr sz="2000" b="1"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600"/>
              <a:buFont typeface="Arial"/>
              <a:buNone/>
              <a:defRPr sz="1600" b="1" i="0" u="none" strike="noStrike" cap="none">
                <a:solidFill>
                  <a:srgbClr val="000000"/>
                </a:solidFill>
                <a:latin typeface="Arial"/>
                <a:ea typeface="Arial"/>
                <a:cs typeface="Arial"/>
                <a:sym typeface="Arial"/>
              </a:defRPr>
            </a:lvl9pPr>
          </a:lstStyle>
          <a:p>
            <a:endParaRPr/>
          </a:p>
        </p:txBody>
      </p:sp>
      <p:sp>
        <p:nvSpPr>
          <p:cNvPr id="75" name="Google Shape;75;p138"/>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6" name="Google Shape;76;p138"/>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7" name="Google Shape;77;p138"/>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8" name="Google Shape;78;p138"/>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9" name="Google Shape;79;p138"/>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mmaire 1_ avec image">
  <p:cSld name="Sommaire 1_ avec image">
    <p:spTree>
      <p:nvGrpSpPr>
        <p:cNvPr id="1" name="Shape 115"/>
        <p:cNvGrpSpPr/>
        <p:nvPr/>
      </p:nvGrpSpPr>
      <p:grpSpPr>
        <a:xfrm>
          <a:off x="0" y="0"/>
          <a:ext cx="0" cy="0"/>
          <a:chOff x="0" y="0"/>
          <a:chExt cx="0" cy="0"/>
        </a:xfrm>
      </p:grpSpPr>
      <p:sp>
        <p:nvSpPr>
          <p:cNvPr id="116" name="Google Shape;116;p77"/>
          <p:cNvSpPr txBox="1">
            <a:spLocks noGrp="1"/>
          </p:cNvSpPr>
          <p:nvPr>
            <p:ph type="body" idx="1"/>
          </p:nvPr>
        </p:nvSpPr>
        <p:spPr>
          <a:xfrm>
            <a:off x="630238" y="1767149"/>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7" name="Google Shape;117;p77"/>
          <p:cNvSpPr txBox="1">
            <a:spLocks noGrp="1"/>
          </p:cNvSpPr>
          <p:nvPr>
            <p:ph type="body" idx="2"/>
          </p:nvPr>
        </p:nvSpPr>
        <p:spPr>
          <a:xfrm>
            <a:off x="1495424" y="1767150"/>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18" name="Google Shape;118;p77"/>
          <p:cNvSpPr txBox="1">
            <a:spLocks noGrp="1"/>
          </p:cNvSpPr>
          <p:nvPr>
            <p:ph type="body" idx="3"/>
          </p:nvPr>
        </p:nvSpPr>
        <p:spPr>
          <a:xfrm>
            <a:off x="630238" y="2415325"/>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19" name="Google Shape;119;p77"/>
          <p:cNvSpPr txBox="1">
            <a:spLocks noGrp="1"/>
          </p:cNvSpPr>
          <p:nvPr>
            <p:ph type="body" idx="4"/>
          </p:nvPr>
        </p:nvSpPr>
        <p:spPr>
          <a:xfrm>
            <a:off x="1495424" y="2415326"/>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0" name="Google Shape;120;p77"/>
          <p:cNvSpPr txBox="1">
            <a:spLocks noGrp="1"/>
          </p:cNvSpPr>
          <p:nvPr>
            <p:ph type="body" idx="5"/>
          </p:nvPr>
        </p:nvSpPr>
        <p:spPr>
          <a:xfrm>
            <a:off x="630238" y="3063501"/>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1" name="Google Shape;121;p77"/>
          <p:cNvSpPr txBox="1">
            <a:spLocks noGrp="1"/>
          </p:cNvSpPr>
          <p:nvPr>
            <p:ph type="body" idx="6"/>
          </p:nvPr>
        </p:nvSpPr>
        <p:spPr>
          <a:xfrm>
            <a:off x="1495424" y="3063502"/>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2" name="Google Shape;122;p77"/>
          <p:cNvSpPr txBox="1">
            <a:spLocks noGrp="1"/>
          </p:cNvSpPr>
          <p:nvPr>
            <p:ph type="body" idx="7"/>
          </p:nvPr>
        </p:nvSpPr>
        <p:spPr>
          <a:xfrm>
            <a:off x="630238" y="3711677"/>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3" name="Google Shape;123;p77"/>
          <p:cNvSpPr txBox="1">
            <a:spLocks noGrp="1"/>
          </p:cNvSpPr>
          <p:nvPr>
            <p:ph type="body" idx="8"/>
          </p:nvPr>
        </p:nvSpPr>
        <p:spPr>
          <a:xfrm>
            <a:off x="1495424" y="3711678"/>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4" name="Google Shape;124;p77"/>
          <p:cNvSpPr txBox="1">
            <a:spLocks noGrp="1"/>
          </p:cNvSpPr>
          <p:nvPr>
            <p:ph type="body" idx="9"/>
          </p:nvPr>
        </p:nvSpPr>
        <p:spPr>
          <a:xfrm>
            <a:off x="630238" y="4359853"/>
            <a:ext cx="865188" cy="567038"/>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5" name="Google Shape;125;p77"/>
          <p:cNvSpPr txBox="1">
            <a:spLocks noGrp="1"/>
          </p:cNvSpPr>
          <p:nvPr>
            <p:ph type="body" idx="13"/>
          </p:nvPr>
        </p:nvSpPr>
        <p:spPr>
          <a:xfrm>
            <a:off x="1495424" y="4359854"/>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6" name="Google Shape;126;p77"/>
          <p:cNvSpPr txBox="1">
            <a:spLocks noGrp="1"/>
          </p:cNvSpPr>
          <p:nvPr>
            <p:ph type="body" idx="14"/>
          </p:nvPr>
        </p:nvSpPr>
        <p:spPr>
          <a:xfrm>
            <a:off x="630238" y="5008029"/>
            <a:ext cx="865188" cy="56704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2800"/>
              <a:buFont typeface="Noto Sans Symbols"/>
              <a:buNone/>
              <a:defRPr sz="28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27" name="Google Shape;127;p77"/>
          <p:cNvSpPr txBox="1">
            <a:spLocks noGrp="1"/>
          </p:cNvSpPr>
          <p:nvPr>
            <p:ph type="body" idx="15"/>
          </p:nvPr>
        </p:nvSpPr>
        <p:spPr>
          <a:xfrm>
            <a:off x="1495424" y="5008031"/>
            <a:ext cx="4163971" cy="56703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8" name="Google Shape;128;p77"/>
          <p:cNvSpPr txBox="1">
            <a:spLocks noGrp="1"/>
          </p:cNvSpPr>
          <p:nvPr>
            <p:ph type="body" idx="16"/>
          </p:nvPr>
        </p:nvSpPr>
        <p:spPr>
          <a:xfrm>
            <a:off x="5659395" y="1767150"/>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29" name="Google Shape;129;p77"/>
          <p:cNvSpPr txBox="1">
            <a:spLocks noGrp="1"/>
          </p:cNvSpPr>
          <p:nvPr>
            <p:ph type="body" idx="17"/>
          </p:nvPr>
        </p:nvSpPr>
        <p:spPr>
          <a:xfrm>
            <a:off x="5659395" y="2415326"/>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0" name="Google Shape;130;p77"/>
          <p:cNvSpPr txBox="1">
            <a:spLocks noGrp="1"/>
          </p:cNvSpPr>
          <p:nvPr>
            <p:ph type="body" idx="18"/>
          </p:nvPr>
        </p:nvSpPr>
        <p:spPr>
          <a:xfrm>
            <a:off x="5659395" y="3063502"/>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1" name="Google Shape;131;p77"/>
          <p:cNvSpPr txBox="1">
            <a:spLocks noGrp="1"/>
          </p:cNvSpPr>
          <p:nvPr>
            <p:ph type="body" idx="19"/>
          </p:nvPr>
        </p:nvSpPr>
        <p:spPr>
          <a:xfrm>
            <a:off x="5659395" y="3711678"/>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2" name="Google Shape;132;p77"/>
          <p:cNvSpPr txBox="1">
            <a:spLocks noGrp="1"/>
          </p:cNvSpPr>
          <p:nvPr>
            <p:ph type="body" idx="20"/>
          </p:nvPr>
        </p:nvSpPr>
        <p:spPr>
          <a:xfrm>
            <a:off x="5659395" y="4359854"/>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3" name="Google Shape;133;p77"/>
          <p:cNvSpPr txBox="1">
            <a:spLocks noGrp="1"/>
          </p:cNvSpPr>
          <p:nvPr>
            <p:ph type="body" idx="21"/>
          </p:nvPr>
        </p:nvSpPr>
        <p:spPr>
          <a:xfrm>
            <a:off x="5659395" y="5008031"/>
            <a:ext cx="589339" cy="567037"/>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00000"/>
              </a:lnSpc>
              <a:spcBef>
                <a:spcPts val="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323850" algn="just" rtl="0">
              <a:lnSpc>
                <a:spcPct val="100000"/>
              </a:lnSpc>
              <a:spcBef>
                <a:spcPts val="11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2pPr>
            <a:lvl3pPr marL="1371600" marR="0" lvl="2" indent="-323850" algn="just" rtl="0">
              <a:lnSpc>
                <a:spcPct val="100000"/>
              </a:lnSpc>
              <a:spcBef>
                <a:spcPts val="800"/>
              </a:spcBef>
              <a:spcAft>
                <a:spcPts val="0"/>
              </a:spcAft>
              <a:buClr>
                <a:srgbClr val="00B050"/>
              </a:buClr>
              <a:buSzPts val="1500"/>
              <a:buFont typeface="Noto Sans Symbols"/>
              <a:buChar char="▪"/>
              <a:defRPr sz="1500" b="0" i="0" u="none" strike="noStrike" cap="none">
                <a:solidFill>
                  <a:srgbClr val="00B050"/>
                </a:solidFill>
                <a:latin typeface="Verdana"/>
                <a:ea typeface="Verdana"/>
                <a:cs typeface="Verdana"/>
                <a:sym typeface="Verdana"/>
              </a:defRPr>
            </a:lvl3pPr>
            <a:lvl4pPr marL="1828800" marR="0" lvl="3" indent="-323850" algn="just" rtl="0">
              <a:lnSpc>
                <a:spcPct val="100000"/>
              </a:lnSpc>
              <a:spcBef>
                <a:spcPts val="500"/>
              </a:spcBef>
              <a:spcAft>
                <a:spcPts val="0"/>
              </a:spcAft>
              <a:buClr>
                <a:srgbClr val="00B050"/>
              </a:buClr>
              <a:buSzPts val="1500"/>
              <a:buFont typeface="Merriweather Sans"/>
              <a:buChar char="▫"/>
              <a:defRPr sz="1500" b="0" i="0" u="none" strike="noStrike" cap="none">
                <a:solidFill>
                  <a:srgbClr val="00B050"/>
                </a:solidFill>
                <a:latin typeface="Verdana"/>
                <a:ea typeface="Verdana"/>
                <a:cs typeface="Verdana"/>
                <a:sym typeface="Verdana"/>
              </a:defRPr>
            </a:lvl4pPr>
            <a:lvl5pPr marL="2286000" marR="0" lvl="4" indent="-323850" algn="just" rtl="0">
              <a:lnSpc>
                <a:spcPct val="100000"/>
              </a:lnSpc>
              <a:spcBef>
                <a:spcPts val="500"/>
              </a:spcBef>
              <a:spcAft>
                <a:spcPts val="0"/>
              </a:spcAft>
              <a:buClr>
                <a:srgbClr val="00B050"/>
              </a:buClr>
              <a:buSzPts val="1500"/>
              <a:buFont typeface="Arial"/>
              <a:buChar char="-"/>
              <a:defRPr sz="1500" b="0" i="0" u="none" strike="noStrike" cap="none">
                <a:solidFill>
                  <a:srgbClr val="00B050"/>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4" name="Google Shape;134;p77"/>
          <p:cNvSpPr txBox="1">
            <a:spLocks noGrp="1"/>
          </p:cNvSpPr>
          <p:nvPr>
            <p:ph type="body" idx="22"/>
          </p:nvPr>
        </p:nvSpPr>
        <p:spPr>
          <a:xfrm>
            <a:off x="6524581" y="1737057"/>
            <a:ext cx="5081686" cy="3838012"/>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5" name="Google Shape;135;p77"/>
          <p:cNvSpPr txBox="1">
            <a:spLocks noGrp="1"/>
          </p:cNvSpPr>
          <p:nvPr>
            <p:ph type="title"/>
          </p:nvPr>
        </p:nvSpPr>
        <p:spPr>
          <a:xfrm>
            <a:off x="626267" y="563868"/>
            <a:ext cx="10980000" cy="53803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400"/>
              <a:buFont typeface="Verdana"/>
              <a:buNone/>
              <a:defRPr sz="24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re 2 lignes - Sous titre - Contenu 2 colonnes">
  <p:cSld name="2_Titre 2 lignes - Sous titre - Contenu 2 colonnes">
    <p:spTree>
      <p:nvGrpSpPr>
        <p:cNvPr id="1" name="Shape 136"/>
        <p:cNvGrpSpPr/>
        <p:nvPr/>
      </p:nvGrpSpPr>
      <p:grpSpPr>
        <a:xfrm>
          <a:off x="0" y="0"/>
          <a:ext cx="0" cy="0"/>
          <a:chOff x="0" y="0"/>
          <a:chExt cx="0" cy="0"/>
        </a:xfrm>
      </p:grpSpPr>
      <p:sp>
        <p:nvSpPr>
          <p:cNvPr id="137" name="Google Shape;137;p78"/>
          <p:cNvSpPr txBox="1">
            <a:spLocks noGrp="1"/>
          </p:cNvSpPr>
          <p:nvPr>
            <p:ph type="body" idx="1"/>
          </p:nvPr>
        </p:nvSpPr>
        <p:spPr>
          <a:xfrm>
            <a:off x="626269"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38" name="Google Shape;138;p78"/>
          <p:cNvSpPr txBox="1">
            <a:spLocks noGrp="1"/>
          </p:cNvSpPr>
          <p:nvPr>
            <p:ph type="body" idx="2"/>
          </p:nvPr>
        </p:nvSpPr>
        <p:spPr>
          <a:xfrm>
            <a:off x="626266" y="1461305"/>
            <a:ext cx="10980000" cy="3600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lt2"/>
              </a:buClr>
              <a:buSzPts val="1600"/>
              <a:buFont typeface="Noto Sans Symbols"/>
              <a:buNone/>
              <a:defRPr sz="1600" b="0" i="0" u="none" strike="noStrike" cap="none">
                <a:solidFill>
                  <a:schemeClr val="lt2"/>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39" name="Google Shape;139;p78"/>
          <p:cNvSpPr txBox="1">
            <a:spLocks noGrp="1"/>
          </p:cNvSpPr>
          <p:nvPr>
            <p:ph type="body" idx="3"/>
          </p:nvPr>
        </p:nvSpPr>
        <p:spPr>
          <a:xfrm>
            <a:off x="6206266" y="1972479"/>
            <a:ext cx="5400000" cy="3780000"/>
          </a:xfrm>
          <a:prstGeom prst="rect">
            <a:avLst/>
          </a:prstGeom>
          <a:noFill/>
          <a:ln>
            <a:noFill/>
          </a:ln>
        </p:spPr>
        <p:txBody>
          <a:bodyPr spcFirstLastPara="1" wrap="square" lIns="91425" tIns="45700" rIns="91425" bIns="45700" anchor="t" anchorCtr="0">
            <a:noAutofit/>
          </a:bodyPr>
          <a:lstStyle>
            <a:lvl1pPr marL="457200" marR="0" lvl="0" indent="-304800" algn="just" rtl="0">
              <a:lnSpc>
                <a:spcPct val="100000"/>
              </a:lnSpc>
              <a:spcBef>
                <a:spcPts val="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1pPr>
            <a:lvl2pPr marL="914400" marR="0" lvl="1" indent="-304800" algn="just" rtl="0">
              <a:lnSpc>
                <a:spcPct val="100000"/>
              </a:lnSpc>
              <a:spcBef>
                <a:spcPts val="1100"/>
              </a:spcBef>
              <a:spcAft>
                <a:spcPts val="0"/>
              </a:spcAft>
              <a:buClr>
                <a:schemeClr val="dk1"/>
              </a:buClr>
              <a:buSzPts val="1200"/>
              <a:buFont typeface="Noto Sans Symbols"/>
              <a:buChar char="▪"/>
              <a:defRPr sz="12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0" name="Google Shape;140;p78"/>
          <p:cNvSpPr txBox="1">
            <a:spLocks noGrp="1"/>
          </p:cNvSpPr>
          <p:nvPr>
            <p:ph type="title"/>
          </p:nvPr>
        </p:nvSpPr>
        <p:spPr>
          <a:xfrm>
            <a:off x="626267" y="561305"/>
            <a:ext cx="10980000" cy="90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éférences">
  <p:cSld name="Références">
    <p:spTree>
      <p:nvGrpSpPr>
        <p:cNvPr id="1" name="Shape 141"/>
        <p:cNvGrpSpPr/>
        <p:nvPr/>
      </p:nvGrpSpPr>
      <p:grpSpPr>
        <a:xfrm>
          <a:off x="0" y="0"/>
          <a:ext cx="0" cy="0"/>
          <a:chOff x="0" y="0"/>
          <a:chExt cx="0" cy="0"/>
        </a:xfrm>
      </p:grpSpPr>
      <p:sp>
        <p:nvSpPr>
          <p:cNvPr id="142" name="Google Shape;142;p79"/>
          <p:cNvSpPr txBox="1">
            <a:spLocks noGrp="1"/>
          </p:cNvSpPr>
          <p:nvPr>
            <p:ph type="body" idx="1"/>
          </p:nvPr>
        </p:nvSpPr>
        <p:spPr>
          <a:xfrm>
            <a:off x="626268"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3" name="Google Shape;143;p79"/>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144" name="Google Shape;144;p79"/>
          <p:cNvCxnSpPr/>
          <p:nvPr/>
        </p:nvCxnSpPr>
        <p:spPr>
          <a:xfrm>
            <a:off x="6096000" y="1349423"/>
            <a:ext cx="0" cy="4735920"/>
          </a:xfrm>
          <a:prstGeom prst="straightConnector1">
            <a:avLst/>
          </a:prstGeom>
          <a:noFill/>
          <a:ln w="25400" cap="flat" cmpd="sng">
            <a:solidFill>
              <a:srgbClr val="D8D8D8"/>
            </a:solidFill>
            <a:prstDash val="solid"/>
            <a:miter lim="800000"/>
            <a:headEnd type="none" w="sm" len="sm"/>
            <a:tailEnd type="none" w="sm" len="sm"/>
          </a:ln>
        </p:spPr>
      </p:cxnSp>
      <p:cxnSp>
        <p:nvCxnSpPr>
          <p:cNvPr id="145" name="Google Shape;145;p79"/>
          <p:cNvCxnSpPr/>
          <p:nvPr/>
        </p:nvCxnSpPr>
        <p:spPr>
          <a:xfrm rot="10800000" flipH="1">
            <a:off x="626265" y="3595333"/>
            <a:ext cx="5064927" cy="21821"/>
          </a:xfrm>
          <a:prstGeom prst="straightConnector1">
            <a:avLst/>
          </a:prstGeom>
          <a:noFill/>
          <a:ln w="25400" cap="flat" cmpd="sng">
            <a:solidFill>
              <a:srgbClr val="D8D8D8"/>
            </a:solidFill>
            <a:prstDash val="solid"/>
            <a:miter lim="800000"/>
            <a:headEnd type="none" w="sm" len="sm"/>
            <a:tailEnd type="none" w="sm" len="sm"/>
          </a:ln>
        </p:spPr>
      </p:cxnSp>
      <p:cxnSp>
        <p:nvCxnSpPr>
          <p:cNvPr id="146" name="Google Shape;146;p79"/>
          <p:cNvCxnSpPr/>
          <p:nvPr/>
        </p:nvCxnSpPr>
        <p:spPr>
          <a:xfrm rot="10800000" flipH="1">
            <a:off x="6519065" y="3595333"/>
            <a:ext cx="5064927" cy="21821"/>
          </a:xfrm>
          <a:prstGeom prst="straightConnector1">
            <a:avLst/>
          </a:prstGeom>
          <a:noFill/>
          <a:ln w="25400" cap="flat" cmpd="sng">
            <a:solidFill>
              <a:srgbClr val="D8D8D8"/>
            </a:solidFill>
            <a:prstDash val="solid"/>
            <a:miter lim="800000"/>
            <a:headEnd type="none" w="sm" len="sm"/>
            <a:tailEnd type="none" w="sm" len="sm"/>
          </a:ln>
        </p:spPr>
      </p:cxnSp>
      <p:sp>
        <p:nvSpPr>
          <p:cNvPr id="147" name="Google Shape;147;p79"/>
          <p:cNvSpPr txBox="1">
            <a:spLocks noGrp="1"/>
          </p:cNvSpPr>
          <p:nvPr>
            <p:ph type="body" idx="3"/>
          </p:nvPr>
        </p:nvSpPr>
        <p:spPr>
          <a:xfrm>
            <a:off x="626268"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48" name="Google Shape;148;p79"/>
          <p:cNvSpPr txBox="1">
            <a:spLocks noGrp="1"/>
          </p:cNvSpPr>
          <p:nvPr>
            <p:ph type="body" idx="4"/>
          </p:nvPr>
        </p:nvSpPr>
        <p:spPr>
          <a:xfrm>
            <a:off x="626265"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49" name="Google Shape;149;p79"/>
          <p:cNvSpPr txBox="1">
            <a:spLocks noGrp="1"/>
          </p:cNvSpPr>
          <p:nvPr>
            <p:ph type="body" idx="5"/>
          </p:nvPr>
        </p:nvSpPr>
        <p:spPr>
          <a:xfrm>
            <a:off x="6503832" y="258472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0" name="Google Shape;150;p79"/>
          <p:cNvSpPr txBox="1">
            <a:spLocks noGrp="1"/>
          </p:cNvSpPr>
          <p:nvPr>
            <p:ph type="body" idx="6"/>
          </p:nvPr>
        </p:nvSpPr>
        <p:spPr>
          <a:xfrm>
            <a:off x="6503829" y="230608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1" name="Google Shape;151;p79"/>
          <p:cNvSpPr txBox="1">
            <a:spLocks noGrp="1"/>
          </p:cNvSpPr>
          <p:nvPr>
            <p:ph type="body" idx="7"/>
          </p:nvPr>
        </p:nvSpPr>
        <p:spPr>
          <a:xfrm>
            <a:off x="6503832" y="5284003"/>
            <a:ext cx="4748371" cy="663835"/>
          </a:xfrm>
          <a:prstGeom prst="rect">
            <a:avLst/>
          </a:prstGeom>
          <a:noFill/>
          <a:ln>
            <a:noFill/>
          </a:ln>
        </p:spPr>
        <p:txBody>
          <a:bodyPr spcFirstLastPara="1" wrap="square" lIns="90000" tIns="45700" rIns="91425" bIns="45700" anchor="t" anchorCtr="0">
            <a:noAutofit/>
          </a:bodyPr>
          <a:lstStyle>
            <a:lvl1pPr marL="457200" marR="0" lvl="0" indent="-228600" algn="just"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Verdana"/>
                <a:ea typeface="Verdana"/>
                <a:cs typeface="Verdana"/>
                <a:sym typeface="Verdana"/>
              </a:defRPr>
            </a:lvl1pPr>
            <a:lvl2pPr marL="914400" marR="0" lvl="1" indent="-292100" algn="just" rtl="0">
              <a:lnSpc>
                <a:spcPct val="100000"/>
              </a:lnSpc>
              <a:spcBef>
                <a:spcPts val="11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2pPr>
            <a:lvl3pPr marL="1371600" marR="0" lvl="2" indent="-292100" algn="just" rtl="0">
              <a:lnSpc>
                <a:spcPct val="100000"/>
              </a:lnSpc>
              <a:spcBef>
                <a:spcPts val="800"/>
              </a:spcBef>
              <a:spcAft>
                <a:spcPts val="0"/>
              </a:spcAft>
              <a:buClr>
                <a:schemeClr val="dk1"/>
              </a:buClr>
              <a:buSzPts val="1000"/>
              <a:buFont typeface="Noto Sans Symbols"/>
              <a:buChar char="▪"/>
              <a:defRPr sz="1000" b="0" i="0" u="none" strike="noStrike" cap="none">
                <a:solidFill>
                  <a:schemeClr val="dk1"/>
                </a:solidFill>
                <a:latin typeface="Verdana"/>
                <a:ea typeface="Verdana"/>
                <a:cs typeface="Verdana"/>
                <a:sym typeface="Verdana"/>
              </a:defRPr>
            </a:lvl3pPr>
            <a:lvl4pPr marL="1828800" marR="0" lvl="3" indent="-292100" algn="just" rtl="0">
              <a:lnSpc>
                <a:spcPct val="100000"/>
              </a:lnSpc>
              <a:spcBef>
                <a:spcPts val="500"/>
              </a:spcBef>
              <a:spcAft>
                <a:spcPts val="0"/>
              </a:spcAft>
              <a:buClr>
                <a:schemeClr val="dk1"/>
              </a:buClr>
              <a:buSzPts val="1000"/>
              <a:buFont typeface="Merriweather Sans"/>
              <a:buChar char="▫"/>
              <a:defRPr sz="1000" b="0" i="0" u="none" strike="noStrike" cap="none">
                <a:solidFill>
                  <a:schemeClr val="dk1"/>
                </a:solidFill>
                <a:latin typeface="Verdana"/>
                <a:ea typeface="Verdana"/>
                <a:cs typeface="Verdana"/>
                <a:sym typeface="Verdana"/>
              </a:defRPr>
            </a:lvl4pPr>
            <a:lvl5pPr marL="2286000" marR="0" lvl="4" indent="-292100" algn="just" rtl="0">
              <a:lnSpc>
                <a:spcPct val="100000"/>
              </a:lnSpc>
              <a:spcBef>
                <a:spcPts val="500"/>
              </a:spcBef>
              <a:spcAft>
                <a:spcPts val="0"/>
              </a:spcAft>
              <a:buClr>
                <a:schemeClr val="dk1"/>
              </a:buClr>
              <a:buSzPts val="1000"/>
              <a:buFont typeface="Arial"/>
              <a:buChar char="-"/>
              <a:defRPr sz="10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2" name="Google Shape;152;p79"/>
          <p:cNvSpPr txBox="1">
            <a:spLocks noGrp="1"/>
          </p:cNvSpPr>
          <p:nvPr>
            <p:ph type="body" idx="8"/>
          </p:nvPr>
        </p:nvSpPr>
        <p:spPr>
          <a:xfrm>
            <a:off x="6503829" y="5005368"/>
            <a:ext cx="4748371" cy="278636"/>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Arial"/>
              <a:buNone/>
              <a:defRPr sz="12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53" name="Google Shape;153;p79"/>
          <p:cNvSpPr txBox="1">
            <a:spLocks noGrp="1"/>
          </p:cNvSpPr>
          <p:nvPr>
            <p:ph type="body" idx="9"/>
          </p:nvPr>
        </p:nvSpPr>
        <p:spPr>
          <a:xfrm>
            <a:off x="1855624"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4" name="Google Shape;154;p79"/>
          <p:cNvSpPr txBox="1">
            <a:spLocks noGrp="1"/>
          </p:cNvSpPr>
          <p:nvPr>
            <p:ph type="body" idx="13"/>
          </p:nvPr>
        </p:nvSpPr>
        <p:spPr>
          <a:xfrm>
            <a:off x="1855624"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5" name="Google Shape;155;p79"/>
          <p:cNvSpPr txBox="1">
            <a:spLocks noGrp="1"/>
          </p:cNvSpPr>
          <p:nvPr>
            <p:ph type="body" idx="14"/>
          </p:nvPr>
        </p:nvSpPr>
        <p:spPr>
          <a:xfrm>
            <a:off x="7733188" y="1275460"/>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6" name="Google Shape;156;p79"/>
          <p:cNvSpPr txBox="1">
            <a:spLocks noGrp="1"/>
          </p:cNvSpPr>
          <p:nvPr>
            <p:ph type="body" idx="15"/>
          </p:nvPr>
        </p:nvSpPr>
        <p:spPr>
          <a:xfrm>
            <a:off x="7733188" y="3987487"/>
            <a:ext cx="2289652" cy="80456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Verdana"/>
                <a:ea typeface="Verdana"/>
                <a:cs typeface="Verdana"/>
                <a:sym typeface="Verdana"/>
              </a:defRPr>
            </a:lvl1pPr>
            <a:lvl2pPr marL="914400" marR="0" lvl="1" indent="-317500" algn="just" rtl="0">
              <a:lnSpc>
                <a:spcPct val="100000"/>
              </a:lnSpc>
              <a:spcBef>
                <a:spcPts val="1100"/>
              </a:spcBef>
              <a:spcAft>
                <a:spcPts val="0"/>
              </a:spcAft>
              <a:buClr>
                <a:schemeClr val="dk1"/>
              </a:buClr>
              <a:buSzPts val="1400"/>
              <a:buFont typeface="Noto Sans Symbols"/>
              <a:buChar char="▪"/>
              <a:defRPr sz="1400" b="0" i="0" u="none" strike="noStrike" cap="none">
                <a:solidFill>
                  <a:schemeClr val="dk1"/>
                </a:solidFill>
                <a:latin typeface="Verdana"/>
                <a:ea typeface="Verdana"/>
                <a:cs typeface="Verdana"/>
                <a:sym typeface="Verdana"/>
              </a:defRPr>
            </a:lvl2pPr>
            <a:lvl3pPr marL="1371600" marR="0" lvl="2" indent="-298450" algn="just" rtl="0">
              <a:lnSpc>
                <a:spcPct val="100000"/>
              </a:lnSpc>
              <a:spcBef>
                <a:spcPts val="8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3pPr>
            <a:lvl4pPr marL="1828800" marR="0" lvl="3" indent="-298450" algn="just" rtl="0">
              <a:lnSpc>
                <a:spcPct val="100000"/>
              </a:lnSpc>
              <a:spcBef>
                <a:spcPts val="500"/>
              </a:spcBef>
              <a:spcAft>
                <a:spcPts val="0"/>
              </a:spcAft>
              <a:buClr>
                <a:schemeClr val="dk1"/>
              </a:buClr>
              <a:buSzPts val="1100"/>
              <a:buFont typeface="Merriweather Sans"/>
              <a:buChar char="▫"/>
              <a:defRPr sz="1100" b="0" i="0" u="none" strike="noStrike" cap="none">
                <a:solidFill>
                  <a:schemeClr val="dk1"/>
                </a:solidFill>
                <a:latin typeface="Verdana"/>
                <a:ea typeface="Verdana"/>
                <a:cs typeface="Verdana"/>
                <a:sym typeface="Verdana"/>
              </a:defRPr>
            </a:lvl4pPr>
            <a:lvl5pPr marL="2286000" marR="0" lvl="4" indent="-298450" algn="just" rtl="0">
              <a:lnSpc>
                <a:spcPct val="10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57" name="Google Shape;157;p79"/>
          <p:cNvSpPr txBox="1">
            <a:spLocks noGrp="1"/>
          </p:cNvSpPr>
          <p:nvPr>
            <p:ph type="title"/>
          </p:nvPr>
        </p:nvSpPr>
        <p:spPr>
          <a:xfrm>
            <a:off x="606000" y="563867"/>
            <a:ext cx="10980000" cy="540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2600"/>
              <a:buFont typeface="Verdana"/>
              <a:buNone/>
              <a:defRPr sz="26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DC Square_p.1">
  <p:cSld name="1_DC Square_p.1">
    <p:spTree>
      <p:nvGrpSpPr>
        <p:cNvPr id="1" name="Shape 158"/>
        <p:cNvGrpSpPr/>
        <p:nvPr/>
      </p:nvGrpSpPr>
      <p:grpSpPr>
        <a:xfrm>
          <a:off x="0" y="0"/>
          <a:ext cx="0" cy="0"/>
          <a:chOff x="0" y="0"/>
          <a:chExt cx="0" cy="0"/>
        </a:xfrm>
      </p:grpSpPr>
      <p:sp>
        <p:nvSpPr>
          <p:cNvPr id="159" name="Google Shape;159;p80"/>
          <p:cNvSpPr/>
          <p:nvPr/>
        </p:nvSpPr>
        <p:spPr>
          <a:xfrm>
            <a:off x="0"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pic>
        <p:nvPicPr>
          <p:cNvPr id="160" name="Google Shape;160;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61" name="Google Shape;161;p80"/>
          <p:cNvSpPr/>
          <p:nvPr/>
        </p:nvSpPr>
        <p:spPr>
          <a:xfrm>
            <a:off x="6080045" y="5605048"/>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PUBLICATIONS</a:t>
            </a:r>
            <a:endParaRPr sz="1400" b="0" i="0" u="none" strike="noStrike" cap="none">
              <a:solidFill>
                <a:srgbClr val="000000"/>
              </a:solidFill>
              <a:latin typeface="Arial"/>
              <a:ea typeface="Arial"/>
              <a:cs typeface="Arial"/>
              <a:sym typeface="Arial"/>
            </a:endParaRPr>
          </a:p>
        </p:txBody>
      </p:sp>
      <p:cxnSp>
        <p:nvCxnSpPr>
          <p:cNvPr id="162" name="Google Shape;162;p80"/>
          <p:cNvCxnSpPr/>
          <p:nvPr/>
        </p:nvCxnSpPr>
        <p:spPr>
          <a:xfrm>
            <a:off x="8796474" y="2539134"/>
            <a:ext cx="0" cy="2931533"/>
          </a:xfrm>
          <a:prstGeom prst="straightConnector1">
            <a:avLst/>
          </a:prstGeom>
          <a:noFill/>
          <a:ln w="25400" cap="flat" cmpd="sng">
            <a:solidFill>
              <a:srgbClr val="D8D8D8"/>
            </a:solidFill>
            <a:prstDash val="solid"/>
            <a:miter lim="800000"/>
            <a:headEnd type="none" w="sm" len="sm"/>
            <a:tailEnd type="none" w="sm" len="sm"/>
          </a:ln>
        </p:spPr>
      </p:cxnSp>
      <p:cxnSp>
        <p:nvCxnSpPr>
          <p:cNvPr id="163" name="Google Shape;163;p80"/>
          <p:cNvCxnSpPr/>
          <p:nvPr/>
        </p:nvCxnSpPr>
        <p:spPr>
          <a:xfrm>
            <a:off x="5942544" y="2539134"/>
            <a:ext cx="0" cy="4248081"/>
          </a:xfrm>
          <a:prstGeom prst="straightConnector1">
            <a:avLst/>
          </a:prstGeom>
          <a:noFill/>
          <a:ln w="25400" cap="flat" cmpd="sng">
            <a:solidFill>
              <a:srgbClr val="D8D8D8"/>
            </a:solidFill>
            <a:prstDash val="solid"/>
            <a:miter lim="800000"/>
            <a:headEnd type="none" w="sm" len="sm"/>
            <a:tailEnd type="none" w="sm" len="sm"/>
          </a:ln>
        </p:spPr>
      </p:cxnSp>
      <p:cxnSp>
        <p:nvCxnSpPr>
          <p:cNvPr id="164" name="Google Shape;164;p80"/>
          <p:cNvCxnSpPr/>
          <p:nvPr/>
        </p:nvCxnSpPr>
        <p:spPr>
          <a:xfrm>
            <a:off x="3246090" y="2342207"/>
            <a:ext cx="8412502" cy="0"/>
          </a:xfrm>
          <a:prstGeom prst="straightConnector1">
            <a:avLst/>
          </a:prstGeom>
          <a:noFill/>
          <a:ln w="25400" cap="flat" cmpd="sng">
            <a:solidFill>
              <a:srgbClr val="D8D8D8"/>
            </a:solidFill>
            <a:prstDash val="solid"/>
            <a:miter lim="800000"/>
            <a:headEnd type="none" w="sm" len="sm"/>
            <a:tailEnd type="none" w="sm" len="sm"/>
          </a:ln>
        </p:spPr>
      </p:cxnSp>
      <p:sp>
        <p:nvSpPr>
          <p:cNvPr id="165" name="Google Shape;165;p80"/>
          <p:cNvSpPr txBox="1">
            <a:spLocks noGrp="1"/>
          </p:cNvSpPr>
          <p:nvPr>
            <p:ph type="body" idx="1"/>
          </p:nvPr>
        </p:nvSpPr>
        <p:spPr>
          <a:xfrm>
            <a:off x="6080046" y="5905365"/>
            <a:ext cx="5578546" cy="775520"/>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6" name="Google Shape;166;p80"/>
          <p:cNvCxnSpPr/>
          <p:nvPr/>
        </p:nvCxnSpPr>
        <p:spPr>
          <a:xfrm>
            <a:off x="6197613" y="5828029"/>
            <a:ext cx="1352673" cy="0"/>
          </a:xfrm>
          <a:prstGeom prst="straightConnector1">
            <a:avLst/>
          </a:prstGeom>
          <a:noFill/>
          <a:ln w="25400" cap="flat" cmpd="sng">
            <a:solidFill>
              <a:schemeClr val="lt2"/>
            </a:solidFill>
            <a:prstDash val="solid"/>
            <a:miter lim="800000"/>
            <a:headEnd type="none" w="sm" len="sm"/>
            <a:tailEnd type="none" w="sm" len="sm"/>
          </a:ln>
        </p:spPr>
      </p:cxnSp>
      <p:sp>
        <p:nvSpPr>
          <p:cNvPr id="167" name="Google Shape;167;p80"/>
          <p:cNvSpPr txBox="1">
            <a:spLocks noGrp="1"/>
          </p:cNvSpPr>
          <p:nvPr>
            <p:ph type="body" idx="2"/>
          </p:nvPr>
        </p:nvSpPr>
        <p:spPr>
          <a:xfrm>
            <a:off x="8997555" y="4747901"/>
            <a:ext cx="2661037" cy="722766"/>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68" name="Google Shape;168;p80"/>
          <p:cNvCxnSpPr/>
          <p:nvPr/>
        </p:nvCxnSpPr>
        <p:spPr>
          <a:xfrm>
            <a:off x="9090429" y="4656013"/>
            <a:ext cx="825731" cy="0"/>
          </a:xfrm>
          <a:prstGeom prst="straightConnector1">
            <a:avLst/>
          </a:prstGeom>
          <a:noFill/>
          <a:ln w="25400" cap="flat" cmpd="sng">
            <a:solidFill>
              <a:schemeClr val="lt2"/>
            </a:solidFill>
            <a:prstDash val="solid"/>
            <a:miter lim="800000"/>
            <a:headEnd type="none" w="sm" len="sm"/>
            <a:tailEnd type="none" w="sm" len="sm"/>
          </a:ln>
        </p:spPr>
      </p:cxnSp>
      <p:sp>
        <p:nvSpPr>
          <p:cNvPr id="169" name="Google Shape;169;p80"/>
          <p:cNvSpPr/>
          <p:nvPr/>
        </p:nvSpPr>
        <p:spPr>
          <a:xfrm>
            <a:off x="8992053" y="4437492"/>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LANGUES</a:t>
            </a:r>
            <a:endParaRPr sz="1400" b="0" i="0" u="none" strike="noStrike" cap="none">
              <a:solidFill>
                <a:srgbClr val="000000"/>
              </a:solidFill>
              <a:latin typeface="Arial"/>
              <a:ea typeface="Arial"/>
              <a:cs typeface="Arial"/>
              <a:sym typeface="Arial"/>
            </a:endParaRPr>
          </a:p>
        </p:txBody>
      </p:sp>
      <p:sp>
        <p:nvSpPr>
          <p:cNvPr id="170" name="Google Shape;170;p80"/>
          <p:cNvSpPr txBox="1">
            <a:spLocks noGrp="1"/>
          </p:cNvSpPr>
          <p:nvPr>
            <p:ph type="body" idx="3"/>
          </p:nvPr>
        </p:nvSpPr>
        <p:spPr>
          <a:xfrm>
            <a:off x="8997555" y="2868150"/>
            <a:ext cx="2661037" cy="1028313"/>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1" name="Google Shape;171;p80"/>
          <p:cNvCxnSpPr/>
          <p:nvPr/>
        </p:nvCxnSpPr>
        <p:spPr>
          <a:xfrm>
            <a:off x="9090429" y="2761173"/>
            <a:ext cx="663171" cy="0"/>
          </a:xfrm>
          <a:prstGeom prst="straightConnector1">
            <a:avLst/>
          </a:prstGeom>
          <a:noFill/>
          <a:ln w="25400" cap="flat" cmpd="sng">
            <a:solidFill>
              <a:schemeClr val="lt2"/>
            </a:solidFill>
            <a:prstDash val="solid"/>
            <a:miter lim="800000"/>
            <a:headEnd type="none" w="sm" len="sm"/>
            <a:tailEnd type="none" w="sm" len="sm"/>
          </a:ln>
        </p:spPr>
      </p:cxnSp>
      <p:sp>
        <p:nvSpPr>
          <p:cNvPr id="172" name="Google Shape;172;p80"/>
          <p:cNvSpPr/>
          <p:nvPr/>
        </p:nvSpPr>
        <p:spPr>
          <a:xfrm>
            <a:off x="8992053"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OUTILS</a:t>
            </a:r>
            <a:endParaRPr sz="1400" b="0" i="0" u="none" strike="noStrike" cap="none">
              <a:solidFill>
                <a:srgbClr val="000000"/>
              </a:solidFill>
              <a:latin typeface="Arial"/>
              <a:ea typeface="Arial"/>
              <a:cs typeface="Arial"/>
              <a:sym typeface="Arial"/>
            </a:endParaRPr>
          </a:p>
        </p:txBody>
      </p:sp>
      <p:sp>
        <p:nvSpPr>
          <p:cNvPr id="173" name="Google Shape;173;p80"/>
          <p:cNvSpPr txBox="1">
            <a:spLocks noGrp="1"/>
          </p:cNvSpPr>
          <p:nvPr>
            <p:ph type="body" idx="4"/>
          </p:nvPr>
        </p:nvSpPr>
        <p:spPr>
          <a:xfrm>
            <a:off x="6075387" y="2863670"/>
            <a:ext cx="2541455" cy="2606997"/>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74" name="Google Shape;174;p80"/>
          <p:cNvCxnSpPr/>
          <p:nvPr/>
        </p:nvCxnSpPr>
        <p:spPr>
          <a:xfrm>
            <a:off x="6175781" y="2761173"/>
            <a:ext cx="1962379" cy="0"/>
          </a:xfrm>
          <a:prstGeom prst="straightConnector1">
            <a:avLst/>
          </a:prstGeom>
          <a:noFill/>
          <a:ln w="25400" cap="flat" cmpd="sng">
            <a:solidFill>
              <a:schemeClr val="lt2"/>
            </a:solidFill>
            <a:prstDash val="solid"/>
            <a:miter lim="800000"/>
            <a:headEnd type="none" w="sm" len="sm"/>
            <a:tailEnd type="none" w="sm" len="sm"/>
          </a:ln>
        </p:spPr>
      </p:cxnSp>
      <p:sp>
        <p:nvSpPr>
          <p:cNvPr id="175" name="Google Shape;175;p80"/>
          <p:cNvSpPr/>
          <p:nvPr/>
        </p:nvSpPr>
        <p:spPr>
          <a:xfrm>
            <a:off x="6075388"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SECTEURS / CLIENTS</a:t>
            </a:r>
            <a:endParaRPr sz="1400" b="0" i="0" u="none" strike="noStrike" cap="none">
              <a:solidFill>
                <a:srgbClr val="000000"/>
              </a:solidFill>
              <a:latin typeface="Arial"/>
              <a:ea typeface="Arial"/>
              <a:cs typeface="Arial"/>
              <a:sym typeface="Arial"/>
            </a:endParaRPr>
          </a:p>
        </p:txBody>
      </p:sp>
      <p:sp>
        <p:nvSpPr>
          <p:cNvPr id="176" name="Google Shape;176;p80"/>
          <p:cNvSpPr txBox="1">
            <a:spLocks noGrp="1"/>
          </p:cNvSpPr>
          <p:nvPr>
            <p:ph type="body" idx="5"/>
          </p:nvPr>
        </p:nvSpPr>
        <p:spPr>
          <a:xfrm>
            <a:off x="3128522" y="4717234"/>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7" name="Google Shape;177;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78" name="Google Shape;178;p80"/>
          <p:cNvSpPr txBox="1">
            <a:spLocks noGrp="1"/>
          </p:cNvSpPr>
          <p:nvPr>
            <p:ph type="body" idx="6"/>
          </p:nvPr>
        </p:nvSpPr>
        <p:spPr>
          <a:xfrm>
            <a:off x="3128522" y="3099398"/>
            <a:ext cx="2612932" cy="753433"/>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79" name="Google Shape;179;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cxnSp>
        <p:nvCxnSpPr>
          <p:cNvPr id="180" name="Google Shape;180;p80"/>
          <p:cNvCxnSpPr/>
          <p:nvPr/>
        </p:nvCxnSpPr>
        <p:spPr>
          <a:xfrm>
            <a:off x="3246090" y="2761173"/>
            <a:ext cx="1122710" cy="0"/>
          </a:xfrm>
          <a:prstGeom prst="straightConnector1">
            <a:avLst/>
          </a:prstGeom>
          <a:noFill/>
          <a:ln w="25400" cap="flat" cmpd="sng">
            <a:solidFill>
              <a:schemeClr val="lt2"/>
            </a:solidFill>
            <a:prstDash val="solid"/>
            <a:miter lim="800000"/>
            <a:headEnd type="none" w="sm" len="sm"/>
            <a:tailEnd type="none" w="sm" len="sm"/>
          </a:ln>
        </p:spPr>
      </p:cxnSp>
      <p:sp>
        <p:nvSpPr>
          <p:cNvPr id="181" name="Google Shape;181;p80"/>
          <p:cNvSpPr/>
          <p:nvPr/>
        </p:nvSpPr>
        <p:spPr>
          <a:xfrm>
            <a:off x="3128522" y="2528687"/>
            <a:ext cx="2612933"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EXPERTISES</a:t>
            </a:r>
            <a:endParaRPr sz="1400" b="0" i="0" u="none" strike="noStrike" cap="none">
              <a:solidFill>
                <a:srgbClr val="000000"/>
              </a:solidFill>
              <a:latin typeface="Arial"/>
              <a:ea typeface="Arial"/>
              <a:cs typeface="Arial"/>
              <a:sym typeface="Arial"/>
            </a:endParaRPr>
          </a:p>
        </p:txBody>
      </p:sp>
      <p:sp>
        <p:nvSpPr>
          <p:cNvPr id="182" name="Google Shape;182;p80"/>
          <p:cNvSpPr txBox="1">
            <a:spLocks noGrp="1"/>
          </p:cNvSpPr>
          <p:nvPr>
            <p:ph type="body" idx="7"/>
          </p:nvPr>
        </p:nvSpPr>
        <p:spPr>
          <a:xfrm>
            <a:off x="3128522" y="324013"/>
            <a:ext cx="8508610" cy="1734642"/>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3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183" name="Google Shape;183;p80"/>
          <p:cNvSpPr txBox="1">
            <a:spLocks noGrp="1"/>
          </p:cNvSpPr>
          <p:nvPr>
            <p:ph type="body" idx="8"/>
          </p:nvPr>
        </p:nvSpPr>
        <p:spPr>
          <a:xfrm>
            <a:off x="151339" y="4814550"/>
            <a:ext cx="2685771" cy="1166918"/>
          </a:xfrm>
          <a:prstGeom prst="rect">
            <a:avLst/>
          </a:prstGeom>
          <a:noFill/>
          <a:ln>
            <a:noFill/>
          </a:ln>
        </p:spPr>
        <p:txBody>
          <a:bodyPr spcFirstLastPara="1" wrap="square" lIns="91425" tIns="45700" rIns="91425" bIns="45700" anchor="t" anchorCtr="0">
            <a:noAutofit/>
          </a:bodyPr>
          <a:lstStyle>
            <a:lvl1pPr marL="457200" marR="0" lvl="0" indent="-298450" algn="just"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184" name="Google Shape;184;p80"/>
          <p:cNvCxnSpPr/>
          <p:nvPr/>
        </p:nvCxnSpPr>
        <p:spPr>
          <a:xfrm>
            <a:off x="233228" y="4657802"/>
            <a:ext cx="1270589" cy="0"/>
          </a:xfrm>
          <a:prstGeom prst="straightConnector1">
            <a:avLst/>
          </a:prstGeom>
          <a:noFill/>
          <a:ln w="25400" cap="flat" cmpd="sng">
            <a:solidFill>
              <a:schemeClr val="lt2"/>
            </a:solidFill>
            <a:prstDash val="solid"/>
            <a:miter lim="800000"/>
            <a:headEnd type="none" w="sm" len="sm"/>
            <a:tailEnd type="none" w="sm" len="sm"/>
          </a:ln>
        </p:spPr>
      </p:cxnSp>
      <p:sp>
        <p:nvSpPr>
          <p:cNvPr id="185" name="Google Shape;185;p80"/>
          <p:cNvSpPr/>
          <p:nvPr/>
        </p:nvSpPr>
        <p:spPr>
          <a:xfrm>
            <a:off x="151340" y="4426646"/>
            <a:ext cx="2094546"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FORMATIONS</a:t>
            </a:r>
            <a:endParaRPr sz="1400" b="0" i="0" u="none" strike="noStrike" cap="none">
              <a:solidFill>
                <a:srgbClr val="000000"/>
              </a:solidFill>
              <a:latin typeface="Arial"/>
              <a:ea typeface="Arial"/>
              <a:cs typeface="Arial"/>
              <a:sym typeface="Arial"/>
            </a:endParaRPr>
          </a:p>
        </p:txBody>
      </p:sp>
      <p:sp>
        <p:nvSpPr>
          <p:cNvPr id="186" name="Google Shape;186;p80"/>
          <p:cNvSpPr txBox="1">
            <a:spLocks noGrp="1"/>
          </p:cNvSpPr>
          <p:nvPr>
            <p:ph type="body" idx="9"/>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7" name="Google Shape;187;p80"/>
          <p:cNvSpPr txBox="1">
            <a:spLocks noGrp="1"/>
          </p:cNvSpPr>
          <p:nvPr>
            <p:ph type="body" idx="13"/>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8" name="Google Shape;188;p80"/>
          <p:cNvSpPr txBox="1">
            <a:spLocks noGrp="1"/>
          </p:cNvSpPr>
          <p:nvPr>
            <p:ph type="body" idx="14"/>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89" name="Google Shape;189;p80"/>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0" name="Google Shape;190;p80"/>
          <p:cNvSpPr>
            <a:spLocks noGrp="1"/>
          </p:cNvSpPr>
          <p:nvPr>
            <p:ph type="pic" idx="15"/>
          </p:nvPr>
        </p:nvSpPr>
        <p:spPr>
          <a:xfrm>
            <a:off x="151340" y="798071"/>
            <a:ext cx="936000" cy="1224000"/>
          </a:xfrm>
          <a:prstGeom prst="rect">
            <a:avLst/>
          </a:prstGeom>
          <a:solidFill>
            <a:srgbClr val="F2F2F2"/>
          </a:solidFill>
          <a:ln>
            <a:noFill/>
          </a:ln>
        </p:spPr>
      </p:sp>
      <p:pic>
        <p:nvPicPr>
          <p:cNvPr id="191" name="Google Shape;191;p80"/>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192" name="Google Shape;192;p80"/>
          <p:cNvSpPr/>
          <p:nvPr/>
        </p:nvSpPr>
        <p:spPr>
          <a:xfrm>
            <a:off x="3128522" y="4488756"/>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MÉTIER</a:t>
            </a:r>
            <a:endParaRPr sz="1400" b="0" i="0" u="none" strike="noStrike" cap="none">
              <a:solidFill>
                <a:srgbClr val="000000"/>
              </a:solidFill>
              <a:latin typeface="Arial"/>
              <a:ea typeface="Arial"/>
              <a:cs typeface="Arial"/>
              <a:sym typeface="Arial"/>
            </a:endParaRPr>
          </a:p>
        </p:txBody>
      </p:sp>
      <p:sp>
        <p:nvSpPr>
          <p:cNvPr id="193" name="Google Shape;193;p80"/>
          <p:cNvSpPr/>
          <p:nvPr/>
        </p:nvSpPr>
        <p:spPr>
          <a:xfrm>
            <a:off x="3128522" y="2863671"/>
            <a:ext cx="2629394" cy="17438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Verdana"/>
                <a:ea typeface="Verdana"/>
                <a:cs typeface="Verdana"/>
                <a:sym typeface="Verdana"/>
              </a:rPr>
              <a:t>MÉTHODOLOGIE</a:t>
            </a: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4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C Square_p.2">
  <p:cSld name="1_DC Square_p.2">
    <p:spTree>
      <p:nvGrpSpPr>
        <p:cNvPr id="1" name="Shape 194"/>
        <p:cNvGrpSpPr/>
        <p:nvPr/>
      </p:nvGrpSpPr>
      <p:grpSpPr>
        <a:xfrm>
          <a:off x="0" y="0"/>
          <a:ext cx="0" cy="0"/>
          <a:chOff x="0" y="0"/>
          <a:chExt cx="0" cy="0"/>
        </a:xfrm>
      </p:grpSpPr>
      <p:sp>
        <p:nvSpPr>
          <p:cNvPr id="195" name="Google Shape;195;p81"/>
          <p:cNvSpPr/>
          <p:nvPr/>
        </p:nvSpPr>
        <p:spPr>
          <a:xfrm>
            <a:off x="-6492" y="0"/>
            <a:ext cx="2955393"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6" name="Google Shape;196;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7" name="Google Shape;197;p81"/>
          <p:cNvSpPr txBox="1">
            <a:spLocks noGrp="1"/>
          </p:cNvSpPr>
          <p:nvPr>
            <p:ph type="body" idx="1"/>
          </p:nvPr>
        </p:nvSpPr>
        <p:spPr>
          <a:xfrm>
            <a:off x="10138745" y="690949"/>
            <a:ext cx="1579042"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8" name="Google Shape;198;p81"/>
          <p:cNvSpPr txBox="1">
            <a:spLocks noGrp="1"/>
          </p:cNvSpPr>
          <p:nvPr>
            <p:ph type="body" idx="2"/>
          </p:nvPr>
        </p:nvSpPr>
        <p:spPr>
          <a:xfrm>
            <a:off x="6417699" y="699466"/>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199" name="Google Shape;199;p81"/>
          <p:cNvSpPr txBox="1">
            <a:spLocks noGrp="1"/>
          </p:cNvSpPr>
          <p:nvPr>
            <p:ph type="body" idx="3"/>
          </p:nvPr>
        </p:nvSpPr>
        <p:spPr>
          <a:xfrm>
            <a:off x="6417699" y="471983"/>
            <a:ext cx="2808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cxnSp>
        <p:nvCxnSpPr>
          <p:cNvPr id="200" name="Google Shape;20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01" name="Google Shape;201;p81"/>
          <p:cNvSpPr txBox="1">
            <a:spLocks noGrp="1"/>
          </p:cNvSpPr>
          <p:nvPr>
            <p:ph type="body" idx="4"/>
          </p:nvPr>
        </p:nvSpPr>
        <p:spPr>
          <a:xfrm>
            <a:off x="3445972" y="690949"/>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2" name="Google Shape;202;p81"/>
          <p:cNvSpPr txBox="1">
            <a:spLocks noGrp="1"/>
          </p:cNvSpPr>
          <p:nvPr>
            <p:ph type="body" idx="5"/>
          </p:nvPr>
        </p:nvSpPr>
        <p:spPr>
          <a:xfrm>
            <a:off x="3445972" y="471983"/>
            <a:ext cx="2196000" cy="201847"/>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lt1"/>
              </a:buClr>
              <a:buSzPts val="1000"/>
              <a:buFont typeface="Noto Sans Symbols"/>
              <a:buNone/>
              <a:defRPr sz="1000" b="0" i="0" u="none" strike="noStrike" cap="none">
                <a:solidFill>
                  <a:schemeClr val="lt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03" name="Google Shape;203;p81"/>
          <p:cNvSpPr txBox="1">
            <a:spLocks noGrp="1"/>
          </p:cNvSpPr>
          <p:nvPr>
            <p:ph type="body" idx="6"/>
          </p:nvPr>
        </p:nvSpPr>
        <p:spPr>
          <a:xfrm>
            <a:off x="3246090" y="2870078"/>
            <a:ext cx="8471697" cy="3777212"/>
          </a:xfrm>
          <a:prstGeom prst="rect">
            <a:avLst/>
          </a:prstGeom>
          <a:solidFill>
            <a:schemeClr val="lt1"/>
          </a:solid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98450" algn="just" rtl="0">
              <a:lnSpc>
                <a:spcPct val="100000"/>
              </a:lnSpc>
              <a:spcBef>
                <a:spcPts val="200"/>
              </a:spcBef>
              <a:spcAft>
                <a:spcPts val="0"/>
              </a:spcAft>
              <a:buClr>
                <a:schemeClr val="dk1"/>
              </a:buClr>
              <a:buSzPts val="1100"/>
              <a:buFont typeface="Noto Sans Symbols"/>
              <a:buChar char="▪"/>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sp>
        <p:nvSpPr>
          <p:cNvPr id="204" name="Google Shape;204;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05" name="Google Shape;205;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sp>
        <p:nvSpPr>
          <p:cNvPr id="206" name="Google Shape;206;p81"/>
          <p:cNvSpPr/>
          <p:nvPr/>
        </p:nvSpPr>
        <p:spPr>
          <a:xfrm>
            <a:off x="3324425" y="2542226"/>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MISSION</a:t>
            </a:r>
            <a:endParaRPr sz="1400" b="0" i="0" u="none" strike="noStrike" cap="none">
              <a:solidFill>
                <a:srgbClr val="000000"/>
              </a:solidFill>
              <a:latin typeface="Arial"/>
              <a:ea typeface="Arial"/>
              <a:cs typeface="Arial"/>
              <a:sym typeface="Arial"/>
            </a:endParaRPr>
          </a:p>
        </p:txBody>
      </p:sp>
      <p:sp>
        <p:nvSpPr>
          <p:cNvPr id="207" name="Google Shape;207;p81"/>
          <p:cNvSpPr txBox="1">
            <a:spLocks noGrp="1"/>
          </p:cNvSpPr>
          <p:nvPr>
            <p:ph type="body" idx="7"/>
          </p:nvPr>
        </p:nvSpPr>
        <p:spPr>
          <a:xfrm>
            <a:off x="3246089" y="1462552"/>
            <a:ext cx="8471697" cy="775520"/>
          </a:xfrm>
          <a:prstGeom prst="rect">
            <a:avLst/>
          </a:prstGeom>
          <a:noFill/>
          <a:ln>
            <a:noFill/>
          </a:ln>
        </p:spPr>
        <p:txBody>
          <a:bodyPr spcFirstLastPara="1" wrap="square" lIns="91425" tIns="45700" rIns="91425" bIns="45700" anchor="t" anchorCtr="0">
            <a:noAutofit/>
          </a:bodyPr>
          <a:lstStyle>
            <a:lvl1pPr marL="457200" marR="0" lvl="0"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2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100"/>
              <a:buFont typeface="Noto Sans Symbols"/>
              <a:buNone/>
              <a:defRPr sz="1100" b="0"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100"/>
              <a:buFont typeface="Merriweather Sans"/>
              <a:buNone/>
              <a:defRPr sz="1100" b="0"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100"/>
              <a:buFont typeface="Arial"/>
              <a:buNone/>
              <a:defRPr sz="1100" b="0" i="0" u="none" strike="noStrike" cap="none">
                <a:solidFill>
                  <a:schemeClr val="dk1"/>
                </a:solidFill>
                <a:latin typeface="Verdana"/>
                <a:ea typeface="Verdana"/>
                <a:cs typeface="Verdana"/>
                <a:sym typeface="Verdana"/>
              </a:defRPr>
            </a:lvl5pPr>
            <a:lvl6pPr marL="2743200" marR="0" lvl="5"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6pPr>
            <a:lvl7pPr marL="3200400" marR="0" lvl="6" indent="-298450" algn="just"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7pPr>
            <a:lvl8pPr marL="3657600" marR="0" lvl="7"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8pPr>
            <a:lvl9pPr marL="4114800" marR="0" lvl="8"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Verdana"/>
                <a:ea typeface="Verdana"/>
                <a:cs typeface="Verdana"/>
                <a:sym typeface="Verdana"/>
              </a:defRPr>
            </a:lvl9pPr>
          </a:lstStyle>
          <a:p>
            <a:endParaRPr/>
          </a:p>
        </p:txBody>
      </p:sp>
      <p:cxnSp>
        <p:nvCxnSpPr>
          <p:cNvPr id="208" name="Google Shape;208;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09" name="Google Shape;209;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sp>
        <p:nvSpPr>
          <p:cNvPr id="210" name="Google Shape;210;p81"/>
          <p:cNvSpPr/>
          <p:nvPr/>
        </p:nvSpPr>
        <p:spPr>
          <a:xfrm>
            <a:off x="3324426" y="1122578"/>
            <a:ext cx="1619999"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fr-FR" sz="1000" b="1" i="0" u="none" strike="noStrike" cap="none">
                <a:solidFill>
                  <a:schemeClr val="dk1"/>
                </a:solidFill>
                <a:latin typeface="Verdana"/>
                <a:ea typeface="Verdana"/>
                <a:cs typeface="Verdana"/>
                <a:sym typeface="Verdana"/>
              </a:rPr>
              <a:t>CONTEXTE</a:t>
            </a:r>
            <a:endParaRPr sz="1400" b="0" i="0" u="none" strike="noStrike" cap="none">
              <a:solidFill>
                <a:srgbClr val="000000"/>
              </a:solidFill>
              <a:latin typeface="Arial"/>
              <a:ea typeface="Arial"/>
              <a:cs typeface="Arial"/>
              <a:sym typeface="Arial"/>
            </a:endParaRPr>
          </a:p>
        </p:txBody>
      </p:sp>
      <p:sp>
        <p:nvSpPr>
          <p:cNvPr id="211" name="Google Shape;211;p81"/>
          <p:cNvSpPr>
            <a:spLocks noGrp="1"/>
          </p:cNvSpPr>
          <p:nvPr>
            <p:ph type="pic" idx="8"/>
          </p:nvPr>
        </p:nvSpPr>
        <p:spPr>
          <a:xfrm>
            <a:off x="345714" y="4869976"/>
            <a:ext cx="1415440" cy="901827"/>
          </a:xfrm>
          <a:prstGeom prst="rect">
            <a:avLst/>
          </a:prstGeom>
          <a:solidFill>
            <a:srgbClr val="F2F2F2"/>
          </a:solidFill>
          <a:ln>
            <a:noFill/>
          </a:ln>
        </p:spPr>
      </p:sp>
      <p:sp>
        <p:nvSpPr>
          <p:cNvPr id="212" name="Google Shape;212;p81"/>
          <p:cNvSpPr txBox="1">
            <a:spLocks noGrp="1"/>
          </p:cNvSpPr>
          <p:nvPr>
            <p:ph type="body" idx="9"/>
          </p:nvPr>
        </p:nvSpPr>
        <p:spPr>
          <a:xfrm>
            <a:off x="159127" y="4573858"/>
            <a:ext cx="1839794" cy="2001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000"/>
              <a:buFont typeface="Noto Sans Symbols"/>
              <a:buNone/>
              <a:defRPr sz="10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3" name="Google Shape;213;p81"/>
          <p:cNvSpPr txBox="1">
            <a:spLocks noGrp="1"/>
          </p:cNvSpPr>
          <p:nvPr>
            <p:ph type="body" idx="13"/>
          </p:nvPr>
        </p:nvSpPr>
        <p:spPr>
          <a:xfrm>
            <a:off x="151340" y="3559855"/>
            <a:ext cx="2694910" cy="76251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4" name="Google Shape;214;p81"/>
          <p:cNvSpPr txBox="1">
            <a:spLocks noGrp="1"/>
          </p:cNvSpPr>
          <p:nvPr>
            <p:ph type="body" idx="14"/>
          </p:nvPr>
        </p:nvSpPr>
        <p:spPr>
          <a:xfrm>
            <a:off x="151340" y="3121804"/>
            <a:ext cx="2694910" cy="368925"/>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5" name="Google Shape;215;p81"/>
          <p:cNvSpPr txBox="1">
            <a:spLocks noGrp="1"/>
          </p:cNvSpPr>
          <p:nvPr>
            <p:ph type="body" idx="15"/>
          </p:nvPr>
        </p:nvSpPr>
        <p:spPr>
          <a:xfrm>
            <a:off x="151340" y="2736924"/>
            <a:ext cx="2694911" cy="392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chemeClr val="dk1"/>
              </a:buClr>
              <a:buSzPts val="1400"/>
              <a:buFont typeface="Noto Sans Symbols"/>
              <a:buNone/>
              <a:defRPr sz="1400" b="1" i="0" u="none" strike="noStrike" cap="none">
                <a:solidFill>
                  <a:schemeClr val="dk1"/>
                </a:solidFill>
                <a:latin typeface="Verdana"/>
                <a:ea typeface="Verdana"/>
                <a:cs typeface="Verdana"/>
                <a:sym typeface="Verdana"/>
              </a:defRPr>
            </a:lvl1pPr>
            <a:lvl2pPr marL="914400" marR="0" lvl="1" indent="-228600" algn="just" rtl="0">
              <a:lnSpc>
                <a:spcPct val="100000"/>
              </a:lnSpc>
              <a:spcBef>
                <a:spcPts val="1100"/>
              </a:spcBef>
              <a:spcAft>
                <a:spcPts val="0"/>
              </a:spcAft>
              <a:buClr>
                <a:schemeClr val="dk1"/>
              </a:buClr>
              <a:buSzPts val="2000"/>
              <a:buFont typeface="Noto Sans Symbols"/>
              <a:buNone/>
              <a:defRPr sz="2000" b="1" i="0" u="none" strike="noStrike" cap="none">
                <a:solidFill>
                  <a:schemeClr val="dk1"/>
                </a:solidFill>
                <a:latin typeface="Verdana"/>
                <a:ea typeface="Verdana"/>
                <a:cs typeface="Verdana"/>
                <a:sym typeface="Verdana"/>
              </a:defRPr>
            </a:lvl2pPr>
            <a:lvl3pPr marL="1371600" marR="0" lvl="2" indent="-228600" algn="just" rtl="0">
              <a:lnSpc>
                <a:spcPct val="100000"/>
              </a:lnSpc>
              <a:spcBef>
                <a:spcPts val="800"/>
              </a:spcBef>
              <a:spcAft>
                <a:spcPts val="0"/>
              </a:spcAft>
              <a:buClr>
                <a:schemeClr val="dk1"/>
              </a:buClr>
              <a:buSzPts val="1800"/>
              <a:buFont typeface="Noto Sans Symbols"/>
              <a:buNone/>
              <a:defRPr sz="1800" b="1" i="0" u="none" strike="noStrike" cap="none">
                <a:solidFill>
                  <a:schemeClr val="dk1"/>
                </a:solidFill>
                <a:latin typeface="Verdana"/>
                <a:ea typeface="Verdana"/>
                <a:cs typeface="Verdana"/>
                <a:sym typeface="Verdana"/>
              </a:defRPr>
            </a:lvl3pPr>
            <a:lvl4pPr marL="1828800" marR="0" lvl="3" indent="-228600" algn="just" rtl="0">
              <a:lnSpc>
                <a:spcPct val="100000"/>
              </a:lnSpc>
              <a:spcBef>
                <a:spcPts val="500"/>
              </a:spcBef>
              <a:spcAft>
                <a:spcPts val="0"/>
              </a:spcAft>
              <a:buClr>
                <a:schemeClr val="dk1"/>
              </a:buClr>
              <a:buSzPts val="1600"/>
              <a:buFont typeface="Merriweather Sans"/>
              <a:buNone/>
              <a:defRPr sz="1600" b="1" i="0" u="none" strike="noStrike" cap="none">
                <a:solidFill>
                  <a:schemeClr val="dk1"/>
                </a:solidFill>
                <a:latin typeface="Verdana"/>
                <a:ea typeface="Verdana"/>
                <a:cs typeface="Verdana"/>
                <a:sym typeface="Verdana"/>
              </a:defRPr>
            </a:lvl4pPr>
            <a:lvl5pPr marL="2286000" marR="0" lvl="4" indent="-228600" algn="just" rtl="0">
              <a:lnSpc>
                <a:spcPct val="10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5pPr>
            <a:lvl6pPr marL="2743200" marR="0" lvl="5"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6pPr>
            <a:lvl7pPr marL="3200400" marR="0" lvl="6" indent="-228600" algn="just"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Verdana"/>
                <a:ea typeface="Verdana"/>
                <a:cs typeface="Verdana"/>
                <a:sym typeface="Verdana"/>
              </a:defRPr>
            </a:lvl9pPr>
          </a:lstStyle>
          <a:p>
            <a:endParaRPr/>
          </a:p>
        </p:txBody>
      </p:sp>
      <p:sp>
        <p:nvSpPr>
          <p:cNvPr id="216" name="Google Shape;216;p81"/>
          <p:cNvSpPr txBox="1">
            <a:spLocks noGrp="1"/>
          </p:cNvSpPr>
          <p:nvPr>
            <p:ph type="title"/>
          </p:nvPr>
        </p:nvSpPr>
        <p:spPr>
          <a:xfrm>
            <a:off x="151340" y="2184423"/>
            <a:ext cx="2694910" cy="59122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800"/>
              <a:buFont typeface="Verdana"/>
              <a:buNone/>
              <a:defRPr sz="1800" b="1" i="0" u="none" strike="noStrike" cap="none">
                <a:solidFill>
                  <a:schemeClr val="dk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7" name="Google Shape;217;p81"/>
          <p:cNvSpPr>
            <a:spLocks noGrp="1"/>
          </p:cNvSpPr>
          <p:nvPr>
            <p:ph type="pic" idx="16"/>
          </p:nvPr>
        </p:nvSpPr>
        <p:spPr>
          <a:xfrm>
            <a:off x="151340" y="798071"/>
            <a:ext cx="936000" cy="1224000"/>
          </a:xfrm>
          <a:prstGeom prst="rect">
            <a:avLst/>
          </a:prstGeom>
          <a:solidFill>
            <a:srgbClr val="F2F2F2"/>
          </a:solidFill>
          <a:ln>
            <a:noFill/>
          </a:ln>
        </p:spPr>
      </p:sp>
      <p:pic>
        <p:nvPicPr>
          <p:cNvPr id="218" name="Google Shape;218;p81"/>
          <p:cNvPicPr preferRelativeResize="0"/>
          <p:nvPr/>
        </p:nvPicPr>
        <p:blipFill rotWithShape="1">
          <a:blip r:embed="rId2">
            <a:alphaModFix/>
          </a:blip>
          <a:srcRect/>
          <a:stretch/>
        </p:blipFill>
        <p:spPr>
          <a:xfrm>
            <a:off x="230621" y="259470"/>
            <a:ext cx="1347030" cy="497403"/>
          </a:xfrm>
          <a:prstGeom prst="rect">
            <a:avLst/>
          </a:prstGeom>
          <a:noFill/>
          <a:ln>
            <a:noFill/>
          </a:ln>
        </p:spPr>
      </p:pic>
      <p:sp>
        <p:nvSpPr>
          <p:cNvPr id="219" name="Google Shape;219;p81"/>
          <p:cNvSpPr/>
          <p:nvPr/>
        </p:nvSpPr>
        <p:spPr>
          <a:xfrm>
            <a:off x="3246090" y="384313"/>
            <a:ext cx="8502998" cy="63030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dana"/>
              <a:ea typeface="Verdana"/>
              <a:cs typeface="Verdana"/>
              <a:sym typeface="Verdana"/>
            </a:endParaRPr>
          </a:p>
        </p:txBody>
      </p:sp>
      <p:cxnSp>
        <p:nvCxnSpPr>
          <p:cNvPr id="220" name="Google Shape;220;p81"/>
          <p:cNvCxnSpPr/>
          <p:nvPr/>
        </p:nvCxnSpPr>
        <p:spPr>
          <a:xfrm>
            <a:off x="6187765" y="444253"/>
            <a:ext cx="0" cy="493392"/>
          </a:xfrm>
          <a:prstGeom prst="straightConnector1">
            <a:avLst/>
          </a:prstGeom>
          <a:noFill/>
          <a:ln w="12700" cap="flat" cmpd="sng">
            <a:solidFill>
              <a:schemeClr val="lt1"/>
            </a:solidFill>
            <a:prstDash val="solid"/>
            <a:miter lim="800000"/>
            <a:headEnd type="none" w="sm" len="sm"/>
            <a:tailEnd type="none" w="sm" len="sm"/>
          </a:ln>
        </p:spPr>
      </p:cxnSp>
      <p:sp>
        <p:nvSpPr>
          <p:cNvPr id="221" name="Google Shape;221;p81"/>
          <p:cNvSpPr/>
          <p:nvPr/>
        </p:nvSpPr>
        <p:spPr>
          <a:xfrm>
            <a:off x="3027549" y="2547333"/>
            <a:ext cx="256940" cy="288000"/>
          </a:xfrm>
          <a:custGeom>
            <a:avLst/>
            <a:gdLst/>
            <a:ahLst/>
            <a:cxnLst/>
            <a:rect l="l" t="t" r="r" b="b"/>
            <a:pathLst>
              <a:path w="100" h="113" extrusionOk="0">
                <a:moveTo>
                  <a:pt x="90" y="113"/>
                </a:moveTo>
                <a:cubicBezTo>
                  <a:pt x="100" y="113"/>
                  <a:pt x="100" y="113"/>
                  <a:pt x="100" y="113"/>
                </a:cubicBezTo>
                <a:cubicBezTo>
                  <a:pt x="72" y="65"/>
                  <a:pt x="72" y="65"/>
                  <a:pt x="72" y="65"/>
                </a:cubicBezTo>
                <a:cubicBezTo>
                  <a:pt x="68" y="72"/>
                  <a:pt x="68" y="72"/>
                  <a:pt x="68" y="72"/>
                </a:cubicBezTo>
                <a:moveTo>
                  <a:pt x="41" y="4"/>
                </a:moveTo>
                <a:cubicBezTo>
                  <a:pt x="64" y="4"/>
                  <a:pt x="64" y="4"/>
                  <a:pt x="64" y="4"/>
                </a:cubicBezTo>
                <a:cubicBezTo>
                  <a:pt x="66" y="4"/>
                  <a:pt x="68" y="5"/>
                  <a:pt x="68" y="7"/>
                </a:cubicBezTo>
                <a:cubicBezTo>
                  <a:pt x="68" y="21"/>
                  <a:pt x="68" y="21"/>
                  <a:pt x="68" y="21"/>
                </a:cubicBezTo>
                <a:moveTo>
                  <a:pt x="70" y="8"/>
                </a:moveTo>
                <a:cubicBezTo>
                  <a:pt x="81" y="8"/>
                  <a:pt x="81" y="8"/>
                  <a:pt x="81" y="8"/>
                </a:cubicBezTo>
                <a:cubicBezTo>
                  <a:pt x="81" y="35"/>
                  <a:pt x="81" y="35"/>
                  <a:pt x="81" y="35"/>
                </a:cubicBezTo>
                <a:cubicBezTo>
                  <a:pt x="71" y="35"/>
                  <a:pt x="71" y="35"/>
                  <a:pt x="71" y="35"/>
                </a:cubicBezTo>
                <a:cubicBezTo>
                  <a:pt x="69" y="35"/>
                  <a:pt x="68" y="34"/>
                  <a:pt x="68" y="32"/>
                </a:cubicBezTo>
                <a:cubicBezTo>
                  <a:pt x="68" y="30"/>
                  <a:pt x="68" y="30"/>
                  <a:pt x="68" y="30"/>
                </a:cubicBezTo>
                <a:cubicBezTo>
                  <a:pt x="50" y="30"/>
                  <a:pt x="50" y="30"/>
                  <a:pt x="50" y="30"/>
                </a:cubicBezTo>
                <a:moveTo>
                  <a:pt x="41" y="43"/>
                </a:moveTo>
                <a:cubicBezTo>
                  <a:pt x="41" y="0"/>
                  <a:pt x="41" y="0"/>
                  <a:pt x="41" y="0"/>
                </a:cubicBezTo>
                <a:moveTo>
                  <a:pt x="41" y="43"/>
                </a:moveTo>
                <a:cubicBezTo>
                  <a:pt x="81" y="113"/>
                  <a:pt x="81" y="113"/>
                  <a:pt x="81" y="113"/>
                </a:cubicBezTo>
                <a:cubicBezTo>
                  <a:pt x="0" y="113"/>
                  <a:pt x="0" y="113"/>
                  <a:pt x="0" y="113"/>
                </a:cubicBezTo>
                <a:lnTo>
                  <a:pt x="41" y="43"/>
                </a:lnTo>
                <a:close/>
                <a:moveTo>
                  <a:pt x="53" y="65"/>
                </a:moveTo>
                <a:cubicBezTo>
                  <a:pt x="49" y="70"/>
                  <a:pt x="49" y="70"/>
                  <a:pt x="49" y="70"/>
                </a:cubicBezTo>
                <a:cubicBezTo>
                  <a:pt x="47" y="74"/>
                  <a:pt x="47" y="74"/>
                  <a:pt x="47" y="74"/>
                </a:cubicBezTo>
                <a:cubicBezTo>
                  <a:pt x="41" y="65"/>
                  <a:pt x="41" y="65"/>
                  <a:pt x="41" y="65"/>
                </a:cubicBezTo>
                <a:cubicBezTo>
                  <a:pt x="36" y="74"/>
                  <a:pt x="36" y="74"/>
                  <a:pt x="36" y="74"/>
                </a:cubicBezTo>
                <a:cubicBezTo>
                  <a:pt x="30" y="65"/>
                  <a:pt x="30" y="65"/>
                  <a:pt x="30" y="65"/>
                </a:cubicBez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cxnSp>
        <p:nvCxnSpPr>
          <p:cNvPr id="222" name="Google Shape;222;p81"/>
          <p:cNvCxnSpPr/>
          <p:nvPr/>
        </p:nvCxnSpPr>
        <p:spPr>
          <a:xfrm>
            <a:off x="3419933" y="2775049"/>
            <a:ext cx="917398" cy="0"/>
          </a:xfrm>
          <a:prstGeom prst="straightConnector1">
            <a:avLst/>
          </a:prstGeom>
          <a:noFill/>
          <a:ln w="25400" cap="flat" cmpd="sng">
            <a:solidFill>
              <a:srgbClr val="B68F4F"/>
            </a:solidFill>
            <a:prstDash val="solid"/>
            <a:miter lim="800000"/>
            <a:headEnd type="none" w="sm" len="sm"/>
            <a:tailEnd type="none" w="sm" len="sm"/>
          </a:ln>
        </p:spPr>
      </p:cxnSp>
      <p:cxnSp>
        <p:nvCxnSpPr>
          <p:cNvPr id="223" name="Google Shape;223;p81"/>
          <p:cNvCxnSpPr/>
          <p:nvPr/>
        </p:nvCxnSpPr>
        <p:spPr>
          <a:xfrm>
            <a:off x="3417298" y="1351781"/>
            <a:ext cx="920033" cy="0"/>
          </a:xfrm>
          <a:prstGeom prst="straightConnector1">
            <a:avLst/>
          </a:prstGeom>
          <a:noFill/>
          <a:ln w="25400" cap="flat" cmpd="sng">
            <a:solidFill>
              <a:srgbClr val="B68F4F"/>
            </a:solidFill>
            <a:prstDash val="solid"/>
            <a:miter lim="800000"/>
            <a:headEnd type="none" w="sm" len="sm"/>
            <a:tailEnd type="none" w="sm" len="sm"/>
          </a:ln>
        </p:spPr>
      </p:cxnSp>
      <p:sp>
        <p:nvSpPr>
          <p:cNvPr id="224" name="Google Shape;224;p81"/>
          <p:cNvSpPr/>
          <p:nvPr/>
        </p:nvSpPr>
        <p:spPr>
          <a:xfrm>
            <a:off x="3013574" y="1144908"/>
            <a:ext cx="279288" cy="268282"/>
          </a:xfrm>
          <a:custGeom>
            <a:avLst/>
            <a:gdLst/>
            <a:ahLst/>
            <a:cxnLst/>
            <a:rect l="l" t="t" r="r" b="b"/>
            <a:pathLst>
              <a:path w="203" h="195" extrusionOk="0">
                <a:moveTo>
                  <a:pt x="75" y="85"/>
                </a:moveTo>
                <a:lnTo>
                  <a:pt x="104" y="114"/>
                </a:lnTo>
                <a:lnTo>
                  <a:pt x="187" y="33"/>
                </a:lnTo>
                <a:moveTo>
                  <a:pt x="169" y="73"/>
                </a:moveTo>
                <a:lnTo>
                  <a:pt x="203" y="76"/>
                </a:lnTo>
                <a:lnTo>
                  <a:pt x="147" y="123"/>
                </a:lnTo>
                <a:lnTo>
                  <a:pt x="164" y="195"/>
                </a:lnTo>
                <a:lnTo>
                  <a:pt x="101" y="158"/>
                </a:lnTo>
                <a:lnTo>
                  <a:pt x="38" y="195"/>
                </a:lnTo>
                <a:lnTo>
                  <a:pt x="54" y="123"/>
                </a:lnTo>
                <a:lnTo>
                  <a:pt x="0" y="76"/>
                </a:lnTo>
                <a:lnTo>
                  <a:pt x="72" y="69"/>
                </a:lnTo>
                <a:lnTo>
                  <a:pt x="101" y="0"/>
                </a:lnTo>
                <a:lnTo>
                  <a:pt x="128" y="62"/>
                </a:lnTo>
              </a:path>
            </a:pathLst>
          </a:custGeom>
          <a:noFill/>
          <a:ln w="127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dana"/>
              <a:ea typeface="Verdana"/>
              <a:cs typeface="Verdana"/>
              <a:sym typeface="Verdana"/>
            </a:endParaRPr>
          </a:p>
        </p:txBody>
      </p:sp>
      <p:pic>
        <p:nvPicPr>
          <p:cNvPr id="225" name="Google Shape;225;p81"/>
          <p:cNvPicPr preferRelativeResize="0"/>
          <p:nvPr/>
        </p:nvPicPr>
        <p:blipFill rotWithShape="1">
          <a:blip r:embed="rId2">
            <a:alphaModFix/>
          </a:blip>
          <a:srcRect/>
          <a:stretch/>
        </p:blipFill>
        <p:spPr>
          <a:xfrm>
            <a:off x="230621" y="259470"/>
            <a:ext cx="1347030" cy="49740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1" name="Google Shape;11;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a:solidFill>
                  <a:schemeClr val="dk1"/>
                </a:solidFill>
                <a:latin typeface="Verdana"/>
                <a:ea typeface="Verdana"/>
                <a:cs typeface="Verdana"/>
                <a:sym typeface="Verdana"/>
              </a:rPr>
              <a:t>11/05/2023</a:t>
            </a:r>
            <a:endParaRPr sz="600" b="0" i="0" u="none" strike="noStrike" cap="none">
              <a:solidFill>
                <a:schemeClr val="dk1"/>
              </a:solidFill>
              <a:latin typeface="Verdana"/>
              <a:ea typeface="Verdana"/>
              <a:cs typeface="Verdana"/>
              <a:sym typeface="Verdana"/>
            </a:endParaRPr>
          </a:p>
        </p:txBody>
      </p:sp>
      <p:sp>
        <p:nvSpPr>
          <p:cNvPr id="12" name="Google Shape;12;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pic>
        <p:nvPicPr>
          <p:cNvPr id="13" name="Google Shape;13;p60"/>
          <p:cNvPicPr preferRelativeResize="0"/>
          <p:nvPr/>
        </p:nvPicPr>
        <p:blipFill rotWithShape="1">
          <a:blip r:embed="rId9">
            <a:alphaModFix/>
          </a:blip>
          <a:srcRect/>
          <a:stretch/>
        </p:blipFill>
        <p:spPr>
          <a:xfrm>
            <a:off x="626267" y="6215145"/>
            <a:ext cx="342900" cy="342900"/>
          </a:xfrm>
          <a:prstGeom prst="rect">
            <a:avLst/>
          </a:prstGeom>
          <a:noFill/>
          <a:ln>
            <a:noFill/>
          </a:ln>
        </p:spPr>
      </p:pic>
      <p:sp>
        <p:nvSpPr>
          <p:cNvPr id="14" name="Google Shape;14;p60"/>
          <p:cNvSpPr txBox="1"/>
          <p:nvPr/>
        </p:nvSpPr>
        <p:spPr>
          <a:xfrm>
            <a:off x="10274267" y="6434934"/>
            <a:ext cx="792000" cy="12311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r>
              <a:rPr lang="fr-FR" sz="600" b="0" i="0" u="none" strike="noStrike" cap="none" dirty="0">
                <a:solidFill>
                  <a:schemeClr val="dk1"/>
                </a:solidFill>
                <a:latin typeface="Verdana"/>
                <a:ea typeface="Verdana"/>
                <a:cs typeface="Verdana"/>
                <a:sym typeface="Verdana"/>
              </a:rPr>
              <a:t>12/05/2023</a:t>
            </a:r>
            <a:endParaRPr sz="600" b="0" i="0" u="none" strike="noStrike" cap="none" dirty="0">
              <a:solidFill>
                <a:schemeClr val="dk1"/>
              </a:solidFill>
              <a:latin typeface="Verdana"/>
              <a:ea typeface="Verdana"/>
              <a:cs typeface="Verdana"/>
              <a:sym typeface="Verdana"/>
            </a:endParaRPr>
          </a:p>
        </p:txBody>
      </p:sp>
      <p:sp>
        <p:nvSpPr>
          <p:cNvPr id="15" name="Google Shape;15;p60"/>
          <p:cNvSpPr txBox="1"/>
          <p:nvPr/>
        </p:nvSpPr>
        <p:spPr>
          <a:xfrm>
            <a:off x="11066267" y="6430994"/>
            <a:ext cx="540000" cy="127051"/>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600"/>
              <a:buFont typeface="Arial"/>
              <a:buNone/>
            </a:pPr>
            <a:fld id="{00000000-1234-1234-1234-123412341234}" type="slidenum">
              <a:rPr lang="fr-FR" sz="600" b="0" i="0" u="none" strike="noStrike" cap="none">
                <a:solidFill>
                  <a:schemeClr val="dk1"/>
                </a:solidFill>
                <a:latin typeface="Verdana"/>
                <a:ea typeface="Verdana"/>
                <a:cs typeface="Verdana"/>
                <a:sym typeface="Verdana"/>
              </a:rPr>
              <a:t>‹N°›</a:t>
            </a:fld>
            <a:endParaRPr sz="600" b="0" i="0" u="none" strike="noStrike" cap="none">
              <a:solidFill>
                <a:schemeClr val="dk1"/>
              </a:solidFill>
              <a:latin typeface="Verdana"/>
              <a:ea typeface="Verdana"/>
              <a:cs typeface="Verdana"/>
              <a:sym typeface="Verdana"/>
            </a:endParaRPr>
          </a:p>
        </p:txBody>
      </p:sp>
    </p:spTree>
  </p:cSld>
  <p:clrMap bg1="lt1" tx1="dk1" bg2="dk2" tx2="lt2" accent1="accent1" accent2="accent2" accent3="accent3" accent4="accent4" accent5="accent5" accent6="accent6" hlink="hlink" folHlink="folHlink"/>
  <p:sldLayoutIdLst>
    <p:sldLayoutId id="2147483651" r:id="rId1"/>
    <p:sldLayoutId id="2147483655" r:id="rId2"/>
    <p:sldLayoutId id="2147483659" r:id="rId3"/>
    <p:sldLayoutId id="2147483660" r:id="rId4"/>
    <p:sldLayoutId id="2147483661" r:id="rId5"/>
    <p:sldLayoutId id="2147483662" r:id="rId6"/>
    <p:sldLayoutId id="214748366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73"/>
        <p:cNvGrpSpPr/>
        <p:nvPr/>
      </p:nvGrpSpPr>
      <p:grpSpPr>
        <a:xfrm>
          <a:off x="0" y="0"/>
          <a:ext cx="0" cy="0"/>
          <a:chOff x="0" y="0"/>
          <a:chExt cx="0" cy="0"/>
        </a:xfrm>
      </p:grpSpPr>
      <p:sp>
        <p:nvSpPr>
          <p:cNvPr id="4074" name="Google Shape;4074;p53"/>
          <p:cNvSpPr txBox="1">
            <a:spLocks noGrp="1"/>
          </p:cNvSpPr>
          <p:nvPr>
            <p:ph type="title"/>
          </p:nvPr>
        </p:nvSpPr>
        <p:spPr>
          <a:xfrm>
            <a:off x="808520" y="2870476"/>
            <a:ext cx="6778687" cy="15480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Clr>
                <a:schemeClr val="lt1"/>
              </a:buClr>
              <a:buSzPts val="13500"/>
              <a:buFont typeface="Verdana"/>
              <a:buNone/>
            </a:pPr>
            <a:r>
              <a:rPr lang="fr-FR" dirty="0"/>
              <a:t>05</a:t>
            </a:r>
            <a:endParaRPr dirty="0"/>
          </a:p>
        </p:txBody>
      </p:sp>
      <p:sp>
        <p:nvSpPr>
          <p:cNvPr id="4075" name="Google Shape;4075;p53"/>
          <p:cNvSpPr txBox="1">
            <a:spLocks noGrp="1"/>
          </p:cNvSpPr>
          <p:nvPr>
            <p:ph type="body" idx="1"/>
          </p:nvPr>
        </p:nvSpPr>
        <p:spPr>
          <a:xfrm>
            <a:off x="808520" y="4418476"/>
            <a:ext cx="6778687" cy="1548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3000"/>
              <a:buNone/>
            </a:pPr>
            <a:r>
              <a:rPr lang="fr-FR"/>
              <a:t>RÉFÉRENCES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79"/>
        <p:cNvGrpSpPr/>
        <p:nvPr/>
      </p:nvGrpSpPr>
      <p:grpSpPr>
        <a:xfrm>
          <a:off x="0" y="0"/>
          <a:ext cx="0" cy="0"/>
          <a:chOff x="0" y="0"/>
          <a:chExt cx="0" cy="0"/>
        </a:xfrm>
      </p:grpSpPr>
      <p:sp>
        <p:nvSpPr>
          <p:cNvPr id="4080" name="Google Shape;4080;p38"/>
          <p:cNvSpPr txBox="1">
            <a:spLocks noGrp="1"/>
          </p:cNvSpPr>
          <p:nvPr>
            <p:ph type="body" idx="3"/>
          </p:nvPr>
        </p:nvSpPr>
        <p:spPr>
          <a:xfrm>
            <a:off x="626268" y="5311006"/>
            <a:ext cx="5141486" cy="1123259"/>
          </a:xfrm>
          <a:prstGeom prst="rect">
            <a:avLst/>
          </a:prstGeom>
          <a:solidFill>
            <a:schemeClr val="lt1"/>
          </a:solid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MGEN souhaite faire évoluer sa chaine de déplacement (voyage &amp; note de frais), elle décide de rompre son contrat avec son ancien fournisseur au profit d'une nouvelle agence de voyage. La mission se déroule en deux phases : la phase de cadrage du projet consistant à recenser les axes d'améliorations/irritants afin de travailler avec le nouvel éditeur ; la phase réalisation consistant à piloter la construction et le déploiement des nouveaux services jusqu'à la livraison finale. </a:t>
            </a:r>
            <a:endParaRPr dirty="0"/>
          </a:p>
        </p:txBody>
      </p:sp>
      <p:sp>
        <p:nvSpPr>
          <p:cNvPr id="4081" name="Google Shape;4081;p38"/>
          <p:cNvSpPr txBox="1">
            <a:spLocks noGrp="1"/>
          </p:cNvSpPr>
          <p:nvPr>
            <p:ph type="body" idx="4"/>
          </p:nvPr>
        </p:nvSpPr>
        <p:spPr>
          <a:xfrm>
            <a:off x="626265" y="4969846"/>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DIRECTION ENVIRONNEMENT DE TRAVAIL ET MOYENS GÉNÉRAUX– </a:t>
            </a:r>
            <a:r>
              <a:rPr lang="fr-FR" b="0" i="1" dirty="0"/>
              <a:t>CHEF DE PROJET</a:t>
            </a:r>
            <a:endParaRPr dirty="0"/>
          </a:p>
        </p:txBody>
      </p:sp>
      <p:sp>
        <p:nvSpPr>
          <p:cNvPr id="4082" name="Google Shape;4082;p38"/>
          <p:cNvSpPr txBox="1">
            <a:spLocks noGrp="1"/>
          </p:cNvSpPr>
          <p:nvPr>
            <p:ph type="body" idx="5"/>
          </p:nvPr>
        </p:nvSpPr>
        <p:spPr>
          <a:xfrm>
            <a:off x="6299200" y="2470046"/>
            <a:ext cx="5142523"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Le Groupe MGEN souhaite digitaliser ses méthodes de travail, la mission consiste à piloter sa transformation digitale. Sont concernés : + de 150 sites, + de 12000 postes de travail, + de 6000 points d’impression. </a:t>
            </a:r>
            <a:endParaRPr dirty="0"/>
          </a:p>
        </p:txBody>
      </p:sp>
      <p:sp>
        <p:nvSpPr>
          <p:cNvPr id="4083" name="Google Shape;4083;p38"/>
          <p:cNvSpPr txBox="1">
            <a:spLocks noGrp="1"/>
          </p:cNvSpPr>
          <p:nvPr>
            <p:ph type="body" idx="6"/>
          </p:nvPr>
        </p:nvSpPr>
        <p:spPr>
          <a:xfrm>
            <a:off x="6503829" y="2191411"/>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SECRÉTARIAT GÉNÉRAL - </a:t>
            </a:r>
            <a:r>
              <a:rPr lang="fr-FR" b="0" i="1" dirty="0"/>
              <a:t>CHEF DE PROJET</a:t>
            </a:r>
            <a:endParaRPr dirty="0"/>
          </a:p>
        </p:txBody>
      </p:sp>
      <p:sp>
        <p:nvSpPr>
          <p:cNvPr id="4084" name="Google Shape;4084;p38"/>
          <p:cNvSpPr txBox="1">
            <a:spLocks noGrp="1"/>
          </p:cNvSpPr>
          <p:nvPr>
            <p:ph type="body" idx="7"/>
          </p:nvPr>
        </p:nvSpPr>
        <p:spPr>
          <a:xfrm>
            <a:off x="6205416" y="5279100"/>
            <a:ext cx="5291016"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le cadre du projet « </a:t>
            </a:r>
            <a:r>
              <a:rPr lang="fr-FR" i="1" dirty="0"/>
              <a:t>MGEN demain </a:t>
            </a:r>
            <a:r>
              <a:rPr lang="fr-FR" dirty="0"/>
              <a:t>», l’automatisation des activités s’inscrit dans cette volonté forte d’optimiser les processus afin d’améliorer la qualité de service, respecter les réglementations et augmenter en productivité, et cela à isocoût de fonctionnement.</a:t>
            </a:r>
            <a:endParaRPr dirty="0"/>
          </a:p>
          <a:p>
            <a:pPr marL="0" lvl="0" indent="0" algn="just" rtl="0">
              <a:lnSpc>
                <a:spcPct val="100000"/>
              </a:lnSpc>
              <a:spcBef>
                <a:spcPts val="0"/>
              </a:spcBef>
              <a:spcAft>
                <a:spcPts val="0"/>
              </a:spcAft>
              <a:buSzPts val="1000"/>
              <a:buNone/>
            </a:pPr>
            <a:endParaRPr dirty="0"/>
          </a:p>
        </p:txBody>
      </p:sp>
      <p:sp>
        <p:nvSpPr>
          <p:cNvPr id="4085" name="Google Shape;4085;p38"/>
          <p:cNvSpPr txBox="1">
            <a:spLocks noGrp="1"/>
          </p:cNvSpPr>
          <p:nvPr>
            <p:ph type="body" idx="8"/>
          </p:nvPr>
        </p:nvSpPr>
        <p:spPr>
          <a:xfrm>
            <a:off x="6503829" y="4937940"/>
            <a:ext cx="4937894"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DIRECTION CENTRES DE SERVICES - </a:t>
            </a:r>
            <a:r>
              <a:rPr lang="fr-FR" b="0" i="1" dirty="0"/>
              <a:t>CHEF DE PROJET</a:t>
            </a:r>
            <a:endParaRPr dirty="0"/>
          </a:p>
        </p:txBody>
      </p:sp>
      <p:sp>
        <p:nvSpPr>
          <p:cNvPr id="4086" name="Google Shape;4086;p38"/>
          <p:cNvSpPr txBox="1"/>
          <p:nvPr/>
        </p:nvSpPr>
        <p:spPr>
          <a:xfrm>
            <a:off x="516194" y="2496237"/>
            <a:ext cx="5251560" cy="663835"/>
          </a:xfrm>
          <a:prstGeom prst="rect">
            <a:avLst/>
          </a:prstGeom>
          <a:noFill/>
          <a:ln>
            <a:noFill/>
          </a:ln>
        </p:spPr>
        <p:txBody>
          <a:bodyPr spcFirstLastPara="1" wrap="square" lIns="90000" tIns="45700" rIns="91425" bIns="45700" anchor="t" anchorCtr="0">
            <a:noAutofit/>
          </a:bodyPr>
          <a:lstStyle/>
          <a:p>
            <a:pPr marL="0" marR="0" lvl="0" indent="0" algn="just" rtl="0">
              <a:lnSpc>
                <a:spcPct val="100000"/>
              </a:lnSpc>
              <a:spcBef>
                <a:spcPts val="0"/>
              </a:spcBef>
              <a:spcAft>
                <a:spcPts val="0"/>
              </a:spcAft>
              <a:buClr>
                <a:srgbClr val="000000"/>
              </a:buClr>
              <a:buSzPts val="1000"/>
              <a:buFont typeface="Arial"/>
              <a:buNone/>
            </a:pPr>
            <a:r>
              <a:rPr lang="fr-FR" sz="1000" b="0" i="0" u="none" strike="noStrike" cap="none" dirty="0">
                <a:solidFill>
                  <a:schemeClr val="dk1"/>
                </a:solidFill>
                <a:latin typeface="+mj-lt"/>
                <a:ea typeface="Verdana"/>
                <a:cs typeface="Verdana"/>
                <a:sym typeface="Verdana"/>
              </a:rPr>
              <a:t>En cours de réflexion pour la mise en place d’un nouvel outil CRM, la Direction Marketing souhaite maintenir l’outil actuel et identifier les nouvelles fonctionnalités que devra porter le futur CRM. </a:t>
            </a:r>
            <a:endParaRPr dirty="0">
              <a:latin typeface="+mj-lt"/>
            </a:endParaRPr>
          </a:p>
          <a:p>
            <a:pPr marL="0" marR="0" lvl="0" indent="0" algn="just" rtl="0">
              <a:lnSpc>
                <a:spcPct val="100000"/>
              </a:lnSpc>
              <a:spcBef>
                <a:spcPts val="0"/>
              </a:spcBef>
              <a:spcAft>
                <a:spcPts val="0"/>
              </a:spcAft>
              <a:buClr>
                <a:srgbClr val="000000"/>
              </a:buClr>
              <a:buSzPts val="1000"/>
              <a:buFont typeface="Arial"/>
              <a:buNone/>
            </a:pPr>
            <a:r>
              <a:rPr lang="fr-FR" sz="1000" b="0" i="0" u="none" strike="noStrike" cap="none" dirty="0">
                <a:solidFill>
                  <a:schemeClr val="dk1"/>
                </a:solidFill>
                <a:latin typeface="+mj-lt"/>
                <a:ea typeface="Verdana"/>
                <a:cs typeface="Verdana"/>
                <a:sym typeface="Verdana"/>
              </a:rPr>
              <a:t>La mission consiste à accompagner la Direction Marketing dans la mise en place de campagne marketing, dans la gestion de l’outil CRM existant et dans l’élaboration d’un nouveau programme CRM. </a:t>
            </a:r>
            <a:endParaRPr dirty="0">
              <a:latin typeface="+mj-lt"/>
            </a:endParaRPr>
          </a:p>
        </p:txBody>
      </p:sp>
      <p:sp>
        <p:nvSpPr>
          <p:cNvPr id="4087" name="Google Shape;4087;p38"/>
          <p:cNvSpPr txBox="1"/>
          <p:nvPr/>
        </p:nvSpPr>
        <p:spPr>
          <a:xfrm>
            <a:off x="663168" y="2191411"/>
            <a:ext cx="5142523" cy="29848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fr-FR" sz="1200" b="1" i="0" u="none" strike="noStrike" cap="none" dirty="0">
                <a:solidFill>
                  <a:schemeClr val="dk1"/>
                </a:solidFill>
                <a:latin typeface="+mj-lt"/>
                <a:ea typeface="Verdana"/>
                <a:cs typeface="Verdana"/>
                <a:sym typeface="Verdana"/>
              </a:rPr>
              <a:t>DIRECTION MARKETING – </a:t>
            </a:r>
            <a:r>
              <a:rPr lang="fr-FR" sz="1200" b="0" i="1" u="none" strike="noStrike" cap="none" dirty="0">
                <a:solidFill>
                  <a:schemeClr val="dk1"/>
                </a:solidFill>
                <a:latin typeface="+mj-lt"/>
                <a:ea typeface="Verdana"/>
                <a:cs typeface="Verdana"/>
                <a:sym typeface="Verdana"/>
              </a:rPr>
              <a:t>MOA MARKETING ET CRM</a:t>
            </a:r>
            <a:endParaRPr dirty="0">
              <a:latin typeface="+mj-lt"/>
            </a:endParaRPr>
          </a:p>
        </p:txBody>
      </p:sp>
      <p:pic>
        <p:nvPicPr>
          <p:cNvPr id="4088" name="Google Shape;4088;p38"/>
          <p:cNvPicPr preferRelativeResize="0"/>
          <p:nvPr/>
        </p:nvPicPr>
        <p:blipFill rotWithShape="1">
          <a:blip r:embed="rId3">
            <a:alphaModFix/>
          </a:blip>
          <a:srcRect/>
          <a:stretch/>
        </p:blipFill>
        <p:spPr>
          <a:xfrm>
            <a:off x="1650295" y="1853881"/>
            <a:ext cx="368319" cy="196860"/>
          </a:xfrm>
          <a:prstGeom prst="rect">
            <a:avLst/>
          </a:prstGeom>
          <a:noFill/>
          <a:ln>
            <a:noFill/>
          </a:ln>
        </p:spPr>
      </p:pic>
      <p:sp>
        <p:nvSpPr>
          <p:cNvPr id="4093" name="Google Shape;4093;p38"/>
          <p:cNvSpPr txBox="1">
            <a:spLocks noGrp="1"/>
          </p:cNvSpPr>
          <p:nvPr>
            <p:ph type="title"/>
          </p:nvPr>
        </p:nvSpPr>
        <p:spPr>
          <a:xfrm>
            <a:off x="663168" y="320434"/>
            <a:ext cx="10980000" cy="50762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r>
              <a:rPr lang="fr-FR" sz="2400" b="1">
                <a:latin typeface="Verdana"/>
                <a:ea typeface="Verdana"/>
                <a:cs typeface="Verdana"/>
                <a:sym typeface="Verdana"/>
              </a:rPr>
              <a:t>Nos références MGEN</a:t>
            </a:r>
            <a:endParaRPr sz="2400" b="1">
              <a:latin typeface="Verdana"/>
              <a:ea typeface="Verdana"/>
              <a:cs typeface="Verdana"/>
              <a:sym typeface="Verdana"/>
            </a:endParaRPr>
          </a:p>
        </p:txBody>
      </p:sp>
      <p:pic>
        <p:nvPicPr>
          <p:cNvPr id="12" name="Picture 2" descr="Les services MGEN">
            <a:extLst>
              <a:ext uri="{FF2B5EF4-FFF2-40B4-BE49-F238E27FC236}">
                <a16:creationId xmlns:a16="http://schemas.microsoft.com/office/drawing/2014/main" id="{6E0EEF9E-6329-843E-12CE-C33FFDB526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564" y="3743226"/>
            <a:ext cx="1005999" cy="122662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es services MGEN">
            <a:extLst>
              <a:ext uri="{FF2B5EF4-FFF2-40B4-BE49-F238E27FC236}">
                <a16:creationId xmlns:a16="http://schemas.microsoft.com/office/drawing/2014/main" id="{9804A7C0-6E56-2453-6280-153FD4B139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781" y="953177"/>
            <a:ext cx="1046782" cy="127634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Les services MGEN">
            <a:extLst>
              <a:ext uri="{FF2B5EF4-FFF2-40B4-BE49-F238E27FC236}">
                <a16:creationId xmlns:a16="http://schemas.microsoft.com/office/drawing/2014/main" id="{FE9A1434-6CAF-CAF7-8609-039A24037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7835" y="959601"/>
            <a:ext cx="1046781" cy="127634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Les services MGEN">
            <a:extLst>
              <a:ext uri="{FF2B5EF4-FFF2-40B4-BE49-F238E27FC236}">
                <a16:creationId xmlns:a16="http://schemas.microsoft.com/office/drawing/2014/main" id="{D532414D-9C84-209D-AB0F-49BCAA6E9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8617" y="3724120"/>
            <a:ext cx="1005999" cy="12266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97"/>
        <p:cNvGrpSpPr/>
        <p:nvPr/>
      </p:nvGrpSpPr>
      <p:grpSpPr>
        <a:xfrm>
          <a:off x="0" y="0"/>
          <a:ext cx="0" cy="0"/>
          <a:chOff x="0" y="0"/>
          <a:chExt cx="0" cy="0"/>
        </a:xfrm>
      </p:grpSpPr>
      <p:sp>
        <p:nvSpPr>
          <p:cNvPr id="4098" name="Google Shape;4098;p39"/>
          <p:cNvSpPr txBox="1">
            <a:spLocks noGrp="1"/>
          </p:cNvSpPr>
          <p:nvPr>
            <p:ph type="body" idx="3"/>
          </p:nvPr>
        </p:nvSpPr>
        <p:spPr>
          <a:xfrm>
            <a:off x="626268" y="4960118"/>
            <a:ext cx="5141486" cy="1123259"/>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un environnement contraint par la réglementation, la concurrence, l'émergence de nouveaux acteurs et le manque d'innovation, le Groupe VYV a décidé d’élargir son périmètre d'assurance pour promouvoir un système de soin complet qui prend en compte le bien-être, notamment à travers des systèmes de prévention plus personnalisés. </a:t>
            </a:r>
            <a:endParaRPr dirty="0"/>
          </a:p>
          <a:p>
            <a:pPr marL="0" lvl="0" indent="0" algn="just" rtl="0">
              <a:lnSpc>
                <a:spcPct val="100000"/>
              </a:lnSpc>
              <a:spcBef>
                <a:spcPts val="0"/>
              </a:spcBef>
              <a:spcAft>
                <a:spcPts val="0"/>
              </a:spcAft>
              <a:buSzPts val="1000"/>
              <a:buNone/>
            </a:pPr>
            <a:r>
              <a:rPr lang="fr-FR" dirty="0"/>
              <a:t>Il fallait piloter le projet « </a:t>
            </a:r>
            <a:r>
              <a:rPr lang="fr-FR" i="1" dirty="0"/>
              <a:t>La mutuelle du 21ème siècle : garantir et accompagner le mieux-vivre personnel ». </a:t>
            </a:r>
            <a:endParaRPr dirty="0"/>
          </a:p>
          <a:p>
            <a:pPr marL="0" lvl="0" indent="0" algn="just" rtl="0">
              <a:lnSpc>
                <a:spcPct val="100000"/>
              </a:lnSpc>
              <a:spcBef>
                <a:spcPts val="0"/>
              </a:spcBef>
              <a:spcAft>
                <a:spcPts val="0"/>
              </a:spcAft>
              <a:buSzPts val="1000"/>
              <a:buNone/>
            </a:pPr>
            <a:endParaRPr dirty="0"/>
          </a:p>
        </p:txBody>
      </p:sp>
      <p:sp>
        <p:nvSpPr>
          <p:cNvPr id="4099" name="Google Shape;4099;p39"/>
          <p:cNvSpPr txBox="1">
            <a:spLocks noGrp="1"/>
          </p:cNvSpPr>
          <p:nvPr>
            <p:ph type="body" idx="4"/>
          </p:nvPr>
        </p:nvSpPr>
        <p:spPr>
          <a:xfrm>
            <a:off x="626265" y="4618958"/>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DIRECTION INNOVATION– </a:t>
            </a:r>
            <a:r>
              <a:rPr lang="fr-FR" b="0" i="1" dirty="0"/>
              <a:t>PILOTAGE PROJET</a:t>
            </a:r>
            <a:endParaRPr dirty="0"/>
          </a:p>
        </p:txBody>
      </p:sp>
      <p:sp>
        <p:nvSpPr>
          <p:cNvPr id="4100" name="Google Shape;4100;p39"/>
          <p:cNvSpPr txBox="1">
            <a:spLocks noGrp="1"/>
          </p:cNvSpPr>
          <p:nvPr>
            <p:ph type="body" idx="7"/>
          </p:nvPr>
        </p:nvSpPr>
        <p:spPr>
          <a:xfrm>
            <a:off x="6205416" y="4960118"/>
            <a:ext cx="5291016"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Au sein de la Direction de la Communication interne du Groupe VYV, il convenait de redéfinir l'organisation et la circulation de l'information autour de trois convictions :</a:t>
            </a:r>
            <a:endParaRPr dirty="0"/>
          </a:p>
          <a:p>
            <a:pPr marL="171450" lvl="0" indent="-171450" algn="just" rtl="0">
              <a:lnSpc>
                <a:spcPct val="100000"/>
              </a:lnSpc>
              <a:spcBef>
                <a:spcPts val="0"/>
              </a:spcBef>
              <a:spcAft>
                <a:spcPts val="0"/>
              </a:spcAft>
              <a:buSzPts val="1000"/>
              <a:buFont typeface="Arial"/>
              <a:buChar char="-"/>
            </a:pPr>
            <a:r>
              <a:rPr lang="fr-FR" dirty="0"/>
              <a:t>Redéfinir les circuits de l’information en fonction des cibles visées (communautés, élus, informations générales...)</a:t>
            </a:r>
            <a:endParaRPr dirty="0"/>
          </a:p>
          <a:p>
            <a:pPr marL="171450" lvl="0" indent="-171450" algn="just" rtl="0">
              <a:lnSpc>
                <a:spcPct val="100000"/>
              </a:lnSpc>
              <a:spcBef>
                <a:spcPts val="0"/>
              </a:spcBef>
              <a:spcAft>
                <a:spcPts val="0"/>
              </a:spcAft>
              <a:buSzPts val="1000"/>
              <a:buFont typeface="Arial"/>
              <a:buChar char="-"/>
            </a:pPr>
            <a:r>
              <a:rPr lang="fr-FR" dirty="0"/>
              <a:t>Mesurer la capacité de coordination et de pilotage de l’équipe de Communication Interne du Groupe</a:t>
            </a:r>
            <a:endParaRPr dirty="0"/>
          </a:p>
          <a:p>
            <a:pPr marL="171450" lvl="0" indent="-171450" algn="just" rtl="0">
              <a:lnSpc>
                <a:spcPct val="100000"/>
              </a:lnSpc>
              <a:spcBef>
                <a:spcPts val="0"/>
              </a:spcBef>
              <a:spcAft>
                <a:spcPts val="0"/>
              </a:spcAft>
              <a:buSzPts val="1000"/>
              <a:buFont typeface="Arial"/>
              <a:buChar char="-"/>
            </a:pPr>
            <a:r>
              <a:rPr lang="fr-FR" dirty="0"/>
              <a:t>Disposer d’une première vision du potentiel de synergies opérationnelles.</a:t>
            </a:r>
            <a:endParaRPr dirty="0"/>
          </a:p>
          <a:p>
            <a:pPr marL="0" lvl="0" indent="0" algn="just" rtl="0">
              <a:lnSpc>
                <a:spcPct val="100000"/>
              </a:lnSpc>
              <a:spcBef>
                <a:spcPts val="0"/>
              </a:spcBef>
              <a:spcAft>
                <a:spcPts val="0"/>
              </a:spcAft>
              <a:buSzPts val="1000"/>
              <a:buNone/>
            </a:pPr>
            <a:endParaRPr b="0" i="0" u="none" dirty="0"/>
          </a:p>
          <a:p>
            <a:pPr marL="0" lvl="0" indent="0" algn="just" rtl="0">
              <a:lnSpc>
                <a:spcPct val="100000"/>
              </a:lnSpc>
              <a:spcBef>
                <a:spcPts val="0"/>
              </a:spcBef>
              <a:spcAft>
                <a:spcPts val="0"/>
              </a:spcAft>
              <a:buSzPts val="1000"/>
              <a:buNone/>
            </a:pPr>
            <a:endParaRPr dirty="0"/>
          </a:p>
        </p:txBody>
      </p:sp>
      <p:sp>
        <p:nvSpPr>
          <p:cNvPr id="4101" name="Google Shape;4101;p39"/>
          <p:cNvSpPr txBox="1">
            <a:spLocks noGrp="1"/>
          </p:cNvSpPr>
          <p:nvPr>
            <p:ph type="body" idx="8"/>
          </p:nvPr>
        </p:nvSpPr>
        <p:spPr>
          <a:xfrm>
            <a:off x="6503829" y="4618958"/>
            <a:ext cx="4937894"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DIRECTION COMMUNICATION - </a:t>
            </a:r>
            <a:r>
              <a:rPr lang="fr-FR" b="0" i="1" dirty="0"/>
              <a:t>CHEF DE PROJET</a:t>
            </a:r>
            <a:endParaRPr dirty="0"/>
          </a:p>
        </p:txBody>
      </p:sp>
      <p:sp>
        <p:nvSpPr>
          <p:cNvPr id="4102" name="Google Shape;4102;p39"/>
          <p:cNvSpPr txBox="1">
            <a:spLocks noGrp="1"/>
          </p:cNvSpPr>
          <p:nvPr>
            <p:ph type="title"/>
          </p:nvPr>
        </p:nvSpPr>
        <p:spPr>
          <a:xfrm>
            <a:off x="663168" y="320434"/>
            <a:ext cx="10980000" cy="50762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r>
              <a:rPr lang="fr-FR" sz="2400" b="1">
                <a:latin typeface="Verdana"/>
                <a:ea typeface="Verdana"/>
                <a:cs typeface="Verdana"/>
                <a:sym typeface="Verdana"/>
              </a:rPr>
              <a:t>Nos références Groupe VYV</a:t>
            </a:r>
            <a:endParaRPr sz="2400" b="1">
              <a:latin typeface="Verdana"/>
              <a:ea typeface="Verdana"/>
              <a:cs typeface="Verdana"/>
              <a:sym typeface="Verdana"/>
            </a:endParaRPr>
          </a:p>
        </p:txBody>
      </p:sp>
      <p:pic>
        <p:nvPicPr>
          <p:cNvPr id="4103" name="Google Shape;4103;p39"/>
          <p:cNvPicPr preferRelativeResize="0"/>
          <p:nvPr/>
        </p:nvPicPr>
        <p:blipFill rotWithShape="1">
          <a:blip r:embed="rId3">
            <a:alphaModFix/>
          </a:blip>
          <a:srcRect/>
          <a:stretch/>
        </p:blipFill>
        <p:spPr>
          <a:xfrm>
            <a:off x="2272913" y="3694462"/>
            <a:ext cx="1455075" cy="924496"/>
          </a:xfrm>
          <a:prstGeom prst="rect">
            <a:avLst/>
          </a:prstGeom>
          <a:noFill/>
          <a:ln>
            <a:noFill/>
          </a:ln>
        </p:spPr>
      </p:pic>
      <p:pic>
        <p:nvPicPr>
          <p:cNvPr id="4104" name="Google Shape;4104;p39"/>
          <p:cNvPicPr preferRelativeResize="0"/>
          <p:nvPr/>
        </p:nvPicPr>
        <p:blipFill rotWithShape="1">
          <a:blip r:embed="rId3">
            <a:alphaModFix/>
          </a:blip>
          <a:srcRect/>
          <a:stretch/>
        </p:blipFill>
        <p:spPr>
          <a:xfrm>
            <a:off x="8245239" y="3696119"/>
            <a:ext cx="1455075" cy="924496"/>
          </a:xfrm>
          <a:prstGeom prst="rect">
            <a:avLst/>
          </a:prstGeom>
          <a:noFill/>
          <a:ln>
            <a:noFill/>
          </a:ln>
        </p:spPr>
      </p:pic>
      <p:sp>
        <p:nvSpPr>
          <p:cNvPr id="4105" name="Google Shape;4105;p39"/>
          <p:cNvSpPr txBox="1"/>
          <p:nvPr/>
        </p:nvSpPr>
        <p:spPr>
          <a:xfrm>
            <a:off x="488861" y="993032"/>
            <a:ext cx="5598995" cy="2410042"/>
          </a:xfrm>
          <a:prstGeom prst="rect">
            <a:avLst/>
          </a:prstGeom>
          <a:solidFill>
            <a:schemeClr val="lt1"/>
          </a:solidFill>
          <a:ln>
            <a:noFill/>
          </a:ln>
        </p:spPr>
        <p:txBody>
          <a:bodyPr spcFirstLastPara="1" wrap="square" lIns="90000" tIns="45700" rIns="91425" bIns="45700" anchor="t" anchorCtr="0">
            <a:noAutofit/>
          </a:bodyPr>
          <a:lstStyle/>
          <a:p>
            <a:pPr marL="0" marR="0" lvl="0" indent="0" algn="just" rtl="0">
              <a:lnSpc>
                <a:spcPct val="100000"/>
              </a:lnSpc>
              <a:spcBef>
                <a:spcPts val="0"/>
              </a:spcBef>
              <a:spcAft>
                <a:spcPts val="0"/>
              </a:spcAft>
              <a:buNone/>
            </a:pPr>
            <a:endParaRPr sz="1050" b="1" i="0" u="none" strike="noStrike" cap="none" dirty="0">
              <a:solidFill>
                <a:srgbClr val="000000"/>
              </a:solidFill>
              <a:latin typeface="Arial"/>
              <a:ea typeface="Arial"/>
              <a:cs typeface="Arial"/>
              <a:sym typeface="Arial"/>
            </a:endParaRPr>
          </a:p>
          <a:p>
            <a:pPr marL="0" marR="0" lvl="0" indent="0" algn="just" rtl="0">
              <a:lnSpc>
                <a:spcPct val="100000"/>
              </a:lnSpc>
              <a:spcBef>
                <a:spcPts val="600"/>
              </a:spcBef>
              <a:spcAft>
                <a:spcPts val="0"/>
              </a:spcAft>
              <a:buNone/>
            </a:pPr>
            <a:endParaRPr sz="1050" b="1" i="0" u="none" strike="noStrike" cap="none" dirty="0">
              <a:solidFill>
                <a:srgbClr val="000000"/>
              </a:solidFill>
              <a:latin typeface="Arial"/>
              <a:ea typeface="Arial"/>
              <a:cs typeface="Arial"/>
              <a:sym typeface="Arial"/>
            </a:endParaRPr>
          </a:p>
          <a:p>
            <a:pPr marL="0" marR="0" lvl="0" indent="0" algn="just" rtl="0">
              <a:lnSpc>
                <a:spcPct val="100000"/>
              </a:lnSpc>
              <a:spcBef>
                <a:spcPts val="600"/>
              </a:spcBef>
              <a:spcAft>
                <a:spcPts val="0"/>
              </a:spcAft>
              <a:buNone/>
            </a:pPr>
            <a:endParaRPr sz="1050" b="1" i="0" u="none" strike="noStrike" cap="none" dirty="0">
              <a:solidFill>
                <a:srgbClr val="000000"/>
              </a:solidFill>
              <a:latin typeface="Arial"/>
              <a:ea typeface="Arial"/>
              <a:cs typeface="Arial"/>
              <a:sym typeface="Arial"/>
            </a:endParaRPr>
          </a:p>
          <a:p>
            <a:pPr marL="0" marR="0" lvl="0" indent="0" algn="just" rtl="0">
              <a:lnSpc>
                <a:spcPct val="100000"/>
              </a:lnSpc>
              <a:spcBef>
                <a:spcPts val="600"/>
              </a:spcBef>
              <a:spcAft>
                <a:spcPts val="0"/>
              </a:spcAft>
              <a:buNone/>
            </a:pPr>
            <a:endParaRPr sz="1050" b="1" i="0" u="none" strike="noStrike" cap="none" dirty="0">
              <a:solidFill>
                <a:srgbClr val="000000"/>
              </a:solidFill>
              <a:latin typeface="Arial"/>
              <a:ea typeface="Arial"/>
              <a:cs typeface="Arial"/>
              <a:sym typeface="Arial"/>
            </a:endParaRPr>
          </a:p>
          <a:p>
            <a:pPr marL="0" marR="0" lvl="0" indent="0" algn="just" rtl="0">
              <a:lnSpc>
                <a:spcPct val="100000"/>
              </a:lnSpc>
              <a:spcBef>
                <a:spcPts val="600"/>
              </a:spcBef>
              <a:spcAft>
                <a:spcPts val="0"/>
              </a:spcAft>
              <a:buNone/>
            </a:pPr>
            <a:endParaRPr sz="1050" b="1"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None/>
            </a:pPr>
            <a:r>
              <a:rPr lang="fr-FR" sz="1200" b="1" i="0" u="none" strike="noStrike" cap="none" dirty="0">
                <a:solidFill>
                  <a:srgbClr val="000000"/>
                </a:solidFill>
                <a:latin typeface="Arial"/>
                <a:ea typeface="Arial"/>
                <a:cs typeface="Arial"/>
                <a:sym typeface="Arial"/>
              </a:rPr>
              <a:t>DIRECTION DE LA TRANSFORMATION - </a:t>
            </a:r>
            <a:r>
              <a:rPr lang="fr-FR" sz="1200" b="0" i="1" u="none" strike="noStrike" cap="none" dirty="0">
                <a:solidFill>
                  <a:srgbClr val="000000"/>
                </a:solidFill>
                <a:latin typeface="Arial"/>
                <a:ea typeface="Arial"/>
                <a:cs typeface="Arial"/>
                <a:sym typeface="Arial"/>
              </a:rPr>
              <a:t>DATA SCIENTIST</a:t>
            </a:r>
            <a:endParaRPr sz="1200" dirty="0"/>
          </a:p>
          <a:p>
            <a:pPr marL="0" marR="0" lvl="0" indent="0" algn="just" rtl="0">
              <a:lnSpc>
                <a:spcPct val="100000"/>
              </a:lnSpc>
              <a:spcBef>
                <a:spcPts val="600"/>
              </a:spcBef>
              <a:spcAft>
                <a:spcPts val="0"/>
              </a:spcAft>
              <a:buNone/>
            </a:pPr>
            <a:endParaRPr sz="1050" b="0" i="1" u="none" strike="noStrike" cap="none" dirty="0">
              <a:solidFill>
                <a:srgbClr val="000000"/>
              </a:solidFill>
              <a:latin typeface="Arial"/>
              <a:ea typeface="Arial"/>
              <a:cs typeface="Arial"/>
              <a:sym typeface="Arial"/>
            </a:endParaRPr>
          </a:p>
          <a:p>
            <a:pPr marL="0" marR="0" lvl="0" indent="0" algn="just" rtl="0">
              <a:lnSpc>
                <a:spcPct val="100000"/>
              </a:lnSpc>
              <a:spcBef>
                <a:spcPts val="600"/>
              </a:spcBef>
              <a:spcAft>
                <a:spcPts val="0"/>
              </a:spcAft>
              <a:buNone/>
            </a:pPr>
            <a:endParaRPr sz="1400" b="0" i="0" u="none" strike="noStrike" cap="none" dirty="0">
              <a:solidFill>
                <a:srgbClr val="000000"/>
              </a:solidFill>
              <a:latin typeface="Verdana"/>
              <a:ea typeface="Verdana"/>
              <a:cs typeface="Verdana"/>
              <a:sym typeface="Verdana"/>
            </a:endParaRPr>
          </a:p>
        </p:txBody>
      </p:sp>
      <p:pic>
        <p:nvPicPr>
          <p:cNvPr id="4106" name="Google Shape;4106;p39"/>
          <p:cNvPicPr preferRelativeResize="0"/>
          <p:nvPr/>
        </p:nvPicPr>
        <p:blipFill rotWithShape="1">
          <a:blip r:embed="rId3">
            <a:alphaModFix/>
          </a:blip>
          <a:srcRect/>
          <a:stretch/>
        </p:blipFill>
        <p:spPr>
          <a:xfrm>
            <a:off x="2264575" y="1197529"/>
            <a:ext cx="1455075" cy="924496"/>
          </a:xfrm>
          <a:prstGeom prst="rect">
            <a:avLst/>
          </a:prstGeom>
          <a:noFill/>
          <a:ln>
            <a:noFill/>
          </a:ln>
        </p:spPr>
      </p:pic>
      <p:sp>
        <p:nvSpPr>
          <p:cNvPr id="4107" name="Google Shape;4107;p39"/>
          <p:cNvSpPr txBox="1"/>
          <p:nvPr/>
        </p:nvSpPr>
        <p:spPr>
          <a:xfrm>
            <a:off x="6225260" y="2505199"/>
            <a:ext cx="5340475" cy="1132678"/>
          </a:xfrm>
          <a:prstGeom prst="rect">
            <a:avLst/>
          </a:prstGeom>
          <a:noFill/>
          <a:ln>
            <a:noFill/>
          </a:ln>
        </p:spPr>
        <p:txBody>
          <a:bodyPr spcFirstLastPara="1" wrap="square" lIns="90000" tIns="45700" rIns="91425" bIns="45700" anchor="t" anchorCtr="0">
            <a:noAutofit/>
          </a:bodyPr>
          <a:lstStyle/>
          <a:p>
            <a:pPr marL="0" marR="0" lvl="0" indent="0" algn="just" rtl="0">
              <a:lnSpc>
                <a:spcPct val="100000"/>
              </a:lnSpc>
              <a:spcBef>
                <a:spcPts val="0"/>
              </a:spcBef>
              <a:spcAft>
                <a:spcPts val="0"/>
              </a:spcAft>
              <a:buClr>
                <a:srgbClr val="000000"/>
              </a:buClr>
              <a:buSzPts val="1000"/>
              <a:buFont typeface="Arial"/>
              <a:buNone/>
            </a:pPr>
            <a:r>
              <a:rPr lang="fr-FR" sz="1000" b="0" i="0" u="none" strike="noStrike" cap="none" dirty="0">
                <a:solidFill>
                  <a:schemeClr val="dk1"/>
                </a:solidFill>
                <a:latin typeface="+mj-lt"/>
                <a:ea typeface="Verdana"/>
                <a:cs typeface="Verdana"/>
                <a:sym typeface="Verdana"/>
              </a:rPr>
              <a:t>Au sein de la Direction Financière, la mission consiste à piloter un projet de développement et de formalisation de l’approche ISR d’HARMONIE MUTUELLE. </a:t>
            </a:r>
            <a:endParaRPr dirty="0">
              <a:latin typeface="+mj-lt"/>
            </a:endParaRPr>
          </a:p>
          <a:p>
            <a:pPr marL="0" marR="0" lvl="0" indent="0" algn="just" rtl="0">
              <a:lnSpc>
                <a:spcPct val="100000"/>
              </a:lnSpc>
              <a:spcBef>
                <a:spcPts val="0"/>
              </a:spcBef>
              <a:spcAft>
                <a:spcPts val="0"/>
              </a:spcAft>
              <a:buClr>
                <a:srgbClr val="000000"/>
              </a:buClr>
              <a:buSzPts val="1000"/>
              <a:buFont typeface="Arial"/>
              <a:buNone/>
            </a:pPr>
            <a:r>
              <a:rPr lang="fr-FR" sz="1000" b="0" i="0" u="none" strike="noStrike" cap="none" dirty="0">
                <a:solidFill>
                  <a:schemeClr val="dk1"/>
                </a:solidFill>
                <a:latin typeface="+mj-lt"/>
                <a:ea typeface="Verdana"/>
                <a:cs typeface="Verdana"/>
                <a:sym typeface="Verdana"/>
              </a:rPr>
              <a:t>Une politique ISR a dû être mise en place, les portefeuilles ont dû être analysés en fonction des différents indicateurs ESG. </a:t>
            </a:r>
            <a:endParaRPr dirty="0">
              <a:latin typeface="+mj-lt"/>
            </a:endParaRPr>
          </a:p>
        </p:txBody>
      </p:sp>
      <p:sp>
        <p:nvSpPr>
          <p:cNvPr id="4108" name="Google Shape;4108;p39"/>
          <p:cNvSpPr txBox="1"/>
          <p:nvPr/>
        </p:nvSpPr>
        <p:spPr>
          <a:xfrm>
            <a:off x="6578332" y="2188836"/>
            <a:ext cx="5189744" cy="27863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fr-FR" sz="1200" b="1" i="0" u="none" strike="noStrike" cap="none" dirty="0">
                <a:solidFill>
                  <a:schemeClr val="dk1"/>
                </a:solidFill>
                <a:latin typeface="+mj-lt"/>
                <a:ea typeface="Verdana"/>
                <a:cs typeface="Verdana"/>
                <a:sym typeface="Verdana"/>
              </a:rPr>
              <a:t>DIRECTION FINANCIÈRE – </a:t>
            </a:r>
            <a:r>
              <a:rPr lang="fr-FR" sz="1200" b="0" i="1" u="none" strike="noStrike" cap="none" dirty="0">
                <a:solidFill>
                  <a:schemeClr val="dk1"/>
                </a:solidFill>
                <a:latin typeface="+mj-lt"/>
                <a:ea typeface="Arial"/>
                <a:cs typeface="Arial"/>
                <a:sym typeface="Arial"/>
              </a:rPr>
              <a:t>CHEF DE PROJET ISR/ESG</a:t>
            </a:r>
            <a:endParaRPr sz="1200" b="0" i="1" u="none" strike="noStrike" cap="none" dirty="0">
              <a:solidFill>
                <a:schemeClr val="dk1"/>
              </a:solidFill>
              <a:latin typeface="+mj-lt"/>
              <a:ea typeface="Arial"/>
              <a:cs typeface="Arial"/>
              <a:sym typeface="Arial"/>
            </a:endParaRPr>
          </a:p>
        </p:txBody>
      </p:sp>
      <p:pic>
        <p:nvPicPr>
          <p:cNvPr id="4109" name="Google Shape;4109;p39"/>
          <p:cNvPicPr preferRelativeResize="0"/>
          <p:nvPr/>
        </p:nvPicPr>
        <p:blipFill rotWithShape="1">
          <a:blip r:embed="rId3">
            <a:alphaModFix/>
          </a:blip>
          <a:srcRect/>
          <a:stretch/>
        </p:blipFill>
        <p:spPr>
          <a:xfrm>
            <a:off x="8327074" y="1234047"/>
            <a:ext cx="1455075" cy="924496"/>
          </a:xfrm>
          <a:prstGeom prst="rect">
            <a:avLst/>
          </a:prstGeom>
          <a:noFill/>
          <a:ln>
            <a:noFill/>
          </a:ln>
        </p:spPr>
      </p:pic>
      <p:sp>
        <p:nvSpPr>
          <p:cNvPr id="4110" name="Google Shape;4110;p39"/>
          <p:cNvSpPr txBox="1"/>
          <p:nvPr/>
        </p:nvSpPr>
        <p:spPr>
          <a:xfrm>
            <a:off x="626265" y="2517297"/>
            <a:ext cx="5006504" cy="86177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fr-FR" sz="1000" b="0" i="0" u="none" strike="noStrike" cap="none" dirty="0">
                <a:solidFill>
                  <a:srgbClr val="000000"/>
                </a:solidFill>
                <a:latin typeface="Arial"/>
                <a:ea typeface="Arial"/>
                <a:cs typeface="Arial"/>
                <a:sym typeface="Arial"/>
              </a:rPr>
              <a:t>Pour améliorer la performance des différents processus de gestion des clients, la Direction de la transformation a été chargée de mettre en œuvre un modèle efficace de prévision des effectifs ETP et des besoins des clients afin d'améliorer la qualité des services en produisant des indicateurs et des pratiques organisationnelles</a:t>
            </a:r>
            <a:endParaRPr dirty="0"/>
          </a:p>
          <a:p>
            <a:pPr marL="0" marR="0" lvl="0" indent="0" algn="just" rtl="0">
              <a:lnSpc>
                <a:spcPct val="100000"/>
              </a:lnSpc>
              <a:spcBef>
                <a:spcPts val="0"/>
              </a:spcBef>
              <a:spcAft>
                <a:spcPts val="0"/>
              </a:spcAft>
              <a:buNone/>
            </a:pPr>
            <a:r>
              <a:rPr lang="fr-FR" sz="1000" b="0" i="0" u="none" strike="noStrike" cap="none" dirty="0">
                <a:solidFill>
                  <a:srgbClr val="000000"/>
                </a:solidFill>
                <a:latin typeface="Arial"/>
                <a:ea typeface="Arial"/>
                <a:cs typeface="Arial"/>
                <a:sym typeface="Arial"/>
              </a:rPr>
              <a:t>et opérationnelles fiables.</a:t>
            </a:r>
            <a:endParaRPr sz="10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15"/>
        <p:cNvGrpSpPr/>
        <p:nvPr/>
      </p:nvGrpSpPr>
      <p:grpSpPr>
        <a:xfrm>
          <a:off x="0" y="0"/>
          <a:ext cx="0" cy="0"/>
          <a:chOff x="0" y="0"/>
          <a:chExt cx="0" cy="0"/>
        </a:xfrm>
      </p:grpSpPr>
      <p:sp>
        <p:nvSpPr>
          <p:cNvPr id="4116" name="Google Shape;4116;p40"/>
          <p:cNvSpPr txBox="1">
            <a:spLocks noGrp="1"/>
          </p:cNvSpPr>
          <p:nvPr>
            <p:ph type="title"/>
          </p:nvPr>
        </p:nvSpPr>
        <p:spPr>
          <a:xfrm>
            <a:off x="663168" y="320434"/>
            <a:ext cx="10980000" cy="50762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r>
              <a:rPr lang="fr-FR" sz="2400" b="1">
                <a:latin typeface="Verdana"/>
                <a:ea typeface="Verdana"/>
                <a:cs typeface="Verdana"/>
                <a:sym typeface="Verdana"/>
              </a:rPr>
              <a:t>Autres références missions AMOA Change (1/3)</a:t>
            </a:r>
            <a:endParaRPr sz="2400" b="1">
              <a:latin typeface="Verdana"/>
              <a:ea typeface="Verdana"/>
              <a:cs typeface="Verdana"/>
              <a:sym typeface="Verdana"/>
            </a:endParaRPr>
          </a:p>
        </p:txBody>
      </p:sp>
      <p:sp>
        <p:nvSpPr>
          <p:cNvPr id="4117" name="Google Shape;4117;p40"/>
          <p:cNvSpPr txBox="1">
            <a:spLocks noGrp="1"/>
          </p:cNvSpPr>
          <p:nvPr>
            <p:ph type="body" idx="1"/>
          </p:nvPr>
        </p:nvSpPr>
        <p:spPr>
          <a:xfrm>
            <a:off x="626268" y="2584723"/>
            <a:ext cx="4851665"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b="0" i="0" u="none" dirty="0"/>
              <a:t>Square a accompagné et conseillé sur l’élaboration d’un cadre de procédures (validation, mise à jour, archivage et diffusion des procédures​) et leur rédaction. Elaboration d’un plan de travail et priorisation​, planning d’atelier​, animation d’atelier avec les lignes métiers, rédaction des procédures et intégration des commentaires et mise à jour des procédures à la suite des retours métiers.</a:t>
            </a:r>
            <a:endParaRPr dirty="0"/>
          </a:p>
          <a:p>
            <a:pPr marL="0" lvl="0" indent="0" algn="just" rtl="0">
              <a:lnSpc>
                <a:spcPct val="100000"/>
              </a:lnSpc>
              <a:spcBef>
                <a:spcPts val="0"/>
              </a:spcBef>
              <a:spcAft>
                <a:spcPts val="0"/>
              </a:spcAft>
              <a:buSzPts val="1000"/>
              <a:buNone/>
            </a:pPr>
            <a:endParaRPr dirty="0"/>
          </a:p>
          <a:p>
            <a:pPr marL="0" lvl="0" indent="0" algn="just" rtl="0">
              <a:lnSpc>
                <a:spcPct val="100000"/>
              </a:lnSpc>
              <a:spcBef>
                <a:spcPts val="0"/>
              </a:spcBef>
              <a:spcAft>
                <a:spcPts val="0"/>
              </a:spcAft>
              <a:buSzPts val="1000"/>
              <a:buNone/>
            </a:pPr>
            <a:endParaRPr dirty="0"/>
          </a:p>
        </p:txBody>
      </p:sp>
      <p:sp>
        <p:nvSpPr>
          <p:cNvPr id="4118" name="Google Shape;4118;p40"/>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sz="1200" dirty="0"/>
              <a:t>RÉDACTION DE PROCÉDURES "COEUR MÉTIER"</a:t>
            </a:r>
            <a:endParaRPr dirty="0"/>
          </a:p>
        </p:txBody>
      </p:sp>
      <p:sp>
        <p:nvSpPr>
          <p:cNvPr id="4119" name="Google Shape;4119;p40"/>
          <p:cNvSpPr txBox="1">
            <a:spLocks noGrp="1"/>
          </p:cNvSpPr>
          <p:nvPr>
            <p:ph type="body" idx="3"/>
          </p:nvPr>
        </p:nvSpPr>
        <p:spPr>
          <a:xfrm>
            <a:off x="626268" y="5059299"/>
            <a:ext cx="4851665"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le cadre de sa fusion avec </a:t>
            </a:r>
            <a:r>
              <a:rPr lang="fr-FR" dirty="0" err="1"/>
              <a:t>Féderis</a:t>
            </a:r>
            <a:r>
              <a:rPr lang="fr-FR" dirty="0"/>
              <a:t> gestion d’actifs. LBP AM souhaite transformer et automatiser ses procédures d’attribution de performance et de </a:t>
            </a:r>
            <a:r>
              <a:rPr lang="fr-FR" dirty="0" err="1"/>
              <a:t>reporting</a:t>
            </a:r>
            <a:r>
              <a:rPr lang="fr-FR" dirty="0"/>
              <a:t>. Square est intervenu sur la spécifications et expressions de besoins, analyse de l’existant et tests, ce qui a conduit à la rédaction de nouvelles procédures et modes opératoires détaillés.</a:t>
            </a:r>
            <a:endParaRPr dirty="0"/>
          </a:p>
          <a:p>
            <a:pPr marL="0" lvl="0" indent="0" algn="just" rtl="0">
              <a:lnSpc>
                <a:spcPct val="100000"/>
              </a:lnSpc>
              <a:spcBef>
                <a:spcPts val="0"/>
              </a:spcBef>
              <a:spcAft>
                <a:spcPts val="0"/>
              </a:spcAft>
              <a:buSzPts val="1000"/>
              <a:buNone/>
            </a:pPr>
            <a:endParaRPr dirty="0"/>
          </a:p>
        </p:txBody>
      </p:sp>
      <p:sp>
        <p:nvSpPr>
          <p:cNvPr id="4120" name="Google Shape;4120;p40"/>
          <p:cNvSpPr txBox="1">
            <a:spLocks noGrp="1"/>
          </p:cNvSpPr>
          <p:nvPr>
            <p:ph type="body" idx="4"/>
          </p:nvPr>
        </p:nvSpPr>
        <p:spPr>
          <a:xfrm>
            <a:off x="655859" y="4790409"/>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ACCOMPAGNEMENT CHANGE SUITE A UNE FUSION</a:t>
            </a:r>
            <a:endParaRPr dirty="0"/>
          </a:p>
        </p:txBody>
      </p:sp>
      <p:sp>
        <p:nvSpPr>
          <p:cNvPr id="4121" name="Google Shape;4121;p40"/>
          <p:cNvSpPr txBox="1">
            <a:spLocks noGrp="1"/>
          </p:cNvSpPr>
          <p:nvPr>
            <p:ph type="body" idx="8"/>
          </p:nvPr>
        </p:nvSpPr>
        <p:spPr>
          <a:xfrm>
            <a:off x="6503826" y="4790409"/>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AMÉLIORATION &amp; REFONTE PROCESSUS / CHANGE </a:t>
            </a:r>
            <a:endParaRPr dirty="0"/>
          </a:p>
        </p:txBody>
      </p:sp>
      <p:sp>
        <p:nvSpPr>
          <p:cNvPr id="4122" name="Google Shape;4122;p40"/>
          <p:cNvSpPr txBox="1">
            <a:spLocks noGrp="1"/>
          </p:cNvSpPr>
          <p:nvPr>
            <p:ph type="body" idx="6"/>
          </p:nvPr>
        </p:nvSpPr>
        <p:spPr>
          <a:xfrm>
            <a:off x="6503826" y="2287856"/>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RÉDACTIONS PROCÉDURES </a:t>
            </a:r>
            <a:endParaRPr dirty="0"/>
          </a:p>
        </p:txBody>
      </p:sp>
      <p:sp>
        <p:nvSpPr>
          <p:cNvPr id="4123" name="Google Shape;4123;p40"/>
          <p:cNvSpPr txBox="1">
            <a:spLocks noGrp="1"/>
          </p:cNvSpPr>
          <p:nvPr>
            <p:ph type="body" idx="5"/>
          </p:nvPr>
        </p:nvSpPr>
        <p:spPr>
          <a:xfrm>
            <a:off x="6503832" y="2584723"/>
            <a:ext cx="4748371" cy="1013702"/>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Square est intervenu dans le cadre d’une mission réglementaire dont l’objectif est la rédaction de procédures, d’une note chapeau, et de l’élaboration d’une étude d’impact. Pilotage du projet, organisation d’ateliers de travails avec les opérationnels afin de recueillir les informations nécessaires à la rédaction des procédures, documentation détaillée pour chacune des procédures. </a:t>
            </a:r>
            <a:endParaRPr dirty="0"/>
          </a:p>
        </p:txBody>
      </p:sp>
      <p:sp>
        <p:nvSpPr>
          <p:cNvPr id="4124" name="Google Shape;4124;p40"/>
          <p:cNvSpPr txBox="1">
            <a:spLocks noGrp="1"/>
          </p:cNvSpPr>
          <p:nvPr>
            <p:ph type="body" idx="7"/>
          </p:nvPr>
        </p:nvSpPr>
        <p:spPr>
          <a:xfrm>
            <a:off x="6503829" y="5069044"/>
            <a:ext cx="4748371" cy="1272489"/>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Square accompagne la DRHAC sur le portage de projets (efficacité opérationnelle / transformation / outils / change ). Dans ce cadre, nous intervenons tout au long de ces projets sur 4 axes : pilotage des chantiers (planning, cartographie, suivi), organisationnel, refonte des processus (analyse, rédaction de nouvelles procédures) et outil (mode opératoires, user cases).</a:t>
            </a:r>
            <a:endParaRPr dirty="0"/>
          </a:p>
        </p:txBody>
      </p:sp>
      <p:pic>
        <p:nvPicPr>
          <p:cNvPr id="4125" name="Google Shape;4125;p40" descr="Publications | La France Mutualiste"/>
          <p:cNvPicPr preferRelativeResize="0"/>
          <p:nvPr/>
        </p:nvPicPr>
        <p:blipFill rotWithShape="1">
          <a:blip r:embed="rId3">
            <a:alphaModFix/>
          </a:blip>
          <a:srcRect/>
          <a:stretch/>
        </p:blipFill>
        <p:spPr>
          <a:xfrm>
            <a:off x="2140024" y="1127822"/>
            <a:ext cx="1780042" cy="1028864"/>
          </a:xfrm>
          <a:prstGeom prst="rect">
            <a:avLst/>
          </a:prstGeom>
          <a:noFill/>
          <a:ln>
            <a:noFill/>
          </a:ln>
        </p:spPr>
      </p:pic>
      <p:pic>
        <p:nvPicPr>
          <p:cNvPr id="4126" name="Google Shape;4126;p40"/>
          <p:cNvPicPr preferRelativeResize="0"/>
          <p:nvPr/>
        </p:nvPicPr>
        <p:blipFill rotWithShape="1">
          <a:blip r:embed="rId4">
            <a:alphaModFix/>
          </a:blip>
          <a:srcRect/>
          <a:stretch/>
        </p:blipFill>
        <p:spPr>
          <a:xfrm>
            <a:off x="7413281" y="1256754"/>
            <a:ext cx="3093853" cy="863641"/>
          </a:xfrm>
          <a:prstGeom prst="rect">
            <a:avLst/>
          </a:prstGeom>
          <a:noFill/>
          <a:ln>
            <a:noFill/>
          </a:ln>
        </p:spPr>
      </p:pic>
      <p:pic>
        <p:nvPicPr>
          <p:cNvPr id="4127" name="Google Shape;4127;p40"/>
          <p:cNvPicPr preferRelativeResize="0"/>
          <p:nvPr/>
        </p:nvPicPr>
        <p:blipFill rotWithShape="1">
          <a:blip r:embed="rId5">
            <a:alphaModFix/>
          </a:blip>
          <a:srcRect/>
          <a:stretch/>
        </p:blipFill>
        <p:spPr>
          <a:xfrm>
            <a:off x="1949316" y="3677735"/>
            <a:ext cx="2205567" cy="1102784"/>
          </a:xfrm>
          <a:prstGeom prst="rect">
            <a:avLst/>
          </a:prstGeom>
          <a:noFill/>
          <a:ln>
            <a:noFill/>
          </a:ln>
        </p:spPr>
      </p:pic>
      <p:pic>
        <p:nvPicPr>
          <p:cNvPr id="4128" name="Google Shape;4128;p40"/>
          <p:cNvPicPr preferRelativeResize="0"/>
          <p:nvPr/>
        </p:nvPicPr>
        <p:blipFill rotWithShape="1">
          <a:blip r:embed="rId6">
            <a:alphaModFix/>
          </a:blip>
          <a:srcRect/>
          <a:stretch/>
        </p:blipFill>
        <p:spPr>
          <a:xfrm>
            <a:off x="8553585" y="3712942"/>
            <a:ext cx="1039148" cy="10391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33"/>
        <p:cNvGrpSpPr/>
        <p:nvPr/>
      </p:nvGrpSpPr>
      <p:grpSpPr>
        <a:xfrm>
          <a:off x="0" y="0"/>
          <a:ext cx="0" cy="0"/>
          <a:chOff x="0" y="0"/>
          <a:chExt cx="0" cy="0"/>
        </a:xfrm>
      </p:grpSpPr>
      <p:sp>
        <p:nvSpPr>
          <p:cNvPr id="4134" name="Google Shape;4134;p42"/>
          <p:cNvSpPr txBox="1">
            <a:spLocks noGrp="1"/>
          </p:cNvSpPr>
          <p:nvPr>
            <p:ph type="title"/>
          </p:nvPr>
        </p:nvSpPr>
        <p:spPr>
          <a:xfrm>
            <a:off x="663168" y="320434"/>
            <a:ext cx="10980000" cy="50762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r>
              <a:rPr lang="fr-FR" sz="2400" b="1">
                <a:latin typeface="Verdana"/>
                <a:ea typeface="Verdana"/>
                <a:cs typeface="Verdana"/>
                <a:sym typeface="Verdana"/>
              </a:rPr>
              <a:t>Autres références missions AMOA Change (2/3)</a:t>
            </a:r>
            <a:endParaRPr sz="2400" b="1">
              <a:latin typeface="Verdana"/>
              <a:ea typeface="Verdana"/>
              <a:cs typeface="Verdana"/>
              <a:sym typeface="Verdana"/>
            </a:endParaRPr>
          </a:p>
        </p:txBody>
      </p:sp>
      <p:sp>
        <p:nvSpPr>
          <p:cNvPr id="4135" name="Google Shape;4135;p42"/>
          <p:cNvSpPr txBox="1">
            <a:spLocks noGrp="1"/>
          </p:cNvSpPr>
          <p:nvPr>
            <p:ph type="body" idx="1"/>
          </p:nvPr>
        </p:nvSpPr>
        <p:spPr>
          <a:xfrm>
            <a:off x="626268" y="2584723"/>
            <a:ext cx="4748371" cy="942614"/>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Au sein de l’équipe « Méthodes et Procédures » de la Direction Administrative et Financière (DAF), Square a accompagné la SCOR sur le déploiement d’une nouvelle interface de gestion documentaire. Square a recueilli le besoin de formation des collaborateur, contribué à l’établissement du plan de formation, transfert des activités et compétences ainsi qu’à la production des outils de formation.</a:t>
            </a:r>
            <a:endParaRPr dirty="0"/>
          </a:p>
          <a:p>
            <a:pPr marL="0" lvl="0" indent="0" algn="just" rtl="0">
              <a:lnSpc>
                <a:spcPct val="100000"/>
              </a:lnSpc>
              <a:spcBef>
                <a:spcPts val="0"/>
              </a:spcBef>
              <a:spcAft>
                <a:spcPts val="0"/>
              </a:spcAft>
              <a:buSzPts val="1000"/>
              <a:buNone/>
            </a:pPr>
            <a:endParaRPr dirty="0"/>
          </a:p>
        </p:txBody>
      </p:sp>
      <p:sp>
        <p:nvSpPr>
          <p:cNvPr id="4136" name="Google Shape;4136;p42"/>
          <p:cNvSpPr txBox="1">
            <a:spLocks noGrp="1"/>
          </p:cNvSpPr>
          <p:nvPr>
            <p:ph type="body" idx="2"/>
          </p:nvPr>
        </p:nvSpPr>
        <p:spPr>
          <a:xfrm>
            <a:off x="626265" y="2306088"/>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CONDUITE DU CHANGEMENT METHODE ET PROCEDURE</a:t>
            </a:r>
            <a:endParaRPr dirty="0"/>
          </a:p>
        </p:txBody>
      </p:sp>
      <p:sp>
        <p:nvSpPr>
          <p:cNvPr id="4137" name="Google Shape;4137;p42"/>
          <p:cNvSpPr txBox="1">
            <a:spLocks noGrp="1"/>
          </p:cNvSpPr>
          <p:nvPr>
            <p:ph type="body" idx="3"/>
          </p:nvPr>
        </p:nvSpPr>
        <p:spPr>
          <a:xfrm>
            <a:off x="626264" y="4851955"/>
            <a:ext cx="4748371" cy="1684064"/>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le cadre d’une évolution réglementaire concernant l’obligation pour les établissements financiers de déclarer à l’administration fiscale les clients qui refusent de communiquer leur résidence fiscale et numéro d’identification fiscale. Square a accompagné la société Générale dans la mise en place de procédures permettant de respecter cette nouvelle réglementation (expression de besoin, spécifications fonctionnelles, cahier de tests IT). Ainsi que sur la production des supports de formation pour le passage en RUN.</a:t>
            </a:r>
            <a:endParaRPr dirty="0"/>
          </a:p>
        </p:txBody>
      </p:sp>
      <p:sp>
        <p:nvSpPr>
          <p:cNvPr id="4138" name="Google Shape;4138;p42"/>
          <p:cNvSpPr txBox="1">
            <a:spLocks noGrp="1"/>
          </p:cNvSpPr>
          <p:nvPr>
            <p:ph type="body" idx="4"/>
          </p:nvPr>
        </p:nvSpPr>
        <p:spPr>
          <a:xfrm>
            <a:off x="626264" y="4565076"/>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ACCOMPAGNEMENT EVOLUTION REGLEMENTAIRE</a:t>
            </a:r>
            <a:endParaRPr dirty="0"/>
          </a:p>
        </p:txBody>
      </p:sp>
      <p:sp>
        <p:nvSpPr>
          <p:cNvPr id="4139" name="Google Shape;4139;p42"/>
          <p:cNvSpPr txBox="1">
            <a:spLocks noGrp="1"/>
          </p:cNvSpPr>
          <p:nvPr>
            <p:ph type="body" idx="8"/>
          </p:nvPr>
        </p:nvSpPr>
        <p:spPr>
          <a:xfrm>
            <a:off x="6503827" y="4508116"/>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ACCOMPAGNEMENT ORGANISATIONNEL AMOA</a:t>
            </a:r>
            <a:endParaRPr dirty="0"/>
          </a:p>
        </p:txBody>
      </p:sp>
      <p:sp>
        <p:nvSpPr>
          <p:cNvPr id="4140" name="Google Shape;4140;p42"/>
          <p:cNvSpPr txBox="1">
            <a:spLocks noGrp="1"/>
          </p:cNvSpPr>
          <p:nvPr>
            <p:ph type="body" idx="6"/>
          </p:nvPr>
        </p:nvSpPr>
        <p:spPr>
          <a:xfrm>
            <a:off x="6503827" y="2289408"/>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FORMATION CONDUITE DU CHANGEMENT</a:t>
            </a:r>
            <a:endParaRPr dirty="0"/>
          </a:p>
        </p:txBody>
      </p:sp>
      <p:sp>
        <p:nvSpPr>
          <p:cNvPr id="4141" name="Google Shape;4141;p42"/>
          <p:cNvSpPr txBox="1">
            <a:spLocks noGrp="1"/>
          </p:cNvSpPr>
          <p:nvPr>
            <p:ph type="body" idx="5"/>
          </p:nvPr>
        </p:nvSpPr>
        <p:spPr>
          <a:xfrm>
            <a:off x="6503832" y="2584723"/>
            <a:ext cx="4748371" cy="942614"/>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Accompagnement de la cellule « Conduite de changement » par Square sur l’encadrement et la formation des chefs de projet et des binômes métier. Square a participé à la création de la formation conduite de changement ainsi qu’à l’animation de ces formations auprès des collaborateurs.</a:t>
            </a:r>
            <a:endParaRPr dirty="0"/>
          </a:p>
        </p:txBody>
      </p:sp>
      <p:sp>
        <p:nvSpPr>
          <p:cNvPr id="4142" name="Google Shape;4142;p42"/>
          <p:cNvSpPr txBox="1">
            <a:spLocks noGrp="1"/>
          </p:cNvSpPr>
          <p:nvPr>
            <p:ph type="body" idx="7"/>
          </p:nvPr>
        </p:nvSpPr>
        <p:spPr>
          <a:xfrm>
            <a:off x="6503827" y="4838354"/>
            <a:ext cx="4748371" cy="1299979"/>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le cadre d’un changement d’outil de facturation et de gestion des stocks, la Direction Financière de Pierre &amp; Vacances à fait appel à Square pour l’accompagner dans la revue de ces processus et pour la rédaction de nouvelles procédures. Un premier volet concernait la revue des processus déjà existant, les recommandations et leur mise en œuvre. Le second volet correspondait à la formalisation de procédures sur le nouvel outil. </a:t>
            </a:r>
            <a:endParaRPr dirty="0"/>
          </a:p>
        </p:txBody>
      </p:sp>
      <p:pic>
        <p:nvPicPr>
          <p:cNvPr id="4143" name="Google Shape;4143;p42" descr="SCOR | Semaine européenne pour l'emploi des personnes handicapées | Du 14  au 20 novembre 2022"/>
          <p:cNvPicPr preferRelativeResize="0"/>
          <p:nvPr/>
        </p:nvPicPr>
        <p:blipFill rotWithShape="1">
          <a:blip r:embed="rId3">
            <a:alphaModFix/>
          </a:blip>
          <a:srcRect/>
          <a:stretch/>
        </p:blipFill>
        <p:spPr>
          <a:xfrm>
            <a:off x="1875013" y="1162143"/>
            <a:ext cx="1858787" cy="1127265"/>
          </a:xfrm>
          <a:prstGeom prst="rect">
            <a:avLst/>
          </a:prstGeom>
          <a:noFill/>
          <a:ln>
            <a:noFill/>
          </a:ln>
        </p:spPr>
      </p:pic>
      <p:pic>
        <p:nvPicPr>
          <p:cNvPr id="4144" name="Google Shape;4144;p42" descr="COFACE - Dialogues de l'inclusion 2020"/>
          <p:cNvPicPr preferRelativeResize="0"/>
          <p:nvPr/>
        </p:nvPicPr>
        <p:blipFill rotWithShape="1">
          <a:blip r:embed="rId4">
            <a:alphaModFix/>
          </a:blip>
          <a:srcRect/>
          <a:stretch/>
        </p:blipFill>
        <p:spPr>
          <a:xfrm>
            <a:off x="7719381" y="1227298"/>
            <a:ext cx="2329494" cy="1018546"/>
          </a:xfrm>
          <a:prstGeom prst="rect">
            <a:avLst/>
          </a:prstGeom>
          <a:noFill/>
          <a:ln>
            <a:noFill/>
          </a:ln>
        </p:spPr>
      </p:pic>
      <p:pic>
        <p:nvPicPr>
          <p:cNvPr id="4145" name="Google Shape;4145;p42"/>
          <p:cNvPicPr preferRelativeResize="0"/>
          <p:nvPr/>
        </p:nvPicPr>
        <p:blipFill rotWithShape="1">
          <a:blip r:embed="rId5">
            <a:alphaModFix/>
          </a:blip>
          <a:srcRect/>
          <a:stretch/>
        </p:blipFill>
        <p:spPr>
          <a:xfrm>
            <a:off x="1589681" y="3913805"/>
            <a:ext cx="2821535" cy="594311"/>
          </a:xfrm>
          <a:prstGeom prst="rect">
            <a:avLst/>
          </a:prstGeom>
          <a:noFill/>
          <a:ln>
            <a:noFill/>
          </a:ln>
        </p:spPr>
      </p:pic>
      <p:pic>
        <p:nvPicPr>
          <p:cNvPr id="4146" name="Google Shape;4146;p42"/>
          <p:cNvPicPr preferRelativeResize="0"/>
          <p:nvPr/>
        </p:nvPicPr>
        <p:blipFill rotWithShape="1">
          <a:blip r:embed="rId6">
            <a:alphaModFix/>
          </a:blip>
          <a:srcRect/>
          <a:stretch/>
        </p:blipFill>
        <p:spPr>
          <a:xfrm>
            <a:off x="7832378" y="3723874"/>
            <a:ext cx="2091267" cy="90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51"/>
        <p:cNvGrpSpPr/>
        <p:nvPr/>
      </p:nvGrpSpPr>
      <p:grpSpPr>
        <a:xfrm>
          <a:off x="0" y="0"/>
          <a:ext cx="0" cy="0"/>
          <a:chOff x="0" y="0"/>
          <a:chExt cx="0" cy="0"/>
        </a:xfrm>
      </p:grpSpPr>
      <p:sp>
        <p:nvSpPr>
          <p:cNvPr id="4152" name="Google Shape;4152;p43"/>
          <p:cNvSpPr txBox="1">
            <a:spLocks noGrp="1"/>
          </p:cNvSpPr>
          <p:nvPr>
            <p:ph type="title"/>
          </p:nvPr>
        </p:nvSpPr>
        <p:spPr>
          <a:xfrm>
            <a:off x="663168" y="320434"/>
            <a:ext cx="10980000" cy="50762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None/>
            </a:pPr>
            <a:r>
              <a:rPr lang="fr-FR" sz="2400" b="1">
                <a:latin typeface="Verdana"/>
                <a:ea typeface="Verdana"/>
                <a:cs typeface="Verdana"/>
                <a:sym typeface="Verdana"/>
              </a:rPr>
              <a:t>Autres références missions AMOA Change (3/3)</a:t>
            </a:r>
            <a:endParaRPr sz="2400" b="1">
              <a:latin typeface="Verdana"/>
              <a:ea typeface="Verdana"/>
              <a:cs typeface="Verdana"/>
              <a:sym typeface="Verdana"/>
            </a:endParaRPr>
          </a:p>
        </p:txBody>
      </p:sp>
      <p:sp>
        <p:nvSpPr>
          <p:cNvPr id="4153" name="Google Shape;4153;p43"/>
          <p:cNvSpPr txBox="1">
            <a:spLocks noGrp="1"/>
          </p:cNvSpPr>
          <p:nvPr>
            <p:ph type="body" idx="1"/>
          </p:nvPr>
        </p:nvSpPr>
        <p:spPr>
          <a:xfrm>
            <a:off x="626264" y="2360485"/>
            <a:ext cx="4748371" cy="942614"/>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Dans le cadre du</a:t>
            </a:r>
            <a:r>
              <a:rPr lang="fr-FR" sz="1000" b="0" i="0" dirty="0"/>
              <a:t> rapprochement des enseignes Crédit du Nord et Société Générale, accompagnement au changement avec un objectif de </a:t>
            </a:r>
            <a:r>
              <a:rPr lang="fr-FR" sz="1000" dirty="0"/>
              <a:t>s</a:t>
            </a:r>
            <a:r>
              <a:rPr lang="fr-FR" sz="1000" b="0" i="0" dirty="0"/>
              <a:t>ynergie des coûts (SI unique, fonctions centrales regroupées) pour une meilleure rentabilité et une amélioration de la satisfaction client. Square est intervenu sur le p</a:t>
            </a:r>
            <a:r>
              <a:rPr lang="fr-FR" sz="1000" dirty="0"/>
              <a:t>ilotage du chantier, la production et validation de 175 livrables de formation de formats variés (fiches synthétiques, support animé, tuto vidéo, simulateur) pour +7300 collaborateurs CDN</a:t>
            </a:r>
            <a:endParaRPr dirty="0"/>
          </a:p>
        </p:txBody>
      </p:sp>
      <p:sp>
        <p:nvSpPr>
          <p:cNvPr id="4154" name="Google Shape;4154;p43"/>
          <p:cNvSpPr txBox="1">
            <a:spLocks noGrp="1"/>
          </p:cNvSpPr>
          <p:nvPr>
            <p:ph type="body" idx="2"/>
          </p:nvPr>
        </p:nvSpPr>
        <p:spPr>
          <a:xfrm>
            <a:off x="663168" y="1976353"/>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dirty="0"/>
              <a:t>CONDUITE DU CHANGEMENT DANS LE CADRE DU RAPPROCHEMENT CRÉDIT DU NORD – SOCIÉTÉ GÉNÉRALE</a:t>
            </a:r>
            <a:endParaRPr dirty="0"/>
          </a:p>
        </p:txBody>
      </p:sp>
      <p:sp>
        <p:nvSpPr>
          <p:cNvPr id="4155" name="Google Shape;4155;p43"/>
          <p:cNvSpPr txBox="1">
            <a:spLocks noGrp="1"/>
          </p:cNvSpPr>
          <p:nvPr>
            <p:ph type="body" idx="4"/>
          </p:nvPr>
        </p:nvSpPr>
        <p:spPr>
          <a:xfrm>
            <a:off x="663168" y="4405577"/>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None/>
            </a:pPr>
            <a:r>
              <a:rPr lang="fr-FR" sz="1200" dirty="0"/>
              <a:t>ÉVOLUTION DE LA CULTURE MOËT HENNESSY</a:t>
            </a:r>
            <a:endParaRPr dirty="0"/>
          </a:p>
        </p:txBody>
      </p:sp>
      <p:sp>
        <p:nvSpPr>
          <p:cNvPr id="4156" name="Google Shape;4156;p43"/>
          <p:cNvSpPr txBox="1">
            <a:spLocks noGrp="1"/>
          </p:cNvSpPr>
          <p:nvPr>
            <p:ph type="body" idx="8"/>
          </p:nvPr>
        </p:nvSpPr>
        <p:spPr>
          <a:xfrm>
            <a:off x="6503827" y="4420462"/>
            <a:ext cx="4944103"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Font typeface="Arial"/>
              <a:buNone/>
            </a:pPr>
            <a:r>
              <a:rPr lang="fr-FR" dirty="0"/>
              <a:t>ACCOMPAGNEMENT CHANGE DE L’EQUIPE TRANSFORMATION</a:t>
            </a:r>
            <a:endParaRPr dirty="0"/>
          </a:p>
        </p:txBody>
      </p:sp>
      <p:sp>
        <p:nvSpPr>
          <p:cNvPr id="4157" name="Google Shape;4157;p43"/>
          <p:cNvSpPr txBox="1">
            <a:spLocks noGrp="1"/>
          </p:cNvSpPr>
          <p:nvPr>
            <p:ph type="body" idx="6"/>
          </p:nvPr>
        </p:nvSpPr>
        <p:spPr>
          <a:xfrm>
            <a:off x="6503828" y="1922517"/>
            <a:ext cx="4748371" cy="278636"/>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200"/>
              <a:buFont typeface="Arial"/>
              <a:buNone/>
            </a:pPr>
            <a:r>
              <a:rPr lang="fr-FR" dirty="0"/>
              <a:t>NOUVELLES MÉTHODES DE TRAVAIL ET DE MANAGEMENT </a:t>
            </a:r>
            <a:endParaRPr dirty="0"/>
          </a:p>
        </p:txBody>
      </p:sp>
      <p:sp>
        <p:nvSpPr>
          <p:cNvPr id="4158" name="Google Shape;4158;p43"/>
          <p:cNvSpPr txBox="1">
            <a:spLocks noGrp="1"/>
          </p:cNvSpPr>
          <p:nvPr>
            <p:ph type="body" idx="5"/>
          </p:nvPr>
        </p:nvSpPr>
        <p:spPr>
          <a:xfrm>
            <a:off x="6503828" y="2281291"/>
            <a:ext cx="4748371" cy="1436464"/>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latin typeface="Arial"/>
                <a:ea typeface="Arial"/>
                <a:cs typeface="Arial"/>
                <a:sym typeface="Arial"/>
              </a:rPr>
              <a:t>Dans le cadre d’un </a:t>
            </a:r>
            <a:r>
              <a:rPr lang="fr-FR" sz="1000" dirty="0">
                <a:latin typeface="Arial"/>
                <a:ea typeface="Arial"/>
                <a:cs typeface="Arial"/>
                <a:sym typeface="Arial"/>
              </a:rPr>
              <a:t>programme piloté conjointement par la RH et la Direction de la transformation, qui vise à améliorer les compétences, l’employabilité des collaborateurs et le fonctionnement de l’organisation via des modes de management mieux adaptés, une responsabilisation et une autonomie accrues.</a:t>
            </a:r>
            <a:r>
              <a:rPr lang="fr-FR" sz="1000" b="0" i="0" u="none" dirty="0">
                <a:latin typeface="Arial"/>
                <a:ea typeface="Arial"/>
                <a:cs typeface="Arial"/>
                <a:sym typeface="Arial"/>
              </a:rPr>
              <a:t> L’intervention de Square a consisté à d</a:t>
            </a:r>
            <a:r>
              <a:rPr lang="fr-FR" sz="1000" b="0" i="0" u="none" strike="noStrike" cap="none" dirty="0">
                <a:solidFill>
                  <a:schemeClr val="accent1"/>
                </a:solidFill>
                <a:latin typeface="Arial"/>
                <a:ea typeface="Arial"/>
                <a:cs typeface="Arial"/>
                <a:sym typeface="Arial"/>
              </a:rPr>
              <a:t>éfinir la stratégie, réaliser un état des lieux et un benchmark, collecter des bonnes pratiques en capitalisant sur les pratiques existantes et la culture d’entreprise pour développer une méthode « maison ».</a:t>
            </a:r>
            <a:endParaRPr dirty="0"/>
          </a:p>
          <a:p>
            <a:pPr marL="0" lvl="0" indent="0" algn="just" rtl="0">
              <a:lnSpc>
                <a:spcPct val="100000"/>
              </a:lnSpc>
              <a:spcBef>
                <a:spcPts val="0"/>
              </a:spcBef>
              <a:spcAft>
                <a:spcPts val="0"/>
              </a:spcAft>
              <a:buSzPts val="1000"/>
              <a:buNone/>
            </a:pPr>
            <a:endParaRPr sz="1000" dirty="0">
              <a:latin typeface="Arial"/>
              <a:ea typeface="Arial"/>
              <a:cs typeface="Arial"/>
              <a:sym typeface="Arial"/>
            </a:endParaRPr>
          </a:p>
          <a:p>
            <a:pPr marL="0" lvl="0" indent="0" algn="just" rtl="0">
              <a:lnSpc>
                <a:spcPct val="100000"/>
              </a:lnSpc>
              <a:spcBef>
                <a:spcPts val="0"/>
              </a:spcBef>
              <a:spcAft>
                <a:spcPts val="0"/>
              </a:spcAft>
              <a:buSzPts val="1000"/>
              <a:buNone/>
            </a:pPr>
            <a:endParaRPr sz="1000" dirty="0">
              <a:latin typeface="Arial"/>
              <a:ea typeface="Arial"/>
              <a:cs typeface="Arial"/>
              <a:sym typeface="Arial"/>
            </a:endParaRPr>
          </a:p>
          <a:p>
            <a:pPr marL="0" lvl="0" indent="0" algn="just" rtl="0">
              <a:lnSpc>
                <a:spcPct val="100000"/>
              </a:lnSpc>
              <a:spcBef>
                <a:spcPts val="0"/>
              </a:spcBef>
              <a:spcAft>
                <a:spcPts val="0"/>
              </a:spcAft>
              <a:buSzPts val="1000"/>
              <a:buNone/>
            </a:pPr>
            <a:endParaRPr dirty="0">
              <a:latin typeface="Arial"/>
              <a:ea typeface="Arial"/>
              <a:cs typeface="Arial"/>
              <a:sym typeface="Arial"/>
            </a:endParaRPr>
          </a:p>
        </p:txBody>
      </p:sp>
      <p:sp>
        <p:nvSpPr>
          <p:cNvPr id="4159" name="Google Shape;4159;p43"/>
          <p:cNvSpPr txBox="1">
            <a:spLocks noGrp="1"/>
          </p:cNvSpPr>
          <p:nvPr>
            <p:ph type="body" idx="7"/>
          </p:nvPr>
        </p:nvSpPr>
        <p:spPr>
          <a:xfrm>
            <a:off x="6503827" y="4713016"/>
            <a:ext cx="4845491" cy="663835"/>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dirty="0"/>
              <a:t>Square est intervenu </a:t>
            </a:r>
            <a:r>
              <a:rPr lang="fr-FR" sz="1000" b="0" i="0" u="none" dirty="0"/>
              <a:t>dans le cadre d’une transformation organisationnelle (changement et suppression de niveaux hiérarchiques) et stratégique (changement de stratégie d’accompagnement des cadres dirigeants). L’objectif est d’accompagner l’équipe transformation dans la suppression de niveaux hiérarchiques et la mise en place d’une nouvelle équipe d’assistants dédiée à l’accompagnement de cadres dirigeants dans 10 pays différents. Cette mission nécessite la mise en place et le suivi d’un plan budgétaire, d’un plan de gouvernance et d’une stratégie d’accompagnement à la transformation en temps de crise.</a:t>
            </a:r>
            <a:endParaRPr sz="1000" dirty="0"/>
          </a:p>
          <a:p>
            <a:pPr marL="0" lvl="0" indent="0" algn="just" rtl="0">
              <a:lnSpc>
                <a:spcPct val="100000"/>
              </a:lnSpc>
              <a:spcBef>
                <a:spcPts val="0"/>
              </a:spcBef>
              <a:spcAft>
                <a:spcPts val="0"/>
              </a:spcAft>
              <a:buSzPts val="1000"/>
              <a:buNone/>
            </a:pPr>
            <a:endParaRPr sz="1000" dirty="0"/>
          </a:p>
          <a:p>
            <a:pPr marL="0" lvl="0" indent="0" algn="just" rtl="0">
              <a:lnSpc>
                <a:spcPct val="100000"/>
              </a:lnSpc>
              <a:spcBef>
                <a:spcPts val="0"/>
              </a:spcBef>
              <a:spcAft>
                <a:spcPts val="0"/>
              </a:spcAft>
              <a:buSzPts val="1000"/>
              <a:buNone/>
            </a:pPr>
            <a:endParaRPr dirty="0"/>
          </a:p>
        </p:txBody>
      </p:sp>
      <p:sp>
        <p:nvSpPr>
          <p:cNvPr id="4160" name="Google Shape;4160;p43"/>
          <p:cNvSpPr txBox="1">
            <a:spLocks noGrp="1"/>
          </p:cNvSpPr>
          <p:nvPr>
            <p:ph type="body" idx="3"/>
          </p:nvPr>
        </p:nvSpPr>
        <p:spPr>
          <a:xfrm>
            <a:off x="626264" y="4761365"/>
            <a:ext cx="4748371" cy="1230972"/>
          </a:xfrm>
          <a:prstGeom prst="rect">
            <a:avLst/>
          </a:prstGeom>
          <a:noFill/>
          <a:ln>
            <a:noFill/>
          </a:ln>
        </p:spPr>
        <p:txBody>
          <a:bodyPr spcFirstLastPara="1" wrap="square" lIns="90000" tIns="45700" rIns="91425" bIns="45700" anchor="t" anchorCtr="0">
            <a:noAutofit/>
          </a:bodyPr>
          <a:lstStyle/>
          <a:p>
            <a:pPr marL="0" lvl="0" indent="0" algn="just" rtl="0">
              <a:lnSpc>
                <a:spcPct val="100000"/>
              </a:lnSpc>
              <a:spcBef>
                <a:spcPts val="0"/>
              </a:spcBef>
              <a:spcAft>
                <a:spcPts val="0"/>
              </a:spcAft>
              <a:buSzPts val="1000"/>
              <a:buNone/>
            </a:pPr>
            <a:r>
              <a:rPr lang="fr-FR" sz="1000" dirty="0"/>
              <a:t>Dans le cadre d’un plan de transformation majeur du système d’information, Square Management a accompagné la DSI pour faire face aux risques stratégiques de cybersécurité via un programme d’analyse international de l’évolution culturelle, coordonné par notre centre de recherche. L’objectif de ce plan de transformation était de renforcer la protection du système d’information, rendre les collaborateurs acteurs de la cybersécurité et mieux répondre aux bouleversements imposés par les nouvelles façons de travailler (télétravail, </a:t>
            </a:r>
            <a:r>
              <a:rPr lang="fr-FR" sz="1000" dirty="0" err="1"/>
              <a:t>flex</a:t>
            </a:r>
            <a:r>
              <a:rPr lang="fr-FR" sz="1000" dirty="0"/>
              <a:t>-office et nouvelles pratiques).</a:t>
            </a:r>
            <a:endParaRPr dirty="0"/>
          </a:p>
          <a:p>
            <a:pPr marL="0" lvl="0" indent="0" algn="l" rtl="0">
              <a:lnSpc>
                <a:spcPct val="100000"/>
              </a:lnSpc>
              <a:spcBef>
                <a:spcPts val="0"/>
              </a:spcBef>
              <a:spcAft>
                <a:spcPts val="0"/>
              </a:spcAft>
              <a:buSzPts val="1000"/>
              <a:buFont typeface="Arial"/>
              <a:buNone/>
            </a:pPr>
            <a:endParaRPr dirty="0"/>
          </a:p>
        </p:txBody>
      </p:sp>
      <p:pic>
        <p:nvPicPr>
          <p:cNvPr id="4161" name="Google Shape;4161;p43"/>
          <p:cNvPicPr preferRelativeResize="0"/>
          <p:nvPr/>
        </p:nvPicPr>
        <p:blipFill rotWithShape="1">
          <a:blip r:embed="rId3">
            <a:alphaModFix/>
          </a:blip>
          <a:srcRect/>
          <a:stretch/>
        </p:blipFill>
        <p:spPr>
          <a:xfrm>
            <a:off x="1912410" y="1263807"/>
            <a:ext cx="2041026" cy="429910"/>
          </a:xfrm>
          <a:prstGeom prst="rect">
            <a:avLst/>
          </a:prstGeom>
          <a:noFill/>
          <a:ln>
            <a:noFill/>
          </a:ln>
        </p:spPr>
      </p:pic>
      <p:pic>
        <p:nvPicPr>
          <p:cNvPr id="4162" name="Google Shape;4162;p43"/>
          <p:cNvPicPr preferRelativeResize="0"/>
          <p:nvPr/>
        </p:nvPicPr>
        <p:blipFill rotWithShape="1">
          <a:blip r:embed="rId4">
            <a:alphaModFix/>
          </a:blip>
          <a:srcRect/>
          <a:stretch/>
        </p:blipFill>
        <p:spPr>
          <a:xfrm>
            <a:off x="7780788" y="1137987"/>
            <a:ext cx="2821535" cy="872018"/>
          </a:xfrm>
          <a:prstGeom prst="rect">
            <a:avLst/>
          </a:prstGeom>
          <a:noFill/>
          <a:ln>
            <a:noFill/>
          </a:ln>
        </p:spPr>
      </p:pic>
      <p:pic>
        <p:nvPicPr>
          <p:cNvPr id="4163" name="Google Shape;4163;p43" descr="ANNONCE MOËT HENNESSY"/>
          <p:cNvPicPr preferRelativeResize="0"/>
          <p:nvPr/>
        </p:nvPicPr>
        <p:blipFill rotWithShape="1">
          <a:blip r:embed="rId5">
            <a:alphaModFix/>
          </a:blip>
          <a:srcRect/>
          <a:stretch/>
        </p:blipFill>
        <p:spPr>
          <a:xfrm>
            <a:off x="2156560" y="3876475"/>
            <a:ext cx="1687777" cy="305335"/>
          </a:xfrm>
          <a:prstGeom prst="rect">
            <a:avLst/>
          </a:prstGeom>
          <a:noFill/>
          <a:ln>
            <a:noFill/>
          </a:ln>
        </p:spPr>
      </p:pic>
      <p:pic>
        <p:nvPicPr>
          <p:cNvPr id="4164" name="Google Shape;4164;p43" descr="AXA Group Operations | AXA Group"/>
          <p:cNvPicPr preferRelativeResize="0"/>
          <p:nvPr/>
        </p:nvPicPr>
        <p:blipFill rotWithShape="1">
          <a:blip r:embed="rId6">
            <a:alphaModFix/>
          </a:blip>
          <a:srcRect/>
          <a:stretch/>
        </p:blipFill>
        <p:spPr>
          <a:xfrm>
            <a:off x="8779402" y="3744057"/>
            <a:ext cx="624575" cy="624575"/>
          </a:xfrm>
          <a:prstGeom prst="rect">
            <a:avLst/>
          </a:prstGeom>
          <a:noFill/>
          <a:ln>
            <a:noFill/>
          </a:ln>
        </p:spPr>
      </p:pic>
    </p:spTree>
  </p:cSld>
  <p:clrMapOvr>
    <a:masterClrMapping/>
  </p:clrMapOvr>
</p:sld>
</file>

<file path=ppt/theme/theme1.xml><?xml version="1.0" encoding="utf-8"?>
<a:theme xmlns:a="http://schemas.openxmlformats.org/drawingml/2006/main" name="Thème Square_23">
  <a:themeElements>
    <a:clrScheme name="Square T2 _ 2020">
      <a:dk1>
        <a:srgbClr val="000000"/>
      </a:dk1>
      <a:lt1>
        <a:srgbClr val="FFFFFF"/>
      </a:lt1>
      <a:dk2>
        <a:srgbClr val="000000"/>
      </a:dk2>
      <a:lt2>
        <a:srgbClr val="BD8E42"/>
      </a:lt2>
      <a:accent1>
        <a:srgbClr val="404041"/>
      </a:accent1>
      <a:accent2>
        <a:srgbClr val="876B3A"/>
      </a:accent2>
      <a:accent3>
        <a:srgbClr val="807F7E"/>
      </a:accent3>
      <a:accent4>
        <a:srgbClr val="B58F4F"/>
      </a:accent4>
      <a:accent5>
        <a:srgbClr val="BEBFBF"/>
      </a:accent5>
      <a:accent6>
        <a:srgbClr val="D2BC93"/>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1498</Words>
  <Application>Microsoft Office PowerPoint</Application>
  <PresentationFormat>Grand écran</PresentationFormat>
  <Paragraphs>63</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Merriweather Sans</vt:lpstr>
      <vt:lpstr>Noto Sans Symbols</vt:lpstr>
      <vt:lpstr>Verdana</vt:lpstr>
      <vt:lpstr>Thème Square_23</vt:lpstr>
      <vt:lpstr>05</vt:lpstr>
      <vt:lpstr>Nos références MGEN</vt:lpstr>
      <vt:lpstr>Nos références Groupe VYV</vt:lpstr>
      <vt:lpstr>Autres références missions AMOA Change (1/3)</vt:lpstr>
      <vt:lpstr>Autres références missions AMOA Change (2/3)</vt:lpstr>
      <vt:lpstr>Autres références missions AMOA Change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PRESTATION D’ASSISTANCE TECHNIQUE  ACCOMPAGNEMENT AU CHANGEMENT</dc:title>
  <dc:creator>pauline.goujard@square-management.com</dc:creator>
  <cp:lastModifiedBy>Mathilde Guillous</cp:lastModifiedBy>
  <cp:revision>31</cp:revision>
  <dcterms:created xsi:type="dcterms:W3CDTF">2023-04-12T10:08:46Z</dcterms:created>
  <dcterms:modified xsi:type="dcterms:W3CDTF">2026-06-30T09:02:56Z</dcterms:modified>
</cp:coreProperties>
</file>